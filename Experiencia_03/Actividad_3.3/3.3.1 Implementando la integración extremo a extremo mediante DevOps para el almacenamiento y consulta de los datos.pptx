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 id="2147483674" r:id="rId5"/>
    <p:sldMasterId id="214748368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y="6858000" cx="9144000"/>
  <p:notesSz cx="6858000" cy="9144000"/>
  <p:embeddedFontLst>
    <p:embeddedFont>
      <p:font typeface="Roboto"/>
      <p:regular r:id="rId55"/>
      <p:bold r:id="rId56"/>
      <p:italic r:id="rId57"/>
      <p:boldItalic r:id="rId58"/>
    </p:embeddedFon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3" roundtripDataSignature="AMtx7mjStR0IBRQWgw3YXHbYrHwvErfh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3.xml"/><Relationship Id="rId63"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RobotoMono-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Roboto-regular.fntdata"/><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font" Target="fonts/Roboto-italic.fntdata"/><Relationship Id="rId12" Type="http://schemas.openxmlformats.org/officeDocument/2006/relationships/slide" Target="slides/slide5.xml"/><Relationship Id="rId56" Type="http://schemas.openxmlformats.org/officeDocument/2006/relationships/font" Target="fonts/Roboto-bold.fntdata"/><Relationship Id="rId15" Type="http://schemas.openxmlformats.org/officeDocument/2006/relationships/slide" Target="slides/slide8.xml"/><Relationship Id="rId59" Type="http://schemas.openxmlformats.org/officeDocument/2006/relationships/font" Target="fonts/RobotoMono-regular.fntdata"/><Relationship Id="rId14" Type="http://schemas.openxmlformats.org/officeDocument/2006/relationships/slide" Target="slides/slide7.xml"/><Relationship Id="rId58" Type="http://schemas.openxmlformats.org/officeDocument/2006/relationships/font" Target="fonts/Roboto-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349b23170d_0_149: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1349b23170d_0_149: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349b23170d_0_155: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1349b23170d_0_155: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349b23170d_0_16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1349b23170d_0_16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349b23170d_0_27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1349b23170d_0_27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349b23170d_0_16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1349b23170d_0_16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49b23170d_0_277: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1349b23170d_0_277: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349b23170d_0_283: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1349b23170d_0_283: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349b23170d_0_295: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1349b23170d_0_295: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e3bb8a6eea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ge3bb8a6eea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e3bb8a6eea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ge3bb8a6ee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e3bb8a6eea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4" name="Google Shape;364;ge3bb8a6eea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e3bb8a6eea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ge3bb8a6eea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e3bb8a6ee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ge3bb8a6eea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e3bb8a6eea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ge3bb8a6eea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e3bb8a6eea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ge3bb8a6eea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349b23170d_0_299: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1349b23170d_0_299: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e3d14e774f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ge3d14e774f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e3d14e774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ge3d14e774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e3d14e774f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ge3d14e774f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e3d14e774f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ge3d14e774f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e3d14e774f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ge3d14e774f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e3d14e774f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 name="Google Shape;442;ge3d14e774f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e3d14e774f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9" name="Google Shape;449;ge3d14e774f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e3d14e774f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5" name="Google Shape;455;ge3d14e774f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349b23170d_0_303: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1349b23170d_0_303: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7" name="Google Shape;46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e3d14e774f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 name="Google Shape;474;ge3d14e774f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e3d14e774f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 name="Google Shape;481;ge3d14e774f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e3d14e774f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7" name="Google Shape;487;ge3d14e774f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e3d14e774f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3" name="Google Shape;493;ge3d14e774f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e3d14e774f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 name="Google Shape;499;ge3d14e774f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e3d14e774f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6" name="Google Shape;506;ge3d14e774f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e3d14e774f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3" name="Google Shape;513;ge3d14e774f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e3d14e774f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 name="Google Shape;520;ge3d14e774f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e3db15d403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7" name="Google Shape;527;ge3db15d403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e3d14e774f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ge3d14e774f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e3db15d403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1" name="Google Shape;541;ge3db15d403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e3d14e774f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ge3d14e774f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e3d14e774f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5" name="Google Shape;555;ge3d14e774f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e3db15d403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2" name="Google Shape;562;ge3db15d403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e3d14e774f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9" name="Google Shape;569;ge3d14e774f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e3db15d403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5" name="Google Shape;575;ge3db15d403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349b23170d_0_307: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582" name="Google Shape;582;g1349b23170d_0_307: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349b23170d_0_312: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588" name="Google Shape;588;g1349b23170d_0_31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349b23170d_0_322: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594" name="Google Shape;594;g1349b23170d_0_32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 Id="rId3" Type="http://schemas.openxmlformats.org/officeDocument/2006/relationships/image" Target="../media/image13.png"/><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jpg"/><Relationship Id="rId3" Type="http://schemas.openxmlformats.org/officeDocument/2006/relationships/image" Target="../media/image6.png"/><Relationship Id="rId4"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jpg"/><Relationship Id="rId3" Type="http://schemas.openxmlformats.org/officeDocument/2006/relationships/image" Target="../media/image13.png"/><Relationship Id="rId4"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g"/><Relationship Id="rId3" Type="http://schemas.openxmlformats.org/officeDocument/2006/relationships/image" Target="../media/image13.pn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jpg"/><Relationship Id="rId3" Type="http://schemas.openxmlformats.org/officeDocument/2006/relationships/image" Target="../media/image13.png"/><Relationship Id="rId4"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jpg"/><Relationship Id="rId3" Type="http://schemas.openxmlformats.org/officeDocument/2006/relationships/image" Target="../media/image13.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 name="Shape 12"/>
        <p:cNvGrpSpPr/>
        <p:nvPr/>
      </p:nvGrpSpPr>
      <p:grpSpPr>
        <a:xfrm>
          <a:off x="0" y="0"/>
          <a:ext cx="0" cy="0"/>
          <a:chOff x="0" y="0"/>
          <a:chExt cx="0" cy="0"/>
        </a:xfrm>
      </p:grpSpPr>
      <p:sp>
        <p:nvSpPr>
          <p:cNvPr id="13" name="Google Shape;13;p5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4"/>
          <p:cNvSpPr txBox="1"/>
          <p:nvPr>
            <p:ph idx="1" type="subTitle"/>
          </p:nvPr>
        </p:nvSpPr>
        <p:spPr>
          <a:xfrm>
            <a:off x="294120" y="1218600"/>
            <a:ext cx="8555400" cy="51375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55"/>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5"/>
          <p:cNvSpPr txBox="1"/>
          <p:nvPr>
            <p:ph idx="1" type="body"/>
          </p:nvPr>
        </p:nvSpPr>
        <p:spPr>
          <a:xfrm>
            <a:off x="294120" y="1218600"/>
            <a:ext cx="855540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56"/>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6"/>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56"/>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7"/>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58"/>
          <p:cNvSpPr txBox="1"/>
          <p:nvPr>
            <p:ph idx="1" type="subTitle"/>
          </p:nvPr>
        </p:nvSpPr>
        <p:spPr>
          <a:xfrm>
            <a:off x="1763640" y="212760"/>
            <a:ext cx="4287960" cy="37677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59"/>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59"/>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59"/>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60"/>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0"/>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60"/>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60"/>
          <p:cNvSpPr txBox="1"/>
          <p:nvPr>
            <p:ph idx="3"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61"/>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9" name="Google Shape;39;p61"/>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0" name="Google Shape;40;p61"/>
          <p:cNvSpPr txBox="1"/>
          <p:nvPr>
            <p:ph idx="3"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62"/>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2"/>
          <p:cNvSpPr txBox="1"/>
          <p:nvPr>
            <p:ph idx="1" type="body"/>
          </p:nvPr>
        </p:nvSpPr>
        <p:spPr>
          <a:xfrm>
            <a:off x="294120" y="12186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62"/>
          <p:cNvSpPr txBox="1"/>
          <p:nvPr>
            <p:ph idx="2"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63"/>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3"/>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63"/>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9" name="Google Shape;49;p63"/>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63"/>
          <p:cNvSpPr txBox="1"/>
          <p:nvPr>
            <p:ph idx="4"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6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4"/>
          <p:cNvSpPr txBox="1"/>
          <p:nvPr>
            <p:ph idx="1" type="body"/>
          </p:nvPr>
        </p:nvSpPr>
        <p:spPr>
          <a:xfrm>
            <a:off x="29412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64"/>
          <p:cNvSpPr txBox="1"/>
          <p:nvPr>
            <p:ph idx="2" type="body"/>
          </p:nvPr>
        </p:nvSpPr>
        <p:spPr>
          <a:xfrm>
            <a:off x="31870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64"/>
          <p:cNvSpPr txBox="1"/>
          <p:nvPr>
            <p:ph idx="3" type="body"/>
          </p:nvPr>
        </p:nvSpPr>
        <p:spPr>
          <a:xfrm>
            <a:off x="60796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64"/>
          <p:cNvSpPr txBox="1"/>
          <p:nvPr>
            <p:ph idx="4" type="body"/>
          </p:nvPr>
        </p:nvSpPr>
        <p:spPr>
          <a:xfrm>
            <a:off x="29412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 name="Google Shape;57;p64"/>
          <p:cNvSpPr txBox="1"/>
          <p:nvPr>
            <p:ph idx="5" type="body"/>
          </p:nvPr>
        </p:nvSpPr>
        <p:spPr>
          <a:xfrm>
            <a:off x="31870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8" name="Google Shape;58;p64"/>
          <p:cNvSpPr txBox="1"/>
          <p:nvPr>
            <p:ph idx="6" type="body"/>
          </p:nvPr>
        </p:nvSpPr>
        <p:spPr>
          <a:xfrm>
            <a:off x="60796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8" name="Shape 68"/>
        <p:cNvGrpSpPr/>
        <p:nvPr/>
      </p:nvGrpSpPr>
      <p:grpSpPr>
        <a:xfrm>
          <a:off x="0" y="0"/>
          <a:ext cx="0" cy="0"/>
          <a:chOff x="0" y="0"/>
          <a:chExt cx="0" cy="0"/>
        </a:xfrm>
      </p:grpSpPr>
      <p:sp>
        <p:nvSpPr>
          <p:cNvPr id="69" name="Google Shape;69;p153"/>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3"/>
          <p:cNvSpPr txBox="1"/>
          <p:nvPr>
            <p:ph idx="1" type="subTitle"/>
          </p:nvPr>
        </p:nvSpPr>
        <p:spPr>
          <a:xfrm>
            <a:off x="294120" y="1218600"/>
            <a:ext cx="8555400" cy="51375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1" name="Shape 71"/>
        <p:cNvGrpSpPr/>
        <p:nvPr/>
      </p:nvGrpSpPr>
      <p:grpSpPr>
        <a:xfrm>
          <a:off x="0" y="0"/>
          <a:ext cx="0" cy="0"/>
          <a:chOff x="0" y="0"/>
          <a:chExt cx="0" cy="0"/>
        </a:xfrm>
      </p:grpSpPr>
      <p:sp>
        <p:nvSpPr>
          <p:cNvPr id="72" name="Google Shape;72;p15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54"/>
          <p:cNvSpPr txBox="1"/>
          <p:nvPr>
            <p:ph idx="1" type="body"/>
          </p:nvPr>
        </p:nvSpPr>
        <p:spPr>
          <a:xfrm>
            <a:off x="294120" y="1218600"/>
            <a:ext cx="855540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4" name="Shape 74"/>
        <p:cNvGrpSpPr/>
        <p:nvPr/>
      </p:nvGrpSpPr>
      <p:grpSpPr>
        <a:xfrm>
          <a:off x="0" y="0"/>
          <a:ext cx="0" cy="0"/>
          <a:chOff x="0" y="0"/>
          <a:chExt cx="0" cy="0"/>
        </a:xfrm>
      </p:grpSpPr>
      <p:sp>
        <p:nvSpPr>
          <p:cNvPr id="75" name="Google Shape;75;p155"/>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5"/>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7" name="Google Shape;77;p155"/>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156"/>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0" name="Shape 80"/>
        <p:cNvGrpSpPr/>
        <p:nvPr/>
      </p:nvGrpSpPr>
      <p:grpSpPr>
        <a:xfrm>
          <a:off x="0" y="0"/>
          <a:ext cx="0" cy="0"/>
          <a:chOff x="0" y="0"/>
          <a:chExt cx="0" cy="0"/>
        </a:xfrm>
      </p:grpSpPr>
      <p:sp>
        <p:nvSpPr>
          <p:cNvPr id="81" name="Google Shape;81;p157"/>
          <p:cNvSpPr txBox="1"/>
          <p:nvPr>
            <p:ph idx="1" type="subTitle"/>
          </p:nvPr>
        </p:nvSpPr>
        <p:spPr>
          <a:xfrm>
            <a:off x="1763640" y="212760"/>
            <a:ext cx="4287960" cy="37677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2" name="Shape 82"/>
        <p:cNvGrpSpPr/>
        <p:nvPr/>
      </p:nvGrpSpPr>
      <p:grpSpPr>
        <a:xfrm>
          <a:off x="0" y="0"/>
          <a:ext cx="0" cy="0"/>
          <a:chOff x="0" y="0"/>
          <a:chExt cx="0" cy="0"/>
        </a:xfrm>
      </p:grpSpPr>
      <p:sp>
        <p:nvSpPr>
          <p:cNvPr id="83" name="Google Shape;83;p158"/>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58"/>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5" name="Google Shape;85;p158"/>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6" name="Google Shape;86;p158"/>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7" name="Shape 87"/>
        <p:cNvGrpSpPr/>
        <p:nvPr/>
      </p:nvGrpSpPr>
      <p:grpSpPr>
        <a:xfrm>
          <a:off x="0" y="0"/>
          <a:ext cx="0" cy="0"/>
          <a:chOff x="0" y="0"/>
          <a:chExt cx="0" cy="0"/>
        </a:xfrm>
      </p:grpSpPr>
      <p:sp>
        <p:nvSpPr>
          <p:cNvPr id="88" name="Google Shape;88;p159"/>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59"/>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0" name="Google Shape;90;p159"/>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1" name="Google Shape;91;p159"/>
          <p:cNvSpPr txBox="1"/>
          <p:nvPr>
            <p:ph idx="3"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2" name="Shape 92"/>
        <p:cNvGrpSpPr/>
        <p:nvPr/>
      </p:nvGrpSpPr>
      <p:grpSpPr>
        <a:xfrm>
          <a:off x="0" y="0"/>
          <a:ext cx="0" cy="0"/>
          <a:chOff x="0" y="0"/>
          <a:chExt cx="0" cy="0"/>
        </a:xfrm>
      </p:grpSpPr>
      <p:sp>
        <p:nvSpPr>
          <p:cNvPr id="93" name="Google Shape;93;p160"/>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60"/>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5" name="Google Shape;95;p160"/>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6" name="Google Shape;96;p160"/>
          <p:cNvSpPr txBox="1"/>
          <p:nvPr>
            <p:ph idx="3"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7" name="Shape 97"/>
        <p:cNvGrpSpPr/>
        <p:nvPr/>
      </p:nvGrpSpPr>
      <p:grpSpPr>
        <a:xfrm>
          <a:off x="0" y="0"/>
          <a:ext cx="0" cy="0"/>
          <a:chOff x="0" y="0"/>
          <a:chExt cx="0" cy="0"/>
        </a:xfrm>
      </p:grpSpPr>
      <p:sp>
        <p:nvSpPr>
          <p:cNvPr id="98" name="Google Shape;98;p161"/>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61"/>
          <p:cNvSpPr txBox="1"/>
          <p:nvPr>
            <p:ph idx="1" type="body"/>
          </p:nvPr>
        </p:nvSpPr>
        <p:spPr>
          <a:xfrm>
            <a:off x="294120" y="12186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0" name="Google Shape;100;p161"/>
          <p:cNvSpPr txBox="1"/>
          <p:nvPr>
            <p:ph idx="2"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1" name="Shape 101"/>
        <p:cNvGrpSpPr/>
        <p:nvPr/>
      </p:nvGrpSpPr>
      <p:grpSpPr>
        <a:xfrm>
          <a:off x="0" y="0"/>
          <a:ext cx="0" cy="0"/>
          <a:chOff x="0" y="0"/>
          <a:chExt cx="0" cy="0"/>
        </a:xfrm>
      </p:grpSpPr>
      <p:sp>
        <p:nvSpPr>
          <p:cNvPr id="102" name="Google Shape;102;p162"/>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62"/>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4" name="Google Shape;104;p162"/>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5" name="Google Shape;105;p162"/>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6" name="Google Shape;106;p162"/>
          <p:cNvSpPr txBox="1"/>
          <p:nvPr>
            <p:ph idx="4"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7" name="Shape 107"/>
        <p:cNvGrpSpPr/>
        <p:nvPr/>
      </p:nvGrpSpPr>
      <p:grpSpPr>
        <a:xfrm>
          <a:off x="0" y="0"/>
          <a:ext cx="0" cy="0"/>
          <a:chOff x="0" y="0"/>
          <a:chExt cx="0" cy="0"/>
        </a:xfrm>
      </p:grpSpPr>
      <p:sp>
        <p:nvSpPr>
          <p:cNvPr id="108" name="Google Shape;108;p163"/>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63"/>
          <p:cNvSpPr txBox="1"/>
          <p:nvPr>
            <p:ph idx="1" type="body"/>
          </p:nvPr>
        </p:nvSpPr>
        <p:spPr>
          <a:xfrm>
            <a:off x="29412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0" name="Google Shape;110;p163"/>
          <p:cNvSpPr txBox="1"/>
          <p:nvPr>
            <p:ph idx="2" type="body"/>
          </p:nvPr>
        </p:nvSpPr>
        <p:spPr>
          <a:xfrm>
            <a:off x="31870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1" name="Google Shape;111;p163"/>
          <p:cNvSpPr txBox="1"/>
          <p:nvPr>
            <p:ph idx="3" type="body"/>
          </p:nvPr>
        </p:nvSpPr>
        <p:spPr>
          <a:xfrm>
            <a:off x="60796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2" name="Google Shape;112;p163"/>
          <p:cNvSpPr txBox="1"/>
          <p:nvPr>
            <p:ph idx="4" type="body"/>
          </p:nvPr>
        </p:nvSpPr>
        <p:spPr>
          <a:xfrm>
            <a:off x="29412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3" name="Google Shape;113;p163"/>
          <p:cNvSpPr txBox="1"/>
          <p:nvPr>
            <p:ph idx="5" type="body"/>
          </p:nvPr>
        </p:nvSpPr>
        <p:spPr>
          <a:xfrm>
            <a:off x="31870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4" name="Google Shape;114;p163"/>
          <p:cNvSpPr txBox="1"/>
          <p:nvPr>
            <p:ph idx="6" type="body"/>
          </p:nvPr>
        </p:nvSpPr>
        <p:spPr>
          <a:xfrm>
            <a:off x="60796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3" name="Shape 123"/>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4" name="Shape 124"/>
        <p:cNvGrpSpPr/>
        <p:nvPr/>
      </p:nvGrpSpPr>
      <p:grpSpPr>
        <a:xfrm>
          <a:off x="0" y="0"/>
          <a:ext cx="0" cy="0"/>
          <a:chOff x="0" y="0"/>
          <a:chExt cx="0" cy="0"/>
        </a:xfrm>
      </p:grpSpPr>
      <p:sp>
        <p:nvSpPr>
          <p:cNvPr id="125" name="Google Shape;125;p16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64"/>
          <p:cNvSpPr txBox="1"/>
          <p:nvPr>
            <p:ph idx="1" type="subTitle"/>
          </p:nvPr>
        </p:nvSpPr>
        <p:spPr>
          <a:xfrm>
            <a:off x="294120" y="1218600"/>
            <a:ext cx="8555400" cy="51375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7" name="Shape 127"/>
        <p:cNvGrpSpPr/>
        <p:nvPr/>
      </p:nvGrpSpPr>
      <p:grpSpPr>
        <a:xfrm>
          <a:off x="0" y="0"/>
          <a:ext cx="0" cy="0"/>
          <a:chOff x="0" y="0"/>
          <a:chExt cx="0" cy="0"/>
        </a:xfrm>
      </p:grpSpPr>
      <p:sp>
        <p:nvSpPr>
          <p:cNvPr id="128" name="Google Shape;128;p165"/>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65"/>
          <p:cNvSpPr txBox="1"/>
          <p:nvPr>
            <p:ph idx="1" type="body"/>
          </p:nvPr>
        </p:nvSpPr>
        <p:spPr>
          <a:xfrm>
            <a:off x="294120" y="1218600"/>
            <a:ext cx="855540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0" name="Shape 130"/>
        <p:cNvGrpSpPr/>
        <p:nvPr/>
      </p:nvGrpSpPr>
      <p:grpSpPr>
        <a:xfrm>
          <a:off x="0" y="0"/>
          <a:ext cx="0" cy="0"/>
          <a:chOff x="0" y="0"/>
          <a:chExt cx="0" cy="0"/>
        </a:xfrm>
      </p:grpSpPr>
      <p:sp>
        <p:nvSpPr>
          <p:cNvPr id="131" name="Google Shape;131;p166"/>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66"/>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3" name="Google Shape;133;p166"/>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167"/>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6" name="Shape 136"/>
        <p:cNvGrpSpPr/>
        <p:nvPr/>
      </p:nvGrpSpPr>
      <p:grpSpPr>
        <a:xfrm>
          <a:off x="0" y="0"/>
          <a:ext cx="0" cy="0"/>
          <a:chOff x="0" y="0"/>
          <a:chExt cx="0" cy="0"/>
        </a:xfrm>
      </p:grpSpPr>
      <p:sp>
        <p:nvSpPr>
          <p:cNvPr id="137" name="Google Shape;137;p168"/>
          <p:cNvSpPr txBox="1"/>
          <p:nvPr>
            <p:ph idx="1" type="subTitle"/>
          </p:nvPr>
        </p:nvSpPr>
        <p:spPr>
          <a:xfrm>
            <a:off x="1763640" y="212760"/>
            <a:ext cx="4287960" cy="37677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8" name="Shape 138"/>
        <p:cNvGrpSpPr/>
        <p:nvPr/>
      </p:nvGrpSpPr>
      <p:grpSpPr>
        <a:xfrm>
          <a:off x="0" y="0"/>
          <a:ext cx="0" cy="0"/>
          <a:chOff x="0" y="0"/>
          <a:chExt cx="0" cy="0"/>
        </a:xfrm>
      </p:grpSpPr>
      <p:sp>
        <p:nvSpPr>
          <p:cNvPr id="139" name="Google Shape;139;p169"/>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169"/>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1" name="Google Shape;141;p169"/>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2" name="Google Shape;142;p169"/>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3" name="Shape 143"/>
        <p:cNvGrpSpPr/>
        <p:nvPr/>
      </p:nvGrpSpPr>
      <p:grpSpPr>
        <a:xfrm>
          <a:off x="0" y="0"/>
          <a:ext cx="0" cy="0"/>
          <a:chOff x="0" y="0"/>
          <a:chExt cx="0" cy="0"/>
        </a:xfrm>
      </p:grpSpPr>
      <p:sp>
        <p:nvSpPr>
          <p:cNvPr id="144" name="Google Shape;144;p170"/>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170"/>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6" name="Google Shape;146;p170"/>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7" name="Google Shape;147;p170"/>
          <p:cNvSpPr txBox="1"/>
          <p:nvPr>
            <p:ph idx="3"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8" name="Shape 148"/>
        <p:cNvGrpSpPr/>
        <p:nvPr/>
      </p:nvGrpSpPr>
      <p:grpSpPr>
        <a:xfrm>
          <a:off x="0" y="0"/>
          <a:ext cx="0" cy="0"/>
          <a:chOff x="0" y="0"/>
          <a:chExt cx="0" cy="0"/>
        </a:xfrm>
      </p:grpSpPr>
      <p:sp>
        <p:nvSpPr>
          <p:cNvPr id="149" name="Google Shape;149;p171"/>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71"/>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1" name="Google Shape;151;p171"/>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2" name="Google Shape;152;p171"/>
          <p:cNvSpPr txBox="1"/>
          <p:nvPr>
            <p:ph idx="3"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3" name="Shape 153"/>
        <p:cNvGrpSpPr/>
        <p:nvPr/>
      </p:nvGrpSpPr>
      <p:grpSpPr>
        <a:xfrm>
          <a:off x="0" y="0"/>
          <a:ext cx="0" cy="0"/>
          <a:chOff x="0" y="0"/>
          <a:chExt cx="0" cy="0"/>
        </a:xfrm>
      </p:grpSpPr>
      <p:sp>
        <p:nvSpPr>
          <p:cNvPr id="154" name="Google Shape;154;p172"/>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172"/>
          <p:cNvSpPr txBox="1"/>
          <p:nvPr>
            <p:ph idx="1" type="body"/>
          </p:nvPr>
        </p:nvSpPr>
        <p:spPr>
          <a:xfrm>
            <a:off x="294120" y="12186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6" name="Google Shape;156;p172"/>
          <p:cNvSpPr txBox="1"/>
          <p:nvPr>
            <p:ph idx="2"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7" name="Shape 157"/>
        <p:cNvGrpSpPr/>
        <p:nvPr/>
      </p:nvGrpSpPr>
      <p:grpSpPr>
        <a:xfrm>
          <a:off x="0" y="0"/>
          <a:ext cx="0" cy="0"/>
          <a:chOff x="0" y="0"/>
          <a:chExt cx="0" cy="0"/>
        </a:xfrm>
      </p:grpSpPr>
      <p:sp>
        <p:nvSpPr>
          <p:cNvPr id="158" name="Google Shape;158;p173"/>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173"/>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0" name="Google Shape;160;p173"/>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1" name="Google Shape;161;p173"/>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2" name="Google Shape;162;p173"/>
          <p:cNvSpPr txBox="1"/>
          <p:nvPr>
            <p:ph idx="4"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3" name="Shape 163"/>
        <p:cNvGrpSpPr/>
        <p:nvPr/>
      </p:nvGrpSpPr>
      <p:grpSpPr>
        <a:xfrm>
          <a:off x="0" y="0"/>
          <a:ext cx="0" cy="0"/>
          <a:chOff x="0" y="0"/>
          <a:chExt cx="0" cy="0"/>
        </a:xfrm>
      </p:grpSpPr>
      <p:sp>
        <p:nvSpPr>
          <p:cNvPr id="164" name="Google Shape;164;p17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174"/>
          <p:cNvSpPr txBox="1"/>
          <p:nvPr>
            <p:ph idx="1" type="body"/>
          </p:nvPr>
        </p:nvSpPr>
        <p:spPr>
          <a:xfrm>
            <a:off x="29412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6" name="Google Shape;166;p174"/>
          <p:cNvSpPr txBox="1"/>
          <p:nvPr>
            <p:ph idx="2" type="body"/>
          </p:nvPr>
        </p:nvSpPr>
        <p:spPr>
          <a:xfrm>
            <a:off x="31870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7" name="Google Shape;167;p174"/>
          <p:cNvSpPr txBox="1"/>
          <p:nvPr>
            <p:ph idx="3" type="body"/>
          </p:nvPr>
        </p:nvSpPr>
        <p:spPr>
          <a:xfrm>
            <a:off x="60796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8" name="Google Shape;168;p174"/>
          <p:cNvSpPr txBox="1"/>
          <p:nvPr>
            <p:ph idx="4" type="body"/>
          </p:nvPr>
        </p:nvSpPr>
        <p:spPr>
          <a:xfrm>
            <a:off x="29412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9" name="Google Shape;169;p174"/>
          <p:cNvSpPr txBox="1"/>
          <p:nvPr>
            <p:ph idx="5" type="body"/>
          </p:nvPr>
        </p:nvSpPr>
        <p:spPr>
          <a:xfrm>
            <a:off x="31870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0" name="Google Shape;170;p174"/>
          <p:cNvSpPr txBox="1"/>
          <p:nvPr>
            <p:ph idx="6" type="body"/>
          </p:nvPr>
        </p:nvSpPr>
        <p:spPr>
          <a:xfrm>
            <a:off x="60796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1" name="Shape 171"/>
        <p:cNvGrpSpPr/>
        <p:nvPr/>
      </p:nvGrpSpPr>
      <p:grpSpPr>
        <a:xfrm>
          <a:off x="0" y="0"/>
          <a:ext cx="0" cy="0"/>
          <a:chOff x="0" y="0"/>
          <a:chExt cx="0" cy="0"/>
        </a:xfrm>
      </p:grpSpPr>
      <p:pic>
        <p:nvPicPr>
          <p:cNvPr id="172" name="Google Shape;172;g1349b23170d_0_425"/>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173" name="Google Shape;173;g1349b23170d_0_42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74" name="Google Shape;174;g1349b23170d_0_42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75" name="Google Shape;175;g1349b23170d_0_425"/>
          <p:cNvGrpSpPr/>
          <p:nvPr/>
        </p:nvGrpSpPr>
        <p:grpSpPr>
          <a:xfrm>
            <a:off x="8700930" y="6279499"/>
            <a:ext cx="202706" cy="362724"/>
            <a:chOff x="18406074" y="10234089"/>
            <a:chExt cx="445703" cy="598160"/>
          </a:xfrm>
        </p:grpSpPr>
        <p:sp>
          <p:nvSpPr>
            <p:cNvPr id="176" name="Google Shape;176;g1349b23170d_0_42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77" name="Google Shape;177;g1349b23170d_0_42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178" name="Google Shape;178;g1349b23170d_0_425"/>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179" name="Google Shape;179;g1349b23170d_0_425"/>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180" name="Google Shape;180;g1349b23170d_0_425"/>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181" name="Google Shape;181;g1349b23170d_0_425"/>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82" name="Shape 182"/>
        <p:cNvGrpSpPr/>
        <p:nvPr/>
      </p:nvGrpSpPr>
      <p:grpSpPr>
        <a:xfrm>
          <a:off x="0" y="0"/>
          <a:ext cx="0" cy="0"/>
          <a:chOff x="0" y="0"/>
          <a:chExt cx="0" cy="0"/>
        </a:xfrm>
      </p:grpSpPr>
      <p:sp>
        <p:nvSpPr>
          <p:cNvPr id="183" name="Google Shape;183;g1349b23170d_0_436"/>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Calibri"/>
              <a:ea typeface="Calibri"/>
              <a:cs typeface="Calibri"/>
              <a:sym typeface="Calibri"/>
            </a:endParaRPr>
          </a:p>
        </p:txBody>
      </p:sp>
      <p:sp>
        <p:nvSpPr>
          <p:cNvPr id="184" name="Google Shape;184;g1349b23170d_0_436"/>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85" name="Google Shape;185;g1349b23170d_0_436"/>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186" name="Google Shape;186;g1349b23170d_0_436"/>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sz="1000">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187" name="Google Shape;187;g1349b23170d_0_43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88" name="Google Shape;188;g1349b23170d_0_43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89" name="Google Shape;189;g1349b23170d_0_436"/>
          <p:cNvGrpSpPr/>
          <p:nvPr/>
        </p:nvGrpSpPr>
        <p:grpSpPr>
          <a:xfrm>
            <a:off x="8700930" y="6279499"/>
            <a:ext cx="202706" cy="362724"/>
            <a:chOff x="18406074" y="10234089"/>
            <a:chExt cx="445703" cy="598160"/>
          </a:xfrm>
        </p:grpSpPr>
        <p:sp>
          <p:nvSpPr>
            <p:cNvPr id="190" name="Google Shape;190;g1349b23170d_0_43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91" name="Google Shape;191;g1349b23170d_0_436"/>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192" name="Google Shape;192;g1349b23170d_0_436"/>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9" name="Shape 199"/>
        <p:cNvGrpSpPr/>
        <p:nvPr/>
      </p:nvGrpSpPr>
      <p:grpSpPr>
        <a:xfrm>
          <a:off x="0" y="0"/>
          <a:ext cx="0" cy="0"/>
          <a:chOff x="0" y="0"/>
          <a:chExt cx="0" cy="0"/>
        </a:xfrm>
      </p:grpSpPr>
      <p:pic>
        <p:nvPicPr>
          <p:cNvPr id="200" name="Google Shape;200;g1349b23170d_0_176"/>
          <p:cNvPicPr preferRelativeResize="0"/>
          <p:nvPr/>
        </p:nvPicPr>
        <p:blipFill rotWithShape="1">
          <a:blip r:embed="rId2">
            <a:alphaModFix/>
          </a:blip>
          <a:srcRect b="0" l="0" r="0" t="0"/>
          <a:stretch/>
        </p:blipFill>
        <p:spPr>
          <a:xfrm>
            <a:off x="0" y="5006"/>
            <a:ext cx="9144000" cy="5143500"/>
          </a:xfrm>
          <a:prstGeom prst="rect">
            <a:avLst/>
          </a:prstGeom>
          <a:noFill/>
          <a:ln>
            <a:noFill/>
          </a:ln>
        </p:spPr>
      </p:pic>
      <p:sp>
        <p:nvSpPr>
          <p:cNvPr id="201" name="Google Shape;201;g1349b23170d_0_176"/>
          <p:cNvSpPr/>
          <p:nvPr/>
        </p:nvSpPr>
        <p:spPr>
          <a:xfrm>
            <a:off x="2316356" y="4468096"/>
            <a:ext cx="4866074" cy="32404"/>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2" name="Google Shape;202;g1349b23170d_0_176"/>
          <p:cNvSpPr/>
          <p:nvPr/>
        </p:nvSpPr>
        <p:spPr>
          <a:xfrm>
            <a:off x="2316356" y="3834001"/>
            <a:ext cx="4866074" cy="633262"/>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3" name="Google Shape;203;g1349b23170d_0_176"/>
          <p:cNvSpPr txBox="1"/>
          <p:nvPr>
            <p:ph idx="1" type="body"/>
          </p:nvPr>
        </p:nvSpPr>
        <p:spPr>
          <a:xfrm>
            <a:off x="2337113" y="3881760"/>
            <a:ext cx="4843500" cy="504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27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04" name="Google Shape;204;g1349b23170d_0_176"/>
          <p:cNvSpPr txBox="1"/>
          <p:nvPr>
            <p:ph idx="2" type="body"/>
          </p:nvPr>
        </p:nvSpPr>
        <p:spPr>
          <a:xfrm>
            <a:off x="2145923" y="3181445"/>
            <a:ext cx="5198700" cy="5601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30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05" name="Google Shape;205;g1349b23170d_0_176"/>
          <p:cNvSpPr txBox="1"/>
          <p:nvPr>
            <p:ph idx="3" type="body"/>
          </p:nvPr>
        </p:nvSpPr>
        <p:spPr>
          <a:xfrm>
            <a:off x="2316356" y="4655238"/>
            <a:ext cx="4864500" cy="2985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sz="1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pic>
        <p:nvPicPr>
          <p:cNvPr id="206" name="Google Shape;206;g1349b23170d_0_176"/>
          <p:cNvPicPr preferRelativeResize="0"/>
          <p:nvPr/>
        </p:nvPicPr>
        <p:blipFill rotWithShape="1">
          <a:blip r:embed="rId3">
            <a:alphaModFix/>
          </a:blip>
          <a:srcRect b="0" l="0" r="0" t="0"/>
          <a:stretch/>
        </p:blipFill>
        <p:spPr>
          <a:xfrm>
            <a:off x="3406545" y="5145301"/>
            <a:ext cx="2829421" cy="930811"/>
          </a:xfrm>
          <a:prstGeom prst="rect">
            <a:avLst/>
          </a:prstGeom>
          <a:noFill/>
          <a:ln>
            <a:noFill/>
          </a:ln>
        </p:spPr>
      </p:pic>
      <p:pic>
        <p:nvPicPr>
          <p:cNvPr id="207" name="Google Shape;207;g1349b23170d_0_176"/>
          <p:cNvPicPr preferRelativeResize="0"/>
          <p:nvPr/>
        </p:nvPicPr>
        <p:blipFill rotWithShape="1">
          <a:blip r:embed="rId4">
            <a:alphaModFix/>
          </a:blip>
          <a:srcRect b="0" l="0" r="0" t="0"/>
          <a:stretch/>
        </p:blipFill>
        <p:spPr>
          <a:xfrm>
            <a:off x="3734609" y="6235425"/>
            <a:ext cx="1921388" cy="379107"/>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208" name="Shape 208"/>
        <p:cNvGrpSpPr/>
        <p:nvPr/>
      </p:nvGrpSpPr>
      <p:grpSpPr>
        <a:xfrm>
          <a:off x="0" y="0"/>
          <a:ext cx="0" cy="0"/>
          <a:chOff x="0" y="0"/>
          <a:chExt cx="0" cy="0"/>
        </a:xfrm>
      </p:grpSpPr>
      <p:sp>
        <p:nvSpPr>
          <p:cNvPr id="209" name="Google Shape;209;g1349b23170d_0_185"/>
          <p:cNvSpPr/>
          <p:nvPr/>
        </p:nvSpPr>
        <p:spPr>
          <a:xfrm>
            <a:off x="6641923" y="1072405"/>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0" name="Google Shape;210;g1349b23170d_0_185"/>
          <p:cNvSpPr/>
          <p:nvPr/>
        </p:nvSpPr>
        <p:spPr>
          <a:xfrm>
            <a:off x="4737235" y="1072405"/>
            <a:ext cx="1543726" cy="4614501"/>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1" name="Google Shape;211;g1349b23170d_0_185"/>
          <p:cNvSpPr/>
          <p:nvPr/>
        </p:nvSpPr>
        <p:spPr>
          <a:xfrm>
            <a:off x="2886920" y="1099589"/>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2" name="Google Shape;212;g1349b23170d_0_185"/>
          <p:cNvSpPr/>
          <p:nvPr/>
        </p:nvSpPr>
        <p:spPr>
          <a:xfrm>
            <a:off x="1016851" y="1103824"/>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3" name="Google Shape;213;g1349b23170d_0_185"/>
          <p:cNvSpPr txBox="1"/>
          <p:nvPr>
            <p:ph idx="1" type="body"/>
          </p:nvPr>
        </p:nvSpPr>
        <p:spPr>
          <a:xfrm>
            <a:off x="1106176"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4" name="Google Shape;214;g1349b23170d_0_185"/>
          <p:cNvSpPr txBox="1"/>
          <p:nvPr>
            <p:ph idx="2" type="body"/>
          </p:nvPr>
        </p:nvSpPr>
        <p:spPr>
          <a:xfrm>
            <a:off x="1106176"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5" name="Google Shape;215;g1349b23170d_0_185"/>
          <p:cNvSpPr txBox="1"/>
          <p:nvPr>
            <p:ph idx="3" type="body"/>
          </p:nvPr>
        </p:nvSpPr>
        <p:spPr>
          <a:xfrm>
            <a:off x="1146591"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6" name="Google Shape;216;g1349b23170d_0_185"/>
          <p:cNvSpPr txBox="1"/>
          <p:nvPr>
            <p:ph idx="4" type="body"/>
          </p:nvPr>
        </p:nvSpPr>
        <p:spPr>
          <a:xfrm>
            <a:off x="298819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7" name="Google Shape;217;g1349b23170d_0_185"/>
          <p:cNvSpPr txBox="1"/>
          <p:nvPr>
            <p:ph idx="5" type="body"/>
          </p:nvPr>
        </p:nvSpPr>
        <p:spPr>
          <a:xfrm>
            <a:off x="298819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8" name="Google Shape;218;g1349b23170d_0_185"/>
          <p:cNvSpPr txBox="1"/>
          <p:nvPr>
            <p:ph idx="6" type="body"/>
          </p:nvPr>
        </p:nvSpPr>
        <p:spPr>
          <a:xfrm>
            <a:off x="302860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9" name="Google Shape;219;g1349b23170d_0_185"/>
          <p:cNvSpPr txBox="1"/>
          <p:nvPr>
            <p:ph idx="7" type="body"/>
          </p:nvPr>
        </p:nvSpPr>
        <p:spPr>
          <a:xfrm>
            <a:off x="4840661"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0" name="Google Shape;220;g1349b23170d_0_185"/>
          <p:cNvSpPr txBox="1"/>
          <p:nvPr>
            <p:ph idx="8" type="body"/>
          </p:nvPr>
        </p:nvSpPr>
        <p:spPr>
          <a:xfrm>
            <a:off x="4840661"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1" name="Google Shape;221;g1349b23170d_0_185"/>
          <p:cNvSpPr txBox="1"/>
          <p:nvPr>
            <p:ph idx="9" type="body"/>
          </p:nvPr>
        </p:nvSpPr>
        <p:spPr>
          <a:xfrm>
            <a:off x="4881076"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2" name="Google Shape;222;g1349b23170d_0_185"/>
          <p:cNvSpPr txBox="1"/>
          <p:nvPr>
            <p:ph idx="13" type="body"/>
          </p:nvPr>
        </p:nvSpPr>
        <p:spPr>
          <a:xfrm>
            <a:off x="675158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3" name="Google Shape;223;g1349b23170d_0_185"/>
          <p:cNvSpPr txBox="1"/>
          <p:nvPr>
            <p:ph idx="14" type="body"/>
          </p:nvPr>
        </p:nvSpPr>
        <p:spPr>
          <a:xfrm>
            <a:off x="675158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4" name="Google Shape;224;g1349b23170d_0_185"/>
          <p:cNvSpPr txBox="1"/>
          <p:nvPr>
            <p:ph idx="15" type="body"/>
          </p:nvPr>
        </p:nvSpPr>
        <p:spPr>
          <a:xfrm>
            <a:off x="679199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5" name="Google Shape;225;g1349b23170d_0_185"/>
          <p:cNvSpPr/>
          <p:nvPr/>
        </p:nvSpPr>
        <p:spPr>
          <a:xfrm>
            <a:off x="1627955"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6" name="Google Shape;226;g1349b23170d_0_185"/>
          <p:cNvSpPr/>
          <p:nvPr/>
        </p:nvSpPr>
        <p:spPr>
          <a:xfrm>
            <a:off x="3487518"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7" name="Google Shape;227;g1349b23170d_0_185"/>
          <p:cNvSpPr/>
          <p:nvPr/>
        </p:nvSpPr>
        <p:spPr>
          <a:xfrm>
            <a:off x="7275343"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8" name="Google Shape;228;g1349b23170d_0_185"/>
          <p:cNvSpPr/>
          <p:nvPr/>
        </p:nvSpPr>
        <p:spPr>
          <a:xfrm>
            <a:off x="5334481" y="3468543"/>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9" name="Google Shape;229;g1349b23170d_0_18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0" name="Google Shape;230;g1349b23170d_0_18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31" name="Google Shape;231;g1349b23170d_0_185"/>
          <p:cNvGrpSpPr/>
          <p:nvPr/>
        </p:nvGrpSpPr>
        <p:grpSpPr>
          <a:xfrm>
            <a:off x="8700930" y="6279499"/>
            <a:ext cx="202706" cy="362724"/>
            <a:chOff x="18406074" y="10234089"/>
            <a:chExt cx="445703" cy="598160"/>
          </a:xfrm>
        </p:grpSpPr>
        <p:sp>
          <p:nvSpPr>
            <p:cNvPr id="232" name="Google Shape;232;g1349b23170d_0_18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33" name="Google Shape;233;g1349b23170d_0_185"/>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34" name="Google Shape;234;g1349b23170d_0_185"/>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235" name="Shape 235"/>
        <p:cNvGrpSpPr/>
        <p:nvPr/>
      </p:nvGrpSpPr>
      <p:grpSpPr>
        <a:xfrm>
          <a:off x="0" y="0"/>
          <a:ext cx="0" cy="0"/>
          <a:chOff x="0" y="0"/>
          <a:chExt cx="0" cy="0"/>
        </a:xfrm>
      </p:grpSpPr>
      <p:sp>
        <p:nvSpPr>
          <p:cNvPr id="236" name="Google Shape;236;g1349b23170d_0_212"/>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spcBef>
                <a:spcPts val="0"/>
              </a:spcBef>
              <a:spcAft>
                <a:spcPts val="0"/>
              </a:spcAft>
              <a:buNone/>
            </a:pPr>
            <a:r>
              <a:t/>
            </a:r>
            <a:endParaRPr sz="900">
              <a:solidFill>
                <a:schemeClr val="lt1"/>
              </a:solidFill>
              <a:latin typeface="Calibri"/>
              <a:ea typeface="Calibri"/>
              <a:cs typeface="Calibri"/>
              <a:sym typeface="Calibri"/>
            </a:endParaRPr>
          </a:p>
        </p:txBody>
      </p:sp>
      <p:sp>
        <p:nvSpPr>
          <p:cNvPr id="237" name="Google Shape;237;g1349b23170d_0_212"/>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8" name="Google Shape;238;g1349b23170d_0_212"/>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39" name="Google Shape;239;g1349b23170d_0_212"/>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sz="1000">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40" name="Google Shape;240;g1349b23170d_0_212"/>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1" name="Google Shape;241;g1349b23170d_0_212"/>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42" name="Google Shape;242;g1349b23170d_0_212"/>
          <p:cNvGrpSpPr/>
          <p:nvPr/>
        </p:nvGrpSpPr>
        <p:grpSpPr>
          <a:xfrm>
            <a:off x="8700930" y="6279499"/>
            <a:ext cx="202706" cy="362724"/>
            <a:chOff x="18406074" y="10234089"/>
            <a:chExt cx="445703" cy="598160"/>
          </a:xfrm>
        </p:grpSpPr>
        <p:sp>
          <p:nvSpPr>
            <p:cNvPr id="243" name="Google Shape;243;g1349b23170d_0_212"/>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44" name="Google Shape;244;g1349b23170d_0_212"/>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45" name="Google Shape;245;g1349b23170d_0_212"/>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6" name="Shape 246"/>
        <p:cNvGrpSpPr/>
        <p:nvPr/>
      </p:nvGrpSpPr>
      <p:grpSpPr>
        <a:xfrm>
          <a:off x="0" y="0"/>
          <a:ext cx="0" cy="0"/>
          <a:chOff x="0" y="0"/>
          <a:chExt cx="0" cy="0"/>
        </a:xfrm>
      </p:grpSpPr>
      <p:pic>
        <p:nvPicPr>
          <p:cNvPr id="247" name="Google Shape;247;g1349b23170d_0_223"/>
          <p:cNvPicPr preferRelativeResize="0"/>
          <p:nvPr/>
        </p:nvPicPr>
        <p:blipFill rotWithShape="1">
          <a:blip r:embed="rId2">
            <a:alphaModFix/>
          </a:blip>
          <a:srcRect b="0" l="0" r="0" t="0"/>
          <a:stretch/>
        </p:blipFill>
        <p:spPr>
          <a:xfrm>
            <a:off x="0" y="0"/>
            <a:ext cx="9144000" cy="4474182"/>
          </a:xfrm>
          <a:prstGeom prst="rect">
            <a:avLst/>
          </a:prstGeom>
          <a:noFill/>
          <a:ln>
            <a:noFill/>
          </a:ln>
        </p:spPr>
      </p:pic>
      <p:sp>
        <p:nvSpPr>
          <p:cNvPr id="248" name="Google Shape;248;g1349b23170d_0_223"/>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9" name="Google Shape;249;g1349b23170d_0_223"/>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50" name="Google Shape;250;g1349b23170d_0_223"/>
          <p:cNvGrpSpPr/>
          <p:nvPr/>
        </p:nvGrpSpPr>
        <p:grpSpPr>
          <a:xfrm>
            <a:off x="8700930" y="6279499"/>
            <a:ext cx="202706" cy="362724"/>
            <a:chOff x="18406074" y="10234089"/>
            <a:chExt cx="445703" cy="598160"/>
          </a:xfrm>
        </p:grpSpPr>
        <p:sp>
          <p:nvSpPr>
            <p:cNvPr id="251" name="Google Shape;251;g1349b23170d_0_223"/>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52" name="Google Shape;252;g1349b23170d_0_22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53" name="Google Shape;253;g1349b23170d_0_223"/>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54" name="Google Shape;254;g1349b23170d_0_223"/>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55" name="Google Shape;255;g1349b23170d_0_223"/>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56" name="Google Shape;256;g1349b23170d_0_223"/>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7" name="Shape 257"/>
        <p:cNvGrpSpPr/>
        <p:nvPr/>
      </p:nvGrpSpPr>
      <p:grpSpPr>
        <a:xfrm>
          <a:off x="0" y="0"/>
          <a:ext cx="0" cy="0"/>
          <a:chOff x="0" y="0"/>
          <a:chExt cx="0" cy="0"/>
        </a:xfrm>
      </p:grpSpPr>
      <p:pic>
        <p:nvPicPr>
          <p:cNvPr id="258" name="Google Shape;258;g1349b23170d_0_234"/>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259" name="Google Shape;259;g1349b23170d_0_234"/>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60" name="Google Shape;260;g1349b23170d_0_234"/>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61" name="Google Shape;261;g1349b23170d_0_234"/>
          <p:cNvGrpSpPr/>
          <p:nvPr/>
        </p:nvGrpSpPr>
        <p:grpSpPr>
          <a:xfrm>
            <a:off x="8700930" y="6279499"/>
            <a:ext cx="202706" cy="362724"/>
            <a:chOff x="18406074" y="10234089"/>
            <a:chExt cx="445703" cy="598160"/>
          </a:xfrm>
        </p:grpSpPr>
        <p:sp>
          <p:nvSpPr>
            <p:cNvPr id="262" name="Google Shape;262;g1349b23170d_0_234"/>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63" name="Google Shape;263;g1349b23170d_0_23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64" name="Google Shape;264;g1349b23170d_0_234"/>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65" name="Google Shape;265;g1349b23170d_0_234"/>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66" name="Google Shape;266;g1349b23170d_0_234"/>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67" name="Google Shape;267;g1349b23170d_0_234"/>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8" name="Shape 268"/>
        <p:cNvGrpSpPr/>
        <p:nvPr/>
      </p:nvGrpSpPr>
      <p:grpSpPr>
        <a:xfrm>
          <a:off x="0" y="0"/>
          <a:ext cx="0" cy="0"/>
          <a:chOff x="0" y="0"/>
          <a:chExt cx="0" cy="0"/>
        </a:xfrm>
      </p:grpSpPr>
      <p:pic>
        <p:nvPicPr>
          <p:cNvPr id="269" name="Google Shape;269;g1349b23170d_0_245"/>
          <p:cNvPicPr preferRelativeResize="0"/>
          <p:nvPr/>
        </p:nvPicPr>
        <p:blipFill rotWithShape="1">
          <a:blip r:embed="rId2">
            <a:alphaModFix/>
          </a:blip>
          <a:srcRect b="0" l="0" r="0" t="0"/>
          <a:stretch/>
        </p:blipFill>
        <p:spPr>
          <a:xfrm>
            <a:off x="0" y="-31652"/>
            <a:ext cx="9144000" cy="4560444"/>
          </a:xfrm>
          <a:prstGeom prst="rect">
            <a:avLst/>
          </a:prstGeom>
          <a:noFill/>
          <a:ln>
            <a:noFill/>
          </a:ln>
        </p:spPr>
      </p:pic>
      <p:sp>
        <p:nvSpPr>
          <p:cNvPr id="270" name="Google Shape;270;g1349b23170d_0_24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71" name="Google Shape;271;g1349b23170d_0_24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72" name="Google Shape;272;g1349b23170d_0_245"/>
          <p:cNvGrpSpPr/>
          <p:nvPr/>
        </p:nvGrpSpPr>
        <p:grpSpPr>
          <a:xfrm>
            <a:off x="8700930" y="6279499"/>
            <a:ext cx="202706" cy="362724"/>
            <a:chOff x="18406074" y="10234089"/>
            <a:chExt cx="445703" cy="598160"/>
          </a:xfrm>
        </p:grpSpPr>
        <p:sp>
          <p:nvSpPr>
            <p:cNvPr id="273" name="Google Shape;273;g1349b23170d_0_24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74" name="Google Shape;274;g1349b23170d_0_24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75" name="Google Shape;275;g1349b23170d_0_245"/>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76" name="Google Shape;276;g1349b23170d_0_245"/>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77" name="Google Shape;277;g1349b23170d_0_245"/>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78" name="Google Shape;278;g1349b23170d_0_245"/>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279" name="Shape 279"/>
        <p:cNvGrpSpPr/>
        <p:nvPr/>
      </p:nvGrpSpPr>
      <p:grpSpPr>
        <a:xfrm>
          <a:off x="0" y="0"/>
          <a:ext cx="0" cy="0"/>
          <a:chOff x="0" y="0"/>
          <a:chExt cx="0" cy="0"/>
        </a:xfrm>
      </p:grpSpPr>
      <p:pic>
        <p:nvPicPr>
          <p:cNvPr id="280" name="Google Shape;280;g1349b23170d_0_256"/>
          <p:cNvPicPr preferRelativeResize="0"/>
          <p:nvPr/>
        </p:nvPicPr>
        <p:blipFill rotWithShape="1">
          <a:blip r:embed="rId2">
            <a:alphaModFix/>
          </a:blip>
          <a:srcRect b="0" l="0" r="0" t="0"/>
          <a:stretch/>
        </p:blipFill>
        <p:spPr>
          <a:xfrm>
            <a:off x="0" y="-13477"/>
            <a:ext cx="9147648" cy="4569040"/>
          </a:xfrm>
          <a:prstGeom prst="rect">
            <a:avLst/>
          </a:prstGeom>
          <a:noFill/>
          <a:ln>
            <a:noFill/>
          </a:ln>
        </p:spPr>
      </p:pic>
      <p:sp>
        <p:nvSpPr>
          <p:cNvPr id="281" name="Google Shape;281;g1349b23170d_0_25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82" name="Google Shape;282;g1349b23170d_0_25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83" name="Google Shape;283;g1349b23170d_0_256"/>
          <p:cNvGrpSpPr/>
          <p:nvPr/>
        </p:nvGrpSpPr>
        <p:grpSpPr>
          <a:xfrm>
            <a:off x="8700930" y="6279499"/>
            <a:ext cx="202706" cy="362724"/>
            <a:chOff x="18406074" y="10234089"/>
            <a:chExt cx="445703" cy="598160"/>
          </a:xfrm>
        </p:grpSpPr>
        <p:sp>
          <p:nvSpPr>
            <p:cNvPr id="284" name="Google Shape;284;g1349b23170d_0_25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85" name="Google Shape;285;g1349b23170d_0_256"/>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86" name="Google Shape;286;g1349b23170d_0_256"/>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87" name="Google Shape;287;g1349b23170d_0_256"/>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88" name="Google Shape;288;g1349b23170d_0_256"/>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89" name="Google Shape;289;g1349b23170d_0_256"/>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5.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5.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5.jp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6" Type="http://schemas.openxmlformats.org/officeDocument/2006/relationships/theme" Target="../theme/theme4.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1888F"/>
        </a:solidFill>
      </p:bgPr>
    </p:bg>
    <p:spTree>
      <p:nvGrpSpPr>
        <p:cNvPr id="5" name="Shape 5"/>
        <p:cNvGrpSpPr/>
        <p:nvPr/>
      </p:nvGrpSpPr>
      <p:grpSpPr>
        <a:xfrm>
          <a:off x="0" y="0"/>
          <a:ext cx="0" cy="0"/>
          <a:chOff x="0" y="0"/>
          <a:chExt cx="0" cy="0"/>
        </a:xfrm>
      </p:grpSpPr>
      <p:sp>
        <p:nvSpPr>
          <p:cNvPr id="6" name="Google Shape;6;p28"/>
          <p:cNvSpPr/>
          <p:nvPr/>
        </p:nvSpPr>
        <p:spPr>
          <a:xfrm flipH="1">
            <a:off x="-720" y="0"/>
            <a:ext cx="4629240" cy="685764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28"/>
          <p:cNvSpPr/>
          <p:nvPr/>
        </p:nvSpPr>
        <p:spPr>
          <a:xfrm>
            <a:off x="0" y="11880"/>
            <a:ext cx="4517640" cy="684036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 name="Google Shape;8;p28"/>
          <p:cNvPicPr preferRelativeResize="0"/>
          <p:nvPr/>
        </p:nvPicPr>
        <p:blipFill rotWithShape="1">
          <a:blip r:embed="rId2">
            <a:alphaModFix/>
          </a:blip>
          <a:srcRect b="0" l="0" r="0" t="0"/>
          <a:stretch/>
        </p:blipFill>
        <p:spPr>
          <a:xfrm>
            <a:off x="5190120" y="212400"/>
            <a:ext cx="3747960" cy="585720"/>
          </a:xfrm>
          <a:prstGeom prst="rect">
            <a:avLst/>
          </a:prstGeom>
          <a:noFill/>
          <a:ln>
            <a:noFill/>
          </a:ln>
        </p:spPr>
      </p:pic>
      <p:sp>
        <p:nvSpPr>
          <p:cNvPr id="9" name="Google Shape;9;p28"/>
          <p:cNvSpPr txBox="1"/>
          <p:nvPr>
            <p:ph type="title"/>
          </p:nvPr>
        </p:nvSpPr>
        <p:spPr>
          <a:xfrm>
            <a:off x="3993840" y="2487600"/>
            <a:ext cx="4894560" cy="28908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8"/>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42"/>
          <p:cNvSpPr/>
          <p:nvPr/>
        </p:nvSpPr>
        <p:spPr>
          <a:xfrm>
            <a:off x="770760" y="212760"/>
            <a:ext cx="903240" cy="812520"/>
          </a:xfrm>
          <a:prstGeom prst="parallelogram">
            <a:avLst>
              <a:gd fmla="val 4531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2"/>
          <p:cNvSpPr/>
          <p:nvPr/>
        </p:nvSpPr>
        <p:spPr>
          <a:xfrm>
            <a:off x="146520" y="212760"/>
            <a:ext cx="903240" cy="812520"/>
          </a:xfrm>
          <a:prstGeom prst="parallelogram">
            <a:avLst>
              <a:gd fmla="val 45310" name="adj"/>
            </a:avLst>
          </a:prstGeom>
          <a:gradFill>
            <a:gsLst>
              <a:gs pos="0">
                <a:srgbClr val="DE3075"/>
              </a:gs>
              <a:gs pos="35000">
                <a:srgbClr val="DE3075"/>
              </a:gs>
              <a:gs pos="100000">
                <a:srgbClr val="FFFFFF"/>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 name="Google Shape;62;p42"/>
          <p:cNvPicPr preferRelativeResize="0"/>
          <p:nvPr/>
        </p:nvPicPr>
        <p:blipFill rotWithShape="1">
          <a:blip r:embed="rId1">
            <a:alphaModFix/>
          </a:blip>
          <a:srcRect b="0" l="0" r="0" t="0"/>
          <a:stretch/>
        </p:blipFill>
        <p:spPr>
          <a:xfrm>
            <a:off x="6179400" y="389520"/>
            <a:ext cx="2746440" cy="459360"/>
          </a:xfrm>
          <a:prstGeom prst="rect">
            <a:avLst/>
          </a:prstGeom>
          <a:noFill/>
          <a:ln>
            <a:noFill/>
          </a:ln>
        </p:spPr>
      </p:pic>
      <p:sp>
        <p:nvSpPr>
          <p:cNvPr id="63" name="Google Shape;63;p42"/>
          <p:cNvSpPr txBox="1"/>
          <p:nvPr>
            <p:ph idx="1" type="body"/>
          </p:nvPr>
        </p:nvSpPr>
        <p:spPr>
          <a:xfrm>
            <a:off x="294120" y="1218600"/>
            <a:ext cx="8555400" cy="51375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p42"/>
          <p:cNvSpPr/>
          <p:nvPr/>
        </p:nvSpPr>
        <p:spPr>
          <a:xfrm>
            <a:off x="1373040" y="212760"/>
            <a:ext cx="4806000" cy="81252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2"/>
          <p:cNvSpPr txBox="1"/>
          <p:nvPr>
            <p:ph type="title"/>
          </p:nvPr>
        </p:nvSpPr>
        <p:spPr>
          <a:xfrm>
            <a:off x="1763640" y="212760"/>
            <a:ext cx="4287960" cy="8125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42"/>
          <p:cNvSpPr/>
          <p:nvPr/>
        </p:nvSpPr>
        <p:spPr>
          <a:xfrm>
            <a:off x="6915240" y="6356520"/>
            <a:ext cx="205704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46"/>
          <p:cNvSpPr/>
          <p:nvPr/>
        </p:nvSpPr>
        <p:spPr>
          <a:xfrm>
            <a:off x="770760" y="212760"/>
            <a:ext cx="903240" cy="812520"/>
          </a:xfrm>
          <a:prstGeom prst="parallelogram">
            <a:avLst>
              <a:gd fmla="val 45310" name="adj"/>
            </a:avLst>
          </a:prstGeom>
          <a:solidFill>
            <a:srgbClr val="BED6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6"/>
          <p:cNvSpPr/>
          <p:nvPr/>
        </p:nvSpPr>
        <p:spPr>
          <a:xfrm>
            <a:off x="146520" y="212760"/>
            <a:ext cx="903240" cy="812520"/>
          </a:xfrm>
          <a:prstGeom prst="parallelogram">
            <a:avLst>
              <a:gd fmla="val 45310" name="adj"/>
            </a:avLst>
          </a:prstGeom>
          <a:gradFill>
            <a:gsLst>
              <a:gs pos="0">
                <a:srgbClr val="BDD503"/>
              </a:gs>
              <a:gs pos="35000">
                <a:srgbClr val="BDD503"/>
              </a:gs>
              <a:gs pos="100000">
                <a:srgbClr val="FFFFFF"/>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46"/>
          <p:cNvPicPr preferRelativeResize="0"/>
          <p:nvPr/>
        </p:nvPicPr>
        <p:blipFill rotWithShape="1">
          <a:blip r:embed="rId1">
            <a:alphaModFix/>
          </a:blip>
          <a:srcRect b="0" l="0" r="0" t="0"/>
          <a:stretch/>
        </p:blipFill>
        <p:spPr>
          <a:xfrm>
            <a:off x="6179400" y="389520"/>
            <a:ext cx="2746440" cy="459360"/>
          </a:xfrm>
          <a:prstGeom prst="rect">
            <a:avLst/>
          </a:prstGeom>
          <a:noFill/>
          <a:ln>
            <a:noFill/>
          </a:ln>
        </p:spPr>
      </p:pic>
      <p:sp>
        <p:nvSpPr>
          <p:cNvPr id="119" name="Google Shape;119;p46"/>
          <p:cNvSpPr txBox="1"/>
          <p:nvPr>
            <p:ph idx="1" type="body"/>
          </p:nvPr>
        </p:nvSpPr>
        <p:spPr>
          <a:xfrm>
            <a:off x="294120" y="1218600"/>
            <a:ext cx="8555400" cy="51375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p46"/>
          <p:cNvSpPr/>
          <p:nvPr/>
        </p:nvSpPr>
        <p:spPr>
          <a:xfrm>
            <a:off x="1373040" y="212760"/>
            <a:ext cx="4806000" cy="81252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6"/>
          <p:cNvSpPr txBox="1"/>
          <p:nvPr>
            <p:ph type="title"/>
          </p:nvPr>
        </p:nvSpPr>
        <p:spPr>
          <a:xfrm>
            <a:off x="1763640" y="212760"/>
            <a:ext cx="4287960" cy="8125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46"/>
          <p:cNvSpPr/>
          <p:nvPr/>
        </p:nvSpPr>
        <p:spPr>
          <a:xfrm>
            <a:off x="6915240" y="6356520"/>
            <a:ext cx="205704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g1349b23170d_0_170"/>
          <p:cNvSpPr txBox="1"/>
          <p:nvPr>
            <p:ph type="title"/>
          </p:nvPr>
        </p:nvSpPr>
        <p:spPr>
          <a:xfrm>
            <a:off x="400431" y="1462579"/>
            <a:ext cx="1799400" cy="8076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1" i="0" sz="4300" u="none" cap="none" strike="noStrike">
                <a:solidFill>
                  <a:schemeClr val="dk1"/>
                </a:solidFill>
                <a:latin typeface="Arial"/>
                <a:ea typeface="Arial"/>
                <a:cs typeface="Arial"/>
                <a:sym typeface="Arial"/>
              </a:defRPr>
            </a:lvl1pPr>
            <a:lvl2pPr lvl="1" rtl="0">
              <a:spcBef>
                <a:spcPts val="0"/>
              </a:spcBef>
              <a:spcAft>
                <a:spcPts val="0"/>
              </a:spcAft>
              <a:buSzPts val="700"/>
              <a:buNone/>
              <a:defRPr sz="900"/>
            </a:lvl2pPr>
            <a:lvl3pPr lvl="2" rtl="0">
              <a:spcBef>
                <a:spcPts val="0"/>
              </a:spcBef>
              <a:spcAft>
                <a:spcPts val="0"/>
              </a:spcAft>
              <a:buSzPts val="700"/>
              <a:buNone/>
              <a:defRPr sz="900"/>
            </a:lvl3pPr>
            <a:lvl4pPr lvl="3" rtl="0">
              <a:spcBef>
                <a:spcPts val="0"/>
              </a:spcBef>
              <a:spcAft>
                <a:spcPts val="0"/>
              </a:spcAft>
              <a:buSzPts val="700"/>
              <a:buNone/>
              <a:defRPr sz="900"/>
            </a:lvl4pPr>
            <a:lvl5pPr lvl="4" rtl="0">
              <a:spcBef>
                <a:spcPts val="0"/>
              </a:spcBef>
              <a:spcAft>
                <a:spcPts val="0"/>
              </a:spcAft>
              <a:buSzPts val="700"/>
              <a:buNone/>
              <a:defRPr sz="900"/>
            </a:lvl5pPr>
            <a:lvl6pPr lvl="5" rtl="0">
              <a:spcBef>
                <a:spcPts val="0"/>
              </a:spcBef>
              <a:spcAft>
                <a:spcPts val="0"/>
              </a:spcAft>
              <a:buSzPts val="700"/>
              <a:buNone/>
              <a:defRPr sz="900"/>
            </a:lvl6pPr>
            <a:lvl7pPr lvl="6" rtl="0">
              <a:spcBef>
                <a:spcPts val="0"/>
              </a:spcBef>
              <a:spcAft>
                <a:spcPts val="0"/>
              </a:spcAft>
              <a:buSzPts val="700"/>
              <a:buNone/>
              <a:defRPr sz="900"/>
            </a:lvl7pPr>
            <a:lvl8pPr lvl="7" rtl="0">
              <a:spcBef>
                <a:spcPts val="0"/>
              </a:spcBef>
              <a:spcAft>
                <a:spcPts val="0"/>
              </a:spcAft>
              <a:buSzPts val="700"/>
              <a:buNone/>
              <a:defRPr sz="900"/>
            </a:lvl8pPr>
            <a:lvl9pPr lvl="8" rtl="0">
              <a:spcBef>
                <a:spcPts val="0"/>
              </a:spcBef>
              <a:spcAft>
                <a:spcPts val="0"/>
              </a:spcAft>
              <a:buSzPts val="700"/>
              <a:buNone/>
              <a:defRPr sz="900"/>
            </a:lvl9pPr>
          </a:lstStyle>
          <a:p/>
        </p:txBody>
      </p:sp>
      <p:sp>
        <p:nvSpPr>
          <p:cNvPr id="195" name="Google Shape;195;g1349b23170d_0_170"/>
          <p:cNvSpPr txBox="1"/>
          <p:nvPr>
            <p:ph idx="1" type="body"/>
          </p:nvPr>
        </p:nvSpPr>
        <p:spPr>
          <a:xfrm>
            <a:off x="457200" y="1577340"/>
            <a:ext cx="8229600" cy="45264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700"/>
              <a:buNone/>
              <a:defRPr b="0" i="0" sz="900" u="none" cap="none" strike="noStrike">
                <a:latin typeface="Calibri"/>
                <a:ea typeface="Calibri"/>
                <a:cs typeface="Calibri"/>
                <a:sym typeface="Calibri"/>
              </a:defRPr>
            </a:lvl1pPr>
            <a:lvl2pPr indent="-228600" lvl="1" marL="914400" marR="0" rtl="0" algn="l">
              <a:spcBef>
                <a:spcPts val="0"/>
              </a:spcBef>
              <a:spcAft>
                <a:spcPts val="0"/>
              </a:spcAft>
              <a:buSzPts val="700"/>
              <a:buNone/>
              <a:defRPr b="0" i="0" sz="900" u="none" cap="none" strike="noStrike">
                <a:latin typeface="Calibri"/>
                <a:ea typeface="Calibri"/>
                <a:cs typeface="Calibri"/>
                <a:sym typeface="Calibri"/>
              </a:defRPr>
            </a:lvl2pPr>
            <a:lvl3pPr indent="-228600" lvl="2" marL="1371600" marR="0" rtl="0" algn="l">
              <a:spcBef>
                <a:spcPts val="0"/>
              </a:spcBef>
              <a:spcAft>
                <a:spcPts val="0"/>
              </a:spcAft>
              <a:buSzPts val="700"/>
              <a:buNone/>
              <a:defRPr b="0" i="0" sz="900" u="none" cap="none" strike="noStrike">
                <a:latin typeface="Calibri"/>
                <a:ea typeface="Calibri"/>
                <a:cs typeface="Calibri"/>
                <a:sym typeface="Calibri"/>
              </a:defRPr>
            </a:lvl3pPr>
            <a:lvl4pPr indent="-228600" lvl="3" marL="1828800" marR="0" rtl="0" algn="l">
              <a:spcBef>
                <a:spcPts val="0"/>
              </a:spcBef>
              <a:spcAft>
                <a:spcPts val="0"/>
              </a:spcAft>
              <a:buSzPts val="700"/>
              <a:buNone/>
              <a:defRPr b="0" i="0" sz="900" u="none" cap="none" strike="noStrike">
                <a:latin typeface="Calibri"/>
                <a:ea typeface="Calibri"/>
                <a:cs typeface="Calibri"/>
                <a:sym typeface="Calibri"/>
              </a:defRPr>
            </a:lvl4pPr>
            <a:lvl5pPr indent="-228600" lvl="4" marL="2286000" marR="0" rtl="0" algn="l">
              <a:spcBef>
                <a:spcPts val="0"/>
              </a:spcBef>
              <a:spcAft>
                <a:spcPts val="0"/>
              </a:spcAft>
              <a:buSzPts val="700"/>
              <a:buNone/>
              <a:defRPr b="0" i="0" sz="900" u="none" cap="none" strike="noStrike">
                <a:latin typeface="Calibri"/>
                <a:ea typeface="Calibri"/>
                <a:cs typeface="Calibri"/>
                <a:sym typeface="Calibri"/>
              </a:defRPr>
            </a:lvl5pPr>
            <a:lvl6pPr indent="-228600" lvl="5" marL="2743200" marR="0" rtl="0" algn="l">
              <a:spcBef>
                <a:spcPts val="0"/>
              </a:spcBef>
              <a:spcAft>
                <a:spcPts val="0"/>
              </a:spcAft>
              <a:buSzPts val="700"/>
              <a:buNone/>
              <a:defRPr b="0" i="0" sz="900" u="none" cap="none" strike="noStrike">
                <a:latin typeface="Calibri"/>
                <a:ea typeface="Calibri"/>
                <a:cs typeface="Calibri"/>
                <a:sym typeface="Calibri"/>
              </a:defRPr>
            </a:lvl6pPr>
            <a:lvl7pPr indent="-228600" lvl="6" marL="3200400" marR="0" rtl="0" algn="l">
              <a:spcBef>
                <a:spcPts val="0"/>
              </a:spcBef>
              <a:spcAft>
                <a:spcPts val="0"/>
              </a:spcAft>
              <a:buSzPts val="700"/>
              <a:buNone/>
              <a:defRPr b="0" i="0" sz="900" u="none" cap="none" strike="noStrike">
                <a:latin typeface="Calibri"/>
                <a:ea typeface="Calibri"/>
                <a:cs typeface="Calibri"/>
                <a:sym typeface="Calibri"/>
              </a:defRPr>
            </a:lvl7pPr>
            <a:lvl8pPr indent="-228600" lvl="7" marL="3657600" marR="0" rtl="0" algn="l">
              <a:spcBef>
                <a:spcPts val="0"/>
              </a:spcBef>
              <a:spcAft>
                <a:spcPts val="0"/>
              </a:spcAft>
              <a:buSzPts val="700"/>
              <a:buNone/>
              <a:defRPr b="0" i="0" sz="900" u="none" cap="none" strike="noStrike">
                <a:latin typeface="Calibri"/>
                <a:ea typeface="Calibri"/>
                <a:cs typeface="Calibri"/>
                <a:sym typeface="Calibri"/>
              </a:defRPr>
            </a:lvl8pPr>
            <a:lvl9pPr indent="-228600" lvl="8" marL="4114800" marR="0" rtl="0" algn="l">
              <a:spcBef>
                <a:spcPts val="0"/>
              </a:spcBef>
              <a:spcAft>
                <a:spcPts val="0"/>
              </a:spcAft>
              <a:buSzPts val="700"/>
              <a:buNone/>
              <a:defRPr b="0" i="0" sz="900" u="none" cap="none" strike="noStrike">
                <a:latin typeface="Calibri"/>
                <a:ea typeface="Calibri"/>
                <a:cs typeface="Calibri"/>
                <a:sym typeface="Calibri"/>
              </a:defRPr>
            </a:lvl9pPr>
          </a:lstStyle>
          <a:p/>
        </p:txBody>
      </p:sp>
      <p:sp>
        <p:nvSpPr>
          <p:cNvPr id="196" name="Google Shape;196;g1349b23170d_0_170"/>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97" name="Google Shape;197;g1349b23170d_0_170"/>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98" name="Google Shape;198;g1349b23170d_0_170"/>
          <p:cNvSpPr txBox="1"/>
          <p:nvPr>
            <p:ph idx="12" type="sldNum"/>
          </p:nvPr>
        </p:nvSpPr>
        <p:spPr>
          <a:xfrm>
            <a:off x="6583680" y="6377940"/>
            <a:ext cx="2103000" cy="1386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 id="2147483695" r:id="rId6"/>
    <p:sldLayoutId id="2147483696"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xml"/><Relationship Id="rId3"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xml"/><Relationship Id="rId3" Type="http://schemas.openxmlformats.org/officeDocument/2006/relationships/hyperlink" Target="http://www.youtube.com/watch?v=26M67Mp_bAw" TargetMode="External"/><Relationship Id="rId4" Type="http://schemas.openxmlformats.org/officeDocument/2006/relationships/image" Target="../media/image2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hyperlink" Target="http://www.youtube.com/watch?v=_I94-tJlovg" TargetMode="External"/><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8.xml"/><Relationship Id="rId3"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0.xml"/><Relationship Id="rId3" Type="http://schemas.openxmlformats.org/officeDocument/2006/relationships/hyperlink" Target="https://research.google.com/pubs/pub43438.html" TargetMode="Externa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Relationship Id="rId3"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Relationship Id="rId3"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7.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1349b23170d_0_149"/>
          <p:cNvSpPr txBox="1"/>
          <p:nvPr>
            <p:ph idx="1" type="body"/>
          </p:nvPr>
        </p:nvSpPr>
        <p:spPr>
          <a:xfrm>
            <a:off x="2337113" y="3881760"/>
            <a:ext cx="4843500" cy="4155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SIY6122</a:t>
            </a:r>
            <a:endParaRPr/>
          </a:p>
        </p:txBody>
      </p:sp>
      <p:sp>
        <p:nvSpPr>
          <p:cNvPr id="295" name="Google Shape;295;g1349b23170d_0_149"/>
          <p:cNvSpPr txBox="1"/>
          <p:nvPr>
            <p:ph idx="2" type="body"/>
          </p:nvPr>
        </p:nvSpPr>
        <p:spPr>
          <a:xfrm>
            <a:off x="2145923" y="1428845"/>
            <a:ext cx="5198700" cy="2308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3.3.1 Implementando la integración extremo a extremo mediante DevOps para el almacenamiento y consulta de los datos</a:t>
            </a:r>
            <a:endParaRPr/>
          </a:p>
        </p:txBody>
      </p:sp>
      <p:sp>
        <p:nvSpPr>
          <p:cNvPr id="296" name="Google Shape;296;g1349b23170d_0_149"/>
          <p:cNvSpPr txBox="1"/>
          <p:nvPr>
            <p:ph idx="3" type="body"/>
          </p:nvPr>
        </p:nvSpPr>
        <p:spPr>
          <a:xfrm>
            <a:off x="2316356" y="4655238"/>
            <a:ext cx="48645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1349b23170d_0_155"/>
          <p:cNvSpPr txBox="1"/>
          <p:nvPr>
            <p:ph idx="1" type="body"/>
          </p:nvPr>
        </p:nvSpPr>
        <p:spPr>
          <a:xfrm>
            <a:off x="2503576" y="458300"/>
            <a:ext cx="62643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DevOps  (Desarrollo + Operaciones TI)</a:t>
            </a:r>
            <a:endParaRPr/>
          </a:p>
        </p:txBody>
      </p:sp>
      <p:sp>
        <p:nvSpPr>
          <p:cNvPr id="302" name="Google Shape;302;g1349b23170d_0_155"/>
          <p:cNvSpPr/>
          <p:nvPr/>
        </p:nvSpPr>
        <p:spPr>
          <a:xfrm>
            <a:off x="294125" y="1799950"/>
            <a:ext cx="8555100" cy="4251000"/>
          </a:xfrm>
          <a:prstGeom prst="rect">
            <a:avLst/>
          </a:prstGeom>
          <a:noFill/>
          <a:ln>
            <a:noFill/>
          </a:ln>
        </p:spPr>
        <p:txBody>
          <a:bodyPr anchorCtr="0" anchor="t" bIns="45000" lIns="90000" spcFirstLastPara="1" rIns="90000" wrap="square" tIns="45000">
            <a:noAutofit/>
          </a:bodyPr>
          <a:lstStyle/>
          <a:p>
            <a:pPr indent="0" lvl="0" marL="0" rtl="0" algn="ctr">
              <a:lnSpc>
                <a:spcPct val="115000"/>
              </a:lnSpc>
              <a:spcBef>
                <a:spcPts val="1200"/>
              </a:spcBef>
              <a:spcAft>
                <a:spcPts val="0"/>
              </a:spcAft>
              <a:buClr>
                <a:schemeClr val="dk1"/>
              </a:buClr>
              <a:buSzPts val="1100"/>
              <a:buFont typeface="Arial"/>
              <a:buNone/>
            </a:pPr>
            <a:r>
              <a:rPr lang="es-ES" sz="1800"/>
              <a:t>El término DevOps, que es una combinación de los términos ingleses development (desarrollo) y operations (operaciones), designa la unión de personas, procesos y tecnología para ofrecer valor a los clientes de forma constante.</a:t>
            </a:r>
            <a:endParaRPr sz="1800"/>
          </a:p>
          <a:p>
            <a:pPr indent="0" lvl="0" marL="0" rtl="0" algn="ctr">
              <a:lnSpc>
                <a:spcPct val="115000"/>
              </a:lnSpc>
              <a:spcBef>
                <a:spcPts val="1200"/>
              </a:spcBef>
              <a:spcAft>
                <a:spcPts val="0"/>
              </a:spcAft>
              <a:buClr>
                <a:schemeClr val="dk1"/>
              </a:buClr>
              <a:buSzPts val="1100"/>
              <a:buFont typeface="Arial"/>
              <a:buNone/>
            </a:pPr>
            <a:r>
              <a:rPr lang="es-ES" sz="1800"/>
              <a:t>¿Qué significa DevOps para los equipos? DevOps permite que los roles que antes estaban aislados (desarrollo, operaciones de TI, ingeniería de la calidad y seguridad) se coordinen y colaboren para producir productos mejores y más confiables. Al adoptar una cultura de DevOps junto con prácticas y herramientas de DevOps, los equipos adquieren la capacidad de responder mejor a las necesidades de los clientes, aumentar la confianza en las aplicaciones que crean y alcanzar los objetivos empresariales en menos tiempo.</a:t>
            </a:r>
            <a:endParaRPr sz="1800"/>
          </a:p>
          <a:p>
            <a:pPr indent="0" lvl="0" marL="50760" marR="0" rtl="0" algn="ctr">
              <a:lnSpc>
                <a:spcPct val="100000"/>
              </a:lnSpc>
              <a:spcBef>
                <a:spcPts val="1200"/>
              </a:spcBef>
              <a:spcAft>
                <a:spcPts val="0"/>
              </a:spcAft>
              <a:buClr>
                <a:srgbClr val="000000"/>
              </a:buClr>
              <a:buSzPts val="1800"/>
              <a:buFont typeface="Arial"/>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1349b23170d_0_160"/>
          <p:cNvSpPr txBox="1"/>
          <p:nvPr>
            <p:ph idx="1" type="body"/>
          </p:nvPr>
        </p:nvSpPr>
        <p:spPr>
          <a:xfrm>
            <a:off x="2503576" y="458300"/>
            <a:ext cx="62643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Como lograr la automatización en la comunicación para dispositivos IoT</a:t>
            </a:r>
            <a:endParaRPr/>
          </a:p>
        </p:txBody>
      </p:sp>
      <p:sp>
        <p:nvSpPr>
          <p:cNvPr id="308" name="Google Shape;308;g1349b23170d_0_160"/>
          <p:cNvSpPr/>
          <p:nvPr/>
        </p:nvSpPr>
        <p:spPr>
          <a:xfrm>
            <a:off x="294125" y="1799950"/>
            <a:ext cx="8555100" cy="882600"/>
          </a:xfrm>
          <a:prstGeom prst="rect">
            <a:avLst/>
          </a:prstGeom>
          <a:noFill/>
          <a:ln>
            <a:noFill/>
          </a:ln>
        </p:spPr>
        <p:txBody>
          <a:bodyPr anchorCtr="0" anchor="t" bIns="45000" lIns="90000" spcFirstLastPara="1" rIns="90000" wrap="square" tIns="45000">
            <a:noAutofit/>
          </a:bodyPr>
          <a:lstStyle/>
          <a:p>
            <a:pPr indent="0" lvl="0" marL="0" rtl="0" algn="ctr">
              <a:lnSpc>
                <a:spcPct val="115000"/>
              </a:lnSpc>
              <a:spcBef>
                <a:spcPts val="1200"/>
              </a:spcBef>
              <a:spcAft>
                <a:spcPts val="0"/>
              </a:spcAft>
              <a:buClr>
                <a:schemeClr val="dk1"/>
              </a:buClr>
              <a:buSzPts val="1100"/>
              <a:buFont typeface="Arial"/>
              <a:buNone/>
            </a:pPr>
            <a:r>
              <a:rPr lang="es-ES" sz="1800"/>
              <a:t>Por </a:t>
            </a:r>
            <a:r>
              <a:rPr lang="es-ES" sz="1800"/>
              <a:t>qué</a:t>
            </a:r>
            <a:r>
              <a:rPr lang="es-ES" sz="1800"/>
              <a:t> hoy es importante la integración de los equipos de Desarrollo e Infraestructura?</a:t>
            </a:r>
            <a:endParaRPr sz="1800"/>
          </a:p>
          <a:p>
            <a:pPr indent="0" lvl="0" marL="0" rtl="0" algn="l">
              <a:lnSpc>
                <a:spcPct val="115000"/>
              </a:lnSpc>
              <a:spcBef>
                <a:spcPts val="1200"/>
              </a:spcBef>
              <a:spcAft>
                <a:spcPts val="1200"/>
              </a:spcAft>
              <a:buClr>
                <a:schemeClr val="dk1"/>
              </a:buClr>
              <a:buSzPts val="1100"/>
              <a:buFont typeface="Arial"/>
              <a:buNone/>
            </a:pPr>
            <a:r>
              <a:t/>
            </a:r>
            <a:endParaRPr i="0" sz="1800" u="none" cap="none" strike="noStrike">
              <a:solidFill>
                <a:srgbClr val="000000"/>
              </a:solidFill>
            </a:endParaRPr>
          </a:p>
        </p:txBody>
      </p:sp>
      <p:pic>
        <p:nvPicPr>
          <p:cNvPr id="309" name="Google Shape;309;g1349b23170d_0_160"/>
          <p:cNvPicPr preferRelativeResize="0"/>
          <p:nvPr/>
        </p:nvPicPr>
        <p:blipFill>
          <a:blip r:embed="rId3">
            <a:alphaModFix/>
          </a:blip>
          <a:stretch>
            <a:fillRect/>
          </a:stretch>
        </p:blipFill>
        <p:spPr>
          <a:xfrm>
            <a:off x="2503575" y="2682550"/>
            <a:ext cx="3537921" cy="3267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1349b23170d_0_270"/>
          <p:cNvSpPr txBox="1"/>
          <p:nvPr>
            <p:ph idx="1" type="body"/>
          </p:nvPr>
        </p:nvSpPr>
        <p:spPr>
          <a:xfrm>
            <a:off x="2503576" y="458300"/>
            <a:ext cx="62643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Como lograr la automatización en la comunicación para dispositivos IoT</a:t>
            </a:r>
            <a:endParaRPr/>
          </a:p>
        </p:txBody>
      </p:sp>
      <p:sp>
        <p:nvSpPr>
          <p:cNvPr id="315" name="Google Shape;315;g1349b23170d_0_270"/>
          <p:cNvSpPr/>
          <p:nvPr/>
        </p:nvSpPr>
        <p:spPr>
          <a:xfrm>
            <a:off x="294125" y="1799950"/>
            <a:ext cx="8555100" cy="882600"/>
          </a:xfrm>
          <a:prstGeom prst="rect">
            <a:avLst/>
          </a:prstGeom>
          <a:noFill/>
          <a:ln>
            <a:noFill/>
          </a:ln>
        </p:spPr>
        <p:txBody>
          <a:bodyPr anchorCtr="0" anchor="t" bIns="45000" lIns="90000" spcFirstLastPara="1" rIns="90000" wrap="square" tIns="45000">
            <a:noAutofit/>
          </a:bodyPr>
          <a:lstStyle/>
          <a:p>
            <a:pPr indent="0" lvl="0" marL="0" rtl="0" algn="ctr">
              <a:lnSpc>
                <a:spcPct val="115000"/>
              </a:lnSpc>
              <a:spcBef>
                <a:spcPts val="1200"/>
              </a:spcBef>
              <a:spcAft>
                <a:spcPts val="0"/>
              </a:spcAft>
              <a:buClr>
                <a:schemeClr val="dk1"/>
              </a:buClr>
              <a:buSzPts val="1100"/>
              <a:buFont typeface="Arial"/>
              <a:buNone/>
            </a:pPr>
            <a:r>
              <a:rPr lang="es-ES" sz="1800"/>
              <a:t>Por qué hoy es importante la integración de los equipos de Desarrollo e Infraestructura?</a:t>
            </a:r>
            <a:endParaRPr sz="1800"/>
          </a:p>
          <a:p>
            <a:pPr indent="0" lvl="0" marL="0" rtl="0" algn="l">
              <a:lnSpc>
                <a:spcPct val="115000"/>
              </a:lnSpc>
              <a:spcBef>
                <a:spcPts val="1200"/>
              </a:spcBef>
              <a:spcAft>
                <a:spcPts val="1200"/>
              </a:spcAft>
              <a:buClr>
                <a:schemeClr val="dk1"/>
              </a:buClr>
              <a:buSzPts val="1100"/>
              <a:buFont typeface="Arial"/>
              <a:buNone/>
            </a:pPr>
            <a:r>
              <a:t/>
            </a:r>
            <a:endParaRPr i="0" sz="1800" u="none" cap="none" strike="noStrike">
              <a:solidFill>
                <a:srgbClr val="000000"/>
              </a:solidFill>
            </a:endParaRPr>
          </a:p>
        </p:txBody>
      </p:sp>
      <p:pic>
        <p:nvPicPr>
          <p:cNvPr descr="You know DevOps means bringing developers together with operations teams, but what are real benefits of this approach for your IT department?&#10;&#10;Mary Johnston Turner, Director of Management Software Evangelism, covers the basic advantages of DevOps to get you started. If you’re getting ready to do research for a self evaluation of your company, here’s where to start.&#10;&#10;http://www.redhat.com/en/topics/devops" id="316" name="Google Shape;316;g1349b23170d_0_270" title="Open Answers: Scale with DevOps">
            <a:hlinkClick r:id="rId3"/>
          </p:cNvPr>
          <p:cNvPicPr preferRelativeResize="0"/>
          <p:nvPr/>
        </p:nvPicPr>
        <p:blipFill>
          <a:blip r:embed="rId4">
            <a:alphaModFix/>
          </a:blip>
          <a:stretch>
            <a:fillRect/>
          </a:stretch>
        </p:blipFill>
        <p:spPr>
          <a:xfrm>
            <a:off x="2149675" y="2590400"/>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1349b23170d_0_166"/>
          <p:cNvSpPr txBox="1"/>
          <p:nvPr>
            <p:ph type="title"/>
          </p:nvPr>
        </p:nvSpPr>
        <p:spPr>
          <a:xfrm>
            <a:off x="448884" y="4613314"/>
            <a:ext cx="2751000" cy="2285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4800"/>
              <a:buFont typeface="Arial"/>
              <a:buNone/>
            </a:pPr>
            <a:r>
              <a:rPr lang="es-ES">
                <a:latin typeface="Calibri"/>
                <a:ea typeface="Calibri"/>
                <a:cs typeface="Calibri"/>
                <a:sym typeface="Calibri"/>
              </a:rPr>
              <a:t>Tecnologías DEVOPS Herramientas para el desarrollo y la automatización</a:t>
            </a:r>
            <a:endParaRPr b="0" sz="600"/>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1349b23170d_0_277"/>
          <p:cNvSpPr txBox="1"/>
          <p:nvPr/>
        </p:nvSpPr>
        <p:spPr>
          <a:xfrm>
            <a:off x="331350" y="497450"/>
            <a:ext cx="1844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ES" sz="3600">
                <a:solidFill>
                  <a:schemeClr val="lt1"/>
                </a:solidFill>
                <a:latin typeface="Calibri"/>
                <a:ea typeface="Calibri"/>
                <a:cs typeface="Calibri"/>
                <a:sym typeface="Calibri"/>
              </a:rPr>
              <a:t>DevOps</a:t>
            </a:r>
            <a:endParaRPr b="1" sz="3600">
              <a:solidFill>
                <a:schemeClr val="lt1"/>
              </a:solidFill>
              <a:latin typeface="Calibri"/>
              <a:ea typeface="Calibri"/>
              <a:cs typeface="Calibri"/>
              <a:sym typeface="Calibri"/>
            </a:endParaRPr>
          </a:p>
        </p:txBody>
      </p:sp>
      <p:sp>
        <p:nvSpPr>
          <p:cNvPr id="327" name="Google Shape;327;g1349b23170d_0_277"/>
          <p:cNvSpPr txBox="1"/>
          <p:nvPr/>
        </p:nvSpPr>
        <p:spPr>
          <a:xfrm>
            <a:off x="294125" y="1218600"/>
            <a:ext cx="8555400" cy="1851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2400"/>
              </a:spcBef>
              <a:spcAft>
                <a:spcPts val="0"/>
              </a:spcAft>
              <a:buClr>
                <a:schemeClr val="dk1"/>
              </a:buClr>
              <a:buSzPts val="1100"/>
              <a:buFont typeface="Arial"/>
              <a:buNone/>
            </a:pPr>
            <a:r>
              <a:rPr b="1" i="0" lang="es-ES" sz="1800" u="none" cap="none" strike="noStrike">
                <a:solidFill>
                  <a:srgbClr val="818990"/>
                </a:solidFill>
                <a:latin typeface="Calibri"/>
                <a:ea typeface="Calibri"/>
                <a:cs typeface="Calibri"/>
                <a:sym typeface="Calibri"/>
              </a:rPr>
              <a:t>Organizando la Infraestructura Tecnológica</a:t>
            </a:r>
            <a:endParaRPr b="1" i="0" sz="2300" u="none" cap="none" strike="noStrike">
              <a:solidFill>
                <a:schemeClr val="dk1"/>
              </a:solidFill>
              <a:latin typeface="Arial"/>
              <a:ea typeface="Arial"/>
              <a:cs typeface="Arial"/>
              <a:sym typeface="Arial"/>
            </a:endParaRPr>
          </a:p>
          <a:p>
            <a:pPr indent="0" lvl="0" marL="0" marR="0" rtl="0" algn="just">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Un enfoque de herramientas DevOps para el desarrollo de software ágil ayuda a los desarrolladores y equipos de operaciones a crear, probar, implementar y supervisar aplicaciones con velocidad, calidad y control. Las implementaciones exitosas de software DevOps generalmente se basan en un conjunto integrado de soluciones, o una cadena de herramientas, para eliminar pasos manuales, reducir errores, aumentar la agilidad del equipo y escalar más allá de los equipos pequeños y aislados.</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imple explanation of DevOps without the complications and information overload.  -- what do you think? Please share &amp; comment! &#10;&#10;DevOps is a concept with different interpretations and definitions, but when you get down to it, it's all about developers and operations teams breaking down silos and working together to innovate faster. For many companies, the ability to innovate at a rapid pace — responding to market conditions and customer feedback — is a key factor for success. Adopting the DevOps philosophy requires a new mindset, new tools and new skills.&#10;&#10;More about DevOps: &#10;http://www.rackspace.com/devops/&#10;http://www.rackspace.com/blog/accelerate-devops-adoption-for-faster-innovation/&#10;&#10;Don't miss other videos and exciting material: &#10;http://www.youtube.com/user/RackspaceHosting&#10;https://www.facebook.com/rackspace&#10;https://twitter.com/rackspace&#10;http://www.linkedin.com/company/rackspace-hosting" id="328" name="Google Shape;328;g1349b23170d_0_277" title="What is DevOps? - In Simple English">
            <a:hlinkClick r:id="rId3"/>
          </p:cNvPr>
          <p:cNvPicPr preferRelativeResize="0"/>
          <p:nvPr/>
        </p:nvPicPr>
        <p:blipFill rotWithShape="1">
          <a:blip r:embed="rId4">
            <a:alphaModFix/>
          </a:blip>
          <a:srcRect b="0" l="0" r="0" t="0"/>
          <a:stretch/>
        </p:blipFill>
        <p:spPr>
          <a:xfrm>
            <a:off x="2170675" y="3263825"/>
            <a:ext cx="4572000" cy="3429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1349b23170d_0_283"/>
          <p:cNvSpPr txBox="1"/>
          <p:nvPr/>
        </p:nvSpPr>
        <p:spPr>
          <a:xfrm>
            <a:off x="331350" y="497450"/>
            <a:ext cx="1844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ES" sz="3600">
                <a:solidFill>
                  <a:schemeClr val="lt1"/>
                </a:solidFill>
                <a:latin typeface="Calibri"/>
                <a:ea typeface="Calibri"/>
                <a:cs typeface="Calibri"/>
                <a:sym typeface="Calibri"/>
              </a:rPr>
              <a:t>DevOps</a:t>
            </a:r>
            <a:endParaRPr b="1" sz="3600">
              <a:solidFill>
                <a:schemeClr val="lt1"/>
              </a:solidFill>
              <a:latin typeface="Calibri"/>
              <a:ea typeface="Calibri"/>
              <a:cs typeface="Calibri"/>
              <a:sym typeface="Calibri"/>
            </a:endParaRPr>
          </a:p>
        </p:txBody>
      </p:sp>
      <p:sp>
        <p:nvSpPr>
          <p:cNvPr id="334" name="Google Shape;334;g1349b23170d_0_283"/>
          <p:cNvSpPr txBox="1"/>
          <p:nvPr/>
        </p:nvSpPr>
        <p:spPr>
          <a:xfrm>
            <a:off x="294125" y="1218600"/>
            <a:ext cx="8555400" cy="1851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2400"/>
              </a:spcBef>
              <a:spcAft>
                <a:spcPts val="0"/>
              </a:spcAft>
              <a:buClr>
                <a:schemeClr val="dk1"/>
              </a:buClr>
              <a:buSzPts val="1100"/>
              <a:buFont typeface="Arial"/>
              <a:buNone/>
            </a:pPr>
            <a:r>
              <a:rPr b="1" i="0" lang="es-ES" sz="1800" u="none" cap="none" strike="noStrike">
                <a:solidFill>
                  <a:srgbClr val="818990"/>
                </a:solidFill>
                <a:latin typeface="Calibri"/>
                <a:ea typeface="Calibri"/>
                <a:cs typeface="Calibri"/>
                <a:sym typeface="Calibri"/>
              </a:rPr>
              <a:t>DEVOPS Intro</a:t>
            </a:r>
            <a:endParaRPr b="1" i="0" sz="1800" u="none" cap="none" strike="noStrike">
              <a:solidFill>
                <a:srgbClr val="818990"/>
              </a:solidFill>
              <a:latin typeface="Calibri"/>
              <a:ea typeface="Calibri"/>
              <a:cs typeface="Calibri"/>
              <a:sym typeface="Calibri"/>
            </a:endParaRPr>
          </a:p>
          <a:p>
            <a:pPr indent="0" lvl="0" marL="0" marR="0" rtl="0" algn="l">
              <a:lnSpc>
                <a:spcPct val="115000"/>
              </a:lnSpc>
              <a:spcBef>
                <a:spcPts val="2400"/>
              </a:spcBef>
              <a:spcAft>
                <a:spcPts val="0"/>
              </a:spcAft>
              <a:buClr>
                <a:schemeClr val="dk1"/>
              </a:buClr>
              <a:buSzPts val="1100"/>
              <a:buFont typeface="Arial"/>
              <a:buNone/>
            </a:pPr>
            <a:r>
              <a:t/>
            </a:r>
            <a:endParaRPr b="1" i="0" sz="1800" u="none" cap="none" strike="noStrike">
              <a:solidFill>
                <a:srgbClr val="818990"/>
              </a:solidFill>
              <a:latin typeface="Calibri"/>
              <a:ea typeface="Calibri"/>
              <a:cs typeface="Calibri"/>
              <a:sym typeface="Calibri"/>
            </a:endParaRPr>
          </a:p>
          <a:p>
            <a:pPr indent="0" lvl="0" marL="0" marR="0" rtl="0" algn="ctr">
              <a:lnSpc>
                <a:spcPct val="120000"/>
              </a:lnSpc>
              <a:spcBef>
                <a:spcPts val="1400"/>
              </a:spcBef>
              <a:spcAft>
                <a:spcPts val="0"/>
              </a:spcAft>
              <a:buClr>
                <a:schemeClr val="dk1"/>
              </a:buClr>
              <a:buSzPts val="1100"/>
              <a:buFont typeface="Arial"/>
              <a:buNone/>
            </a:pPr>
            <a:r>
              <a:rPr b="1" i="1" lang="es-ES" sz="1800" u="none" cap="none" strike="noStrike">
                <a:solidFill>
                  <a:srgbClr val="818990"/>
                </a:solidFill>
                <a:latin typeface="Calibri"/>
                <a:ea typeface="Calibri"/>
                <a:cs typeface="Calibri"/>
                <a:sym typeface="Calibri"/>
              </a:rPr>
              <a:t>“DevOps es un modelo cultural y organizacional que promueve la colaboración para permitir una IT de alto rendimiento que permita alcanzar los objetivos de negocio”</a:t>
            </a:r>
            <a:endParaRPr b="0" i="1" sz="1300" u="none" cap="none" strike="noStrike">
              <a:solidFill>
                <a:srgbClr val="4B4B4D"/>
              </a:solidFill>
              <a:highlight>
                <a:srgbClr val="FFFFFF"/>
              </a:highlight>
              <a:latin typeface="Arial"/>
              <a:ea typeface="Arial"/>
              <a:cs typeface="Arial"/>
              <a:sym typeface="Arial"/>
            </a:endParaRPr>
          </a:p>
          <a:p>
            <a:pPr indent="0" lvl="0" marL="0" marR="0" rtl="0" algn="l">
              <a:lnSpc>
                <a:spcPct val="115000"/>
              </a:lnSpc>
              <a:spcBef>
                <a:spcPts val="40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just">
              <a:lnSpc>
                <a:spcPct val="90000"/>
              </a:lnSpc>
              <a:spcBef>
                <a:spcPts val="1001"/>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335" name="Google Shape;335;g1349b23170d_0_283"/>
          <p:cNvPicPr preferRelativeResize="0"/>
          <p:nvPr/>
        </p:nvPicPr>
        <p:blipFill rotWithShape="1">
          <a:blip r:embed="rId3">
            <a:alphaModFix/>
          </a:blip>
          <a:srcRect b="0" l="0" r="0" t="0"/>
          <a:stretch/>
        </p:blipFill>
        <p:spPr>
          <a:xfrm>
            <a:off x="1994238" y="3164950"/>
            <a:ext cx="5155183" cy="348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1349b23170d_0_295"/>
          <p:cNvSpPr txBox="1"/>
          <p:nvPr>
            <p:ph type="title"/>
          </p:nvPr>
        </p:nvSpPr>
        <p:spPr>
          <a:xfrm>
            <a:off x="448884" y="4613314"/>
            <a:ext cx="2751000" cy="789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s-ES">
                <a:latin typeface="Calibri"/>
                <a:ea typeface="Calibri"/>
                <a:cs typeface="Calibri"/>
                <a:sym typeface="Calibri"/>
              </a:rPr>
              <a:t>DEVOPS </a:t>
            </a:r>
            <a:endParaRPr b="0" sz="600"/>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e3bb8a6eea_0_1"/>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Las tres direcciones</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La frase "Las tres direcciones" se utiliza para describir los principios subyacentes del movimiento DevOps.</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chemeClr val="dk1"/>
              </a:buClr>
              <a:buSzPts val="1100"/>
              <a:buFont typeface="Arial"/>
              <a:buNone/>
            </a:pPr>
            <a:r>
              <a:rPr b="1" i="0" lang="es-ES" sz="1900" u="none" cap="none" strike="noStrike">
                <a:solidFill>
                  <a:srgbClr val="818990"/>
                </a:solidFill>
                <a:latin typeface="Calibri"/>
                <a:ea typeface="Calibri"/>
                <a:cs typeface="Calibri"/>
                <a:sym typeface="Calibri"/>
              </a:rPr>
              <a:t>Primera dirección:</a:t>
            </a:r>
            <a:r>
              <a:rPr b="0" i="0" lang="es-ES" sz="1900" u="none" cap="none" strike="noStrike">
                <a:solidFill>
                  <a:srgbClr val="818990"/>
                </a:solidFill>
                <a:latin typeface="Calibri"/>
                <a:ea typeface="Calibri"/>
                <a:cs typeface="Calibri"/>
                <a:sym typeface="Calibri"/>
              </a:rPr>
              <a:t> el trabajo siempre fluye en una dirección: aguas abajo</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chemeClr val="dk1"/>
              </a:buClr>
              <a:buSzPts val="1100"/>
              <a:buFont typeface="Arial"/>
              <a:buNone/>
            </a:pPr>
            <a:r>
              <a:rPr b="1" i="0" lang="es-ES" sz="1900" u="none" cap="none" strike="noStrike">
                <a:solidFill>
                  <a:srgbClr val="818990"/>
                </a:solidFill>
                <a:latin typeface="Calibri"/>
                <a:ea typeface="Calibri"/>
                <a:cs typeface="Calibri"/>
                <a:sym typeface="Calibri"/>
              </a:rPr>
              <a:t>Segunda dirección:</a:t>
            </a:r>
            <a:r>
              <a:rPr b="0" i="0" lang="es-ES" sz="1900" u="none" cap="none" strike="noStrike">
                <a:solidFill>
                  <a:srgbClr val="818990"/>
                </a:solidFill>
                <a:latin typeface="Calibri"/>
                <a:ea typeface="Calibri"/>
                <a:cs typeface="Calibri"/>
                <a:sym typeface="Calibri"/>
              </a:rPr>
              <a:t> crear, acortar y amplificar bucles de retroalimentación</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rPr b="1" i="0" lang="es-ES" sz="1900" u="none" cap="none" strike="noStrike">
                <a:solidFill>
                  <a:srgbClr val="818990"/>
                </a:solidFill>
                <a:latin typeface="Calibri"/>
                <a:ea typeface="Calibri"/>
                <a:cs typeface="Calibri"/>
                <a:sym typeface="Calibri"/>
              </a:rPr>
              <a:t>Tercera dirección:</a:t>
            </a:r>
            <a:r>
              <a:rPr b="0" i="0" lang="es-ES" sz="1900" u="none" cap="none" strike="noStrike">
                <a:solidFill>
                  <a:srgbClr val="818990"/>
                </a:solidFill>
                <a:latin typeface="Calibri"/>
                <a:ea typeface="Calibri"/>
                <a:cs typeface="Calibri"/>
                <a:sym typeface="Calibri"/>
              </a:rPr>
              <a:t> experimentación continua, para aprender de los errores y lograr el dominio.</a:t>
            </a:r>
            <a:endParaRPr b="0" i="0" sz="19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6" name="Google Shape;346;ge3bb8a6eea_0_1"/>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DevOps</a:t>
            </a:r>
            <a:endParaRPr b="0" i="0" sz="3000" u="none" cap="none" strike="noStrike">
              <a:solidFill>
                <a:srgbClr val="000000"/>
              </a:solidFill>
              <a:latin typeface="Arial"/>
              <a:ea typeface="Arial"/>
              <a:cs typeface="Arial"/>
              <a:sym typeface="Arial"/>
            </a:endParaRPr>
          </a:p>
        </p:txBody>
      </p:sp>
      <p:pic>
        <p:nvPicPr>
          <p:cNvPr id="347" name="Google Shape;347;ge3bb8a6eea_0_1"/>
          <p:cNvPicPr preferRelativeResize="0"/>
          <p:nvPr/>
        </p:nvPicPr>
        <p:blipFill rotWithShape="1">
          <a:blip r:embed="rId3">
            <a:alphaModFix/>
          </a:blip>
          <a:srcRect b="0" l="0" r="0" t="0"/>
          <a:stretch/>
        </p:blipFill>
        <p:spPr>
          <a:xfrm>
            <a:off x="1143500" y="4538400"/>
            <a:ext cx="6856649" cy="2112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7"/>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Primera dirección</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La primera dirección establece lo siguiente, sobre el flujo de trabajo:</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1001"/>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El trabajo solo debe fluir en una dirección</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0"/>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Ningún defecto conocido debe pasarse corriente abajo</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0"/>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Siempre busque aumentar el flujo </a:t>
            </a:r>
            <a:endParaRPr b="0" i="0" sz="19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La primera dirección nos ayuda a pensar en TI como un flujo de valor. Piense en una línea de fabricación, donde cada centro de trabajo agrega un componente (valor) a la línea. Dado que cada centro de trabajo agrega valor, se prefiere que cada centro de trabajo lo haga bien la primera vez.</a:t>
            </a:r>
            <a:endParaRPr b="0" i="0" sz="19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3" name="Google Shape;353;p7"/>
          <p:cNvSpPr txBox="1"/>
          <p:nvPr/>
        </p:nvSpPr>
        <p:spPr>
          <a:xfrm>
            <a:off x="1763640" y="212760"/>
            <a:ext cx="4287960" cy="81252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DevOps</a:t>
            </a:r>
            <a:endParaRPr b="0" i="0" sz="3000" u="none" cap="none" strike="noStrike">
              <a:solidFill>
                <a:srgbClr val="000000"/>
              </a:solidFill>
              <a:latin typeface="Arial"/>
              <a:ea typeface="Arial"/>
              <a:cs typeface="Arial"/>
              <a:sym typeface="Arial"/>
            </a:endParaRPr>
          </a:p>
        </p:txBody>
      </p:sp>
      <p:pic>
        <p:nvPicPr>
          <p:cNvPr id="354" name="Google Shape;354;p7"/>
          <p:cNvPicPr preferRelativeResize="0"/>
          <p:nvPr/>
        </p:nvPicPr>
        <p:blipFill rotWithShape="1">
          <a:blip r:embed="rId3">
            <a:alphaModFix/>
          </a:blip>
          <a:srcRect b="0" l="0" r="0" t="0"/>
          <a:stretch/>
        </p:blipFill>
        <p:spPr>
          <a:xfrm>
            <a:off x="2071350" y="5293795"/>
            <a:ext cx="5000951" cy="1327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e3bb8a6eea_0_10"/>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Segunda dirección</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rPr b="0" i="0" lang="es-ES" sz="1900" u="none" cap="none" strike="noStrike">
                <a:solidFill>
                  <a:srgbClr val="818990"/>
                </a:solidFill>
                <a:latin typeface="Calibri"/>
                <a:ea typeface="Calibri"/>
                <a:cs typeface="Calibri"/>
                <a:sym typeface="Calibri"/>
              </a:rPr>
              <a:t>La Segunda dirección describe el proceso de retroalimentación de la siguiente manera:</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1001"/>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Establecer un circuito de retroalimentación ascendente</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0"/>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Acortar el ciclo de retroalimentación</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0"/>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Amplifica el bucle de retroalimentación</a:t>
            </a:r>
            <a:endParaRPr b="0" i="0" sz="1900" u="none" cap="none" strike="noStrike">
              <a:solidFill>
                <a:srgbClr val="818990"/>
              </a:solidFill>
              <a:latin typeface="Calibri"/>
              <a:ea typeface="Calibri"/>
              <a:cs typeface="Calibri"/>
              <a:sym typeface="Calibri"/>
            </a:endParaRPr>
          </a:p>
          <a:p>
            <a:pPr indent="0" lvl="0" marL="457200" marR="0" rtl="0" algn="just">
              <a:lnSpc>
                <a:spcPct val="90000"/>
              </a:lnSpc>
              <a:spcBef>
                <a:spcPts val="1001"/>
              </a:spcBef>
              <a:spcAft>
                <a:spcPts val="0"/>
              </a:spcAft>
              <a:buClr>
                <a:srgbClr val="000000"/>
              </a:buClr>
              <a:buSzPts val="1900"/>
              <a:buFont typeface="Arial"/>
              <a:buNone/>
            </a:pPr>
            <a:r>
              <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La Segunda dirección nos enseña a pensar en la información como un valor agregado. Cuando se sincroniza correctamente y se usa de la manera correcta, la retroalimentación puede ayudar a optimizar el flujo de valor.</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t/>
            </a:r>
            <a:endParaRPr b="0" i="0" sz="19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0" name="Google Shape;360;ge3bb8a6eea_0_1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DevOps</a:t>
            </a:r>
            <a:endParaRPr b="0" i="0" sz="3000" u="none" cap="none" strike="noStrike">
              <a:solidFill>
                <a:srgbClr val="000000"/>
              </a:solidFill>
              <a:latin typeface="Arial"/>
              <a:ea typeface="Arial"/>
              <a:cs typeface="Arial"/>
              <a:sym typeface="Arial"/>
            </a:endParaRPr>
          </a:p>
        </p:txBody>
      </p:sp>
      <p:pic>
        <p:nvPicPr>
          <p:cNvPr id="361" name="Google Shape;361;ge3bb8a6eea_0_10"/>
          <p:cNvPicPr preferRelativeResize="0"/>
          <p:nvPr/>
        </p:nvPicPr>
        <p:blipFill rotWithShape="1">
          <a:blip r:embed="rId3">
            <a:alphaModFix/>
          </a:blip>
          <a:srcRect b="0" l="0" r="0" t="0"/>
          <a:stretch/>
        </p:blipFill>
        <p:spPr>
          <a:xfrm>
            <a:off x="1708450" y="5301700"/>
            <a:ext cx="5727100" cy="1394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e3bb8a6eea_0_18"/>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Segunda dirección</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Por ejemplo:</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¿Por qué hubo tanto tiempo de espera en este centro de trabajo en particular? </a:t>
            </a:r>
            <a:endParaRPr b="0" i="0" sz="1900" u="none" cap="none" strike="noStrike">
              <a:solidFill>
                <a:srgbClr val="818990"/>
              </a:solidFill>
              <a:latin typeface="Calibri"/>
              <a:ea typeface="Calibri"/>
              <a:cs typeface="Calibri"/>
              <a:sym typeface="Calibri"/>
            </a:endParaRPr>
          </a:p>
          <a:p>
            <a:pPr indent="45720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El recurso A se retuvo.</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¿Por qué tuvo que rehacerse este proceso? </a:t>
            </a:r>
            <a:endParaRPr b="0" i="0" sz="1900" u="none" cap="none" strike="noStrike">
              <a:solidFill>
                <a:srgbClr val="818990"/>
              </a:solidFill>
              <a:latin typeface="Calibri"/>
              <a:ea typeface="Calibri"/>
              <a:cs typeface="Calibri"/>
              <a:sym typeface="Calibri"/>
            </a:endParaRPr>
          </a:p>
          <a:p>
            <a:pPr indent="45720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Porque no se hizo bien la primera vez.</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El libro cita un letrero de una línea de producción de Toyota que dice:</a:t>
            </a:r>
            <a:endParaRPr b="0" i="0" sz="1900" u="none" cap="none" strike="noStrike">
              <a:solidFill>
                <a:srgbClr val="818990"/>
              </a:solidFill>
              <a:latin typeface="Calibri"/>
              <a:ea typeface="Calibri"/>
              <a:cs typeface="Calibri"/>
              <a:sym typeface="Calibri"/>
            </a:endParaRPr>
          </a:p>
          <a:p>
            <a:pPr indent="45720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"Mejorar el trabajo diario es más importante que hacer el trabajo diario".</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Esto hace pensar que la cultura es tan importante como el trabajo</a:t>
            </a:r>
            <a:endParaRPr b="0" i="0" sz="19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7" name="Google Shape;367;ge3bb8a6eea_0_18"/>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DevOps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e3bb8a6eea_0_24"/>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Tercera dirección</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900"/>
              <a:buFont typeface="Arial"/>
              <a:buNone/>
            </a:pPr>
            <a:r>
              <a:rPr b="0" i="0" lang="es-ES" sz="1900" u="none" cap="none" strike="noStrike">
                <a:solidFill>
                  <a:srgbClr val="818990"/>
                </a:solidFill>
                <a:latin typeface="Calibri"/>
                <a:ea typeface="Calibri"/>
                <a:cs typeface="Calibri"/>
                <a:sym typeface="Calibri"/>
              </a:rPr>
              <a:t>La Tercera dirección describe el medio ambiente y la cultura, como las siguientes prácticas</a:t>
            </a:r>
            <a:endParaRPr b="0" i="0" sz="19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chemeClr val="dk1"/>
              </a:buClr>
              <a:buSzPts val="1100"/>
              <a:buFont typeface="Arial"/>
              <a:buNone/>
            </a:pPr>
            <a:r>
              <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1001"/>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Promover la experimentación</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0"/>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Aprenda del éxito y el fracaso</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0"/>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Mejora constante</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0"/>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Busque lograr el dominio a través de la práctica</a:t>
            </a:r>
            <a:endParaRPr b="0" i="0" sz="19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just">
              <a:lnSpc>
                <a:spcPct val="90000"/>
              </a:lnSpc>
              <a:spcBef>
                <a:spcPts val="1001"/>
              </a:spcBef>
              <a:spcAft>
                <a:spcPts val="0"/>
              </a:spcAft>
              <a:buClr>
                <a:schemeClr val="dk1"/>
              </a:buClr>
              <a:buSzPts val="1100"/>
              <a:buFont typeface="Arial"/>
              <a:buNone/>
            </a:pPr>
            <a:r>
              <a:rPr b="0" i="0" lang="es-ES" sz="1900" u="none" cap="none" strike="noStrike">
                <a:solidFill>
                  <a:srgbClr val="818990"/>
                </a:solidFill>
                <a:latin typeface="Calibri"/>
                <a:ea typeface="Calibri"/>
                <a:cs typeface="Calibri"/>
                <a:sym typeface="Calibri"/>
              </a:rPr>
              <a:t>La Tercera dirección nos enseña que la cultura y el medio ambiente son tan importantes como el trabajo que se realiza. Aboga por una cultura de experimentación y mejora constante. Esto se traduce en riesgos medidos y en recompensas por los buenos resultados.</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Ahora bien, si se pueden implementar en procesos complejos como Desarrollo y Operaciones de TI, una analogía que puede explicar de mejor forma su uso:</a:t>
            </a:r>
            <a:endParaRPr b="0" i="0" sz="1900" u="none" cap="none" strike="noStrike">
              <a:solidFill>
                <a:srgbClr val="818990"/>
              </a:solidFill>
              <a:latin typeface="Calibri"/>
              <a:ea typeface="Calibri"/>
              <a:cs typeface="Calibri"/>
              <a:sym typeface="Calibri"/>
            </a:endParaRPr>
          </a:p>
        </p:txBody>
      </p:sp>
      <p:sp>
        <p:nvSpPr>
          <p:cNvPr id="373" name="Google Shape;373;ge3bb8a6eea_0_2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DevOps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e3bb8a6eea_0_31"/>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Una explicación alternativa</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349250" lvl="0" marL="457200" marR="0" rtl="0" algn="just">
              <a:lnSpc>
                <a:spcPct val="90000"/>
              </a:lnSpc>
              <a:spcBef>
                <a:spcPts val="1001"/>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Tu ropa sucia son los requisitos del proyecto.</a:t>
            </a:r>
            <a:endParaRPr b="0" i="0" sz="1900" u="none" cap="none" strike="noStrike">
              <a:solidFill>
                <a:srgbClr val="818990"/>
              </a:solidFill>
              <a:latin typeface="Calibri"/>
              <a:ea typeface="Calibri"/>
              <a:cs typeface="Calibri"/>
              <a:sym typeface="Calibri"/>
            </a:endParaRPr>
          </a:p>
          <a:p>
            <a:pPr indent="-349250" lvl="0" marL="457200" marR="0" rtl="0" algn="just">
              <a:lnSpc>
                <a:spcPct val="90000"/>
              </a:lnSpc>
              <a:spcBef>
                <a:spcPts val="0"/>
              </a:spcBef>
              <a:spcAft>
                <a:spcPts val="0"/>
              </a:spcAft>
              <a:buClr>
                <a:srgbClr val="818990"/>
              </a:buClr>
              <a:buSzPts val="1900"/>
              <a:buFont typeface="Calibri"/>
              <a:buChar char="●"/>
            </a:pPr>
            <a:r>
              <a:rPr b="0" i="0" lang="es-ES" sz="1900" u="none" cap="none" strike="noStrike">
                <a:solidFill>
                  <a:srgbClr val="818990"/>
                </a:solidFill>
                <a:latin typeface="Calibri"/>
                <a:ea typeface="Calibri"/>
                <a:cs typeface="Calibri"/>
                <a:sym typeface="Calibri"/>
              </a:rPr>
              <a:t>Tu lavadora es Desarrollo.</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chemeClr val="dk1"/>
              </a:buClr>
              <a:buSzPts val="1100"/>
              <a:buFont typeface="Arial"/>
              <a:buNone/>
            </a:pPr>
            <a:r>
              <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chemeClr val="dk1"/>
              </a:buClr>
              <a:buSzPts val="1100"/>
              <a:buFont typeface="Arial"/>
              <a:buNone/>
            </a:pPr>
            <a:r>
              <a:rPr b="0" i="0" lang="es-ES" sz="1900" u="none" cap="none" strike="noStrike">
                <a:solidFill>
                  <a:srgbClr val="818990"/>
                </a:solidFill>
                <a:latin typeface="Calibri"/>
                <a:ea typeface="Calibri"/>
                <a:cs typeface="Calibri"/>
                <a:sym typeface="Calibri"/>
              </a:rPr>
              <a:t>Su línea de secado es la implementación, realizada por operaciones de TI, que también es su limitación. Si tu tendedero no está libre, no podrás lavar más ropa porque no tendrás espacio para secarla.</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chemeClr val="dk1"/>
              </a:buClr>
              <a:buSzPts val="1100"/>
              <a:buFont typeface="Arial"/>
              <a:buNone/>
            </a:pPr>
            <a:r>
              <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Anteriormente, solía lavar la ropa de una semana de una sola vez, eso es mucha ropa. Esto significaba que no había suficiente espacio en el tendedero para la carga entera.</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t/>
            </a:r>
            <a:endParaRPr b="0" i="0" sz="1900" u="none" cap="none" strike="noStrike">
              <a:solidFill>
                <a:srgbClr val="818990"/>
              </a:solidFill>
              <a:latin typeface="Calibri"/>
              <a:ea typeface="Calibri"/>
              <a:cs typeface="Calibri"/>
              <a:sym typeface="Calibri"/>
            </a:endParaRPr>
          </a:p>
          <a:p>
            <a:pPr indent="0" lvl="0" marL="50760" marR="0" rtl="0" algn="ctr">
              <a:lnSpc>
                <a:spcPct val="90000"/>
              </a:lnSpc>
              <a:spcBef>
                <a:spcPts val="1001"/>
              </a:spcBef>
              <a:spcAft>
                <a:spcPts val="0"/>
              </a:spcAft>
              <a:buClr>
                <a:srgbClr val="000000"/>
              </a:buClr>
              <a:buSzPts val="1800"/>
              <a:buFont typeface="Arial"/>
              <a:buNone/>
            </a:pPr>
            <a:r>
              <a:rPr b="1" i="0" lang="es-ES" sz="1900" u="none" cap="none" strike="noStrike">
                <a:solidFill>
                  <a:srgbClr val="818990"/>
                </a:solidFill>
                <a:latin typeface="Calibri"/>
                <a:ea typeface="Calibri"/>
                <a:cs typeface="Calibri"/>
                <a:sym typeface="Calibri"/>
              </a:rPr>
              <a:t>Esto resultó en ropa húmeda, incluso después de 2 días de secado.</a:t>
            </a:r>
            <a:endParaRPr b="1" i="0" sz="1900" u="none" cap="none" strike="noStrike">
              <a:solidFill>
                <a:srgbClr val="818990"/>
              </a:solidFill>
              <a:latin typeface="Calibri"/>
              <a:ea typeface="Calibri"/>
              <a:cs typeface="Calibri"/>
              <a:sym typeface="Calibri"/>
            </a:endParaRPr>
          </a:p>
        </p:txBody>
      </p:sp>
      <p:sp>
        <p:nvSpPr>
          <p:cNvPr id="379" name="Google Shape;379;ge3bb8a6eea_0_31"/>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DevOps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e3bb8a6eea_0_38"/>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Una explicación alternativa</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Si se comienzan a lavar cargas más pequeñas, de forma más regular. Al principio, con una frecuencia cada 3-4 días. Esto funcionará bien siempre que no sea necesario lavar ropa negra junto con el resto de ropa de colores. Esta es una analogía para los requisitos de recursos que chocan.</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t/>
            </a:r>
            <a:endParaRPr b="0" i="0" sz="1900" u="none" cap="none" strike="noStrike">
              <a:solidFill>
                <a:srgbClr val="818990"/>
              </a:solidFill>
              <a:latin typeface="Calibri"/>
              <a:ea typeface="Calibri"/>
              <a:cs typeface="Calibri"/>
              <a:sym typeface="Calibri"/>
            </a:endParaRPr>
          </a:p>
        </p:txBody>
      </p:sp>
      <p:sp>
        <p:nvSpPr>
          <p:cNvPr id="385" name="Google Shape;385;ge3bb8a6eea_0_38"/>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DevOps</a:t>
            </a:r>
            <a:endParaRPr b="0" i="0" sz="3000" u="none" cap="none" strike="noStrike">
              <a:solidFill>
                <a:srgbClr val="000000"/>
              </a:solidFill>
              <a:latin typeface="Arial"/>
              <a:ea typeface="Arial"/>
              <a:cs typeface="Arial"/>
              <a:sym typeface="Arial"/>
            </a:endParaRPr>
          </a:p>
        </p:txBody>
      </p:sp>
      <p:pic>
        <p:nvPicPr>
          <p:cNvPr id="386" name="Google Shape;386;ge3bb8a6eea_0_38"/>
          <p:cNvPicPr preferRelativeResize="0"/>
          <p:nvPr/>
        </p:nvPicPr>
        <p:blipFill rotWithShape="1">
          <a:blip r:embed="rId3">
            <a:alphaModFix/>
          </a:blip>
          <a:srcRect b="0" l="0" r="0" t="0"/>
          <a:stretch/>
        </p:blipFill>
        <p:spPr>
          <a:xfrm>
            <a:off x="2262188" y="3750525"/>
            <a:ext cx="4619625" cy="2181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e3bb8a6eea_0_50"/>
          <p:cNvSpPr txBox="1"/>
          <p:nvPr/>
        </p:nvSpPr>
        <p:spPr>
          <a:xfrm>
            <a:off x="294125" y="1218600"/>
            <a:ext cx="8555400" cy="60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rgbClr val="000000"/>
              </a:buClr>
              <a:buSzPts val="1800"/>
              <a:buFont typeface="Arial"/>
              <a:buNone/>
            </a:pPr>
            <a:r>
              <a:rPr b="1" i="0" lang="es-ES" sz="2300" u="none" cap="none" strike="noStrike">
                <a:solidFill>
                  <a:srgbClr val="818990"/>
                </a:solidFill>
                <a:latin typeface="Calibri"/>
                <a:ea typeface="Calibri"/>
                <a:cs typeface="Calibri"/>
                <a:sym typeface="Calibri"/>
              </a:rPr>
              <a:t>Una explicación alternativa</a:t>
            </a:r>
            <a:endParaRPr b="1" i="0" sz="23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Así que se intenta lavar cargas aún más pequeñas, en intervalos más regulares. Entonces, una vez al día. Eso es solo 2-3 prendas de vestir (</a:t>
            </a:r>
            <a:r>
              <a:rPr b="1" i="0" lang="es-ES" sz="1900" u="none" cap="none" strike="noStrike">
                <a:solidFill>
                  <a:srgbClr val="818990"/>
                </a:solidFill>
                <a:latin typeface="Calibri"/>
                <a:ea typeface="Calibri"/>
                <a:cs typeface="Calibri"/>
                <a:sym typeface="Calibri"/>
              </a:rPr>
              <a:t>lanzamientos</a:t>
            </a:r>
            <a:r>
              <a:rPr b="0" i="0" lang="es-ES" sz="1900" u="none" cap="none" strike="noStrike">
                <a:solidFill>
                  <a:srgbClr val="818990"/>
                </a:solidFill>
                <a:latin typeface="Calibri"/>
                <a:ea typeface="Calibri"/>
                <a:cs typeface="Calibri"/>
                <a:sym typeface="Calibri"/>
              </a:rPr>
              <a:t>), pero se pueden lavar (</a:t>
            </a:r>
            <a:r>
              <a:rPr b="1" i="0" lang="es-ES" sz="1900" u="none" cap="none" strike="noStrike">
                <a:solidFill>
                  <a:srgbClr val="818990"/>
                </a:solidFill>
                <a:latin typeface="Calibri"/>
                <a:ea typeface="Calibri"/>
                <a:cs typeface="Calibri"/>
                <a:sym typeface="Calibri"/>
              </a:rPr>
              <a:t>revelar</a:t>
            </a:r>
            <a:r>
              <a:rPr b="0" i="0" lang="es-ES" sz="1900" u="none" cap="none" strike="noStrike">
                <a:solidFill>
                  <a:srgbClr val="818990"/>
                </a:solidFill>
                <a:latin typeface="Calibri"/>
                <a:ea typeface="Calibri"/>
                <a:cs typeface="Calibri"/>
                <a:sym typeface="Calibri"/>
              </a:rPr>
              <a:t>) y secar (</a:t>
            </a:r>
            <a:r>
              <a:rPr b="1" i="0" lang="es-ES" sz="1900" u="none" cap="none" strike="noStrike">
                <a:solidFill>
                  <a:srgbClr val="818990"/>
                </a:solidFill>
                <a:latin typeface="Calibri"/>
                <a:ea typeface="Calibri"/>
                <a:cs typeface="Calibri"/>
                <a:sym typeface="Calibri"/>
              </a:rPr>
              <a:t>desplegar</a:t>
            </a:r>
            <a:r>
              <a:rPr b="0" i="0" lang="es-ES" sz="1900" u="none" cap="none" strike="noStrike">
                <a:solidFill>
                  <a:srgbClr val="818990"/>
                </a:solidFill>
                <a:latin typeface="Calibri"/>
                <a:ea typeface="Calibri"/>
                <a:cs typeface="Calibri"/>
                <a:sym typeface="Calibri"/>
              </a:rPr>
              <a:t>) durante la noche.</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rPr b="0" i="0" lang="es-ES" sz="1900" u="none" cap="none" strike="noStrike">
                <a:solidFill>
                  <a:srgbClr val="818990"/>
                </a:solidFill>
                <a:latin typeface="Calibri"/>
                <a:ea typeface="Calibri"/>
                <a:cs typeface="Calibri"/>
                <a:sym typeface="Calibri"/>
              </a:rPr>
              <a:t>Si DevOps puede cambiar la forma en que se lava la ropa, sin duda puede cambiar la forma en que las operaciones de TI y el desarrollo trabajan juntos!!!</a:t>
            </a:r>
            <a:endParaRPr b="0" i="0" sz="1900" u="none" cap="none" strike="noStrike">
              <a:solidFill>
                <a:srgbClr val="818990"/>
              </a:solidFill>
              <a:latin typeface="Calibri"/>
              <a:ea typeface="Calibri"/>
              <a:cs typeface="Calibri"/>
              <a:sym typeface="Calibri"/>
            </a:endParaRPr>
          </a:p>
          <a:p>
            <a:pPr indent="0" lvl="0" marL="50760" marR="0" rtl="0" algn="just">
              <a:lnSpc>
                <a:spcPct val="90000"/>
              </a:lnSpc>
              <a:spcBef>
                <a:spcPts val="1001"/>
              </a:spcBef>
              <a:spcAft>
                <a:spcPts val="0"/>
              </a:spcAft>
              <a:buClr>
                <a:srgbClr val="000000"/>
              </a:buClr>
              <a:buSzPts val="1800"/>
              <a:buFont typeface="Arial"/>
              <a:buNone/>
            </a:pPr>
            <a:r>
              <a:t/>
            </a:r>
            <a:endParaRPr b="0" i="0" sz="1900" u="none" cap="none" strike="noStrike">
              <a:solidFill>
                <a:srgbClr val="818990"/>
              </a:solidFill>
              <a:latin typeface="Calibri"/>
              <a:ea typeface="Calibri"/>
              <a:cs typeface="Calibri"/>
              <a:sym typeface="Calibri"/>
            </a:endParaRPr>
          </a:p>
        </p:txBody>
      </p:sp>
      <p:sp>
        <p:nvSpPr>
          <p:cNvPr id="392" name="Google Shape;392;ge3bb8a6eea_0_5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DevOps</a:t>
            </a:r>
            <a:endParaRPr b="0" i="0" sz="3000" u="none" cap="none" strike="noStrike">
              <a:solidFill>
                <a:srgbClr val="000000"/>
              </a:solidFill>
              <a:latin typeface="Arial"/>
              <a:ea typeface="Arial"/>
              <a:cs typeface="Arial"/>
              <a:sym typeface="Arial"/>
            </a:endParaRPr>
          </a:p>
        </p:txBody>
      </p:sp>
      <p:pic>
        <p:nvPicPr>
          <p:cNvPr id="393" name="Google Shape;393;ge3bb8a6eea_0_50"/>
          <p:cNvPicPr preferRelativeResize="0"/>
          <p:nvPr/>
        </p:nvPicPr>
        <p:blipFill rotWithShape="1">
          <a:blip r:embed="rId3">
            <a:alphaModFix/>
          </a:blip>
          <a:srcRect b="0" l="0" r="0" t="0"/>
          <a:stretch/>
        </p:blipFill>
        <p:spPr>
          <a:xfrm>
            <a:off x="1197288" y="4231576"/>
            <a:ext cx="6749075" cy="2411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1349b23170d_0_299"/>
          <p:cNvSpPr txBox="1"/>
          <p:nvPr>
            <p:ph type="title"/>
          </p:nvPr>
        </p:nvSpPr>
        <p:spPr>
          <a:xfrm>
            <a:off x="296484" y="4765714"/>
            <a:ext cx="2751000" cy="1594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s-ES" sz="3700">
                <a:latin typeface="Calibri"/>
                <a:ea typeface="Calibri"/>
                <a:cs typeface="Calibri"/>
                <a:sym typeface="Calibri"/>
              </a:rPr>
              <a:t>7 Principios </a:t>
            </a:r>
            <a:r>
              <a:rPr lang="es-ES" sz="3700">
                <a:latin typeface="Calibri"/>
                <a:ea typeface="Calibri"/>
                <a:cs typeface="Calibri"/>
                <a:sym typeface="Calibri"/>
              </a:rPr>
              <a:t>DEVOPS </a:t>
            </a:r>
            <a:endParaRPr sz="1600"/>
          </a:p>
          <a:p>
            <a:pPr indent="0" lvl="0" marL="0" rtl="0" algn="l">
              <a:spcBef>
                <a:spcPts val="0"/>
              </a:spcBef>
              <a:spcAft>
                <a:spcPts val="0"/>
              </a:spcAft>
              <a:buNone/>
            </a:pPr>
            <a:r>
              <a:t/>
            </a:r>
            <a:endParaRPr sz="3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Cuando se discute el concepto de principios de manufactura LEAN, no se pueden evitar mencionar los 7 desperdicios, que deben eliminarse para mejorar el valor general para el cliente a un </a:t>
            </a:r>
            <a:r>
              <a:rPr b="1" i="1" lang="es-ES" sz="2300" u="none" cap="none" strike="noStrike">
                <a:solidFill>
                  <a:srgbClr val="818990"/>
                </a:solidFill>
                <a:latin typeface="Calibri"/>
                <a:ea typeface="Calibri"/>
                <a:cs typeface="Calibri"/>
                <a:sym typeface="Calibri"/>
              </a:rPr>
              <a:t>costo menor</a:t>
            </a:r>
            <a:r>
              <a:rPr b="0" i="0" lang="es-ES" sz="2300" u="none" cap="none" strike="noStrike">
                <a:solidFill>
                  <a:srgbClr val="818990"/>
                </a:solidFill>
                <a:latin typeface="Calibri"/>
                <a:ea typeface="Calibri"/>
                <a:cs typeface="Calibri"/>
                <a:sym typeface="Calibri"/>
              </a:rPr>
              <a:t> y en un </a:t>
            </a:r>
            <a:r>
              <a:rPr b="1" i="1" lang="es-ES" sz="2300" u="none" cap="none" strike="noStrike">
                <a:solidFill>
                  <a:srgbClr val="818990"/>
                </a:solidFill>
                <a:latin typeface="Calibri"/>
                <a:ea typeface="Calibri"/>
                <a:cs typeface="Calibri"/>
                <a:sym typeface="Calibri"/>
              </a:rPr>
              <a:t>plazo de entrega más corto</a:t>
            </a:r>
            <a:r>
              <a:rPr b="0" i="0" lang="es-ES" sz="2300" u="none" cap="none" strike="noStrike">
                <a:solidFill>
                  <a:srgbClr val="818990"/>
                </a:solidFill>
                <a:latin typeface="Calibri"/>
                <a:ea typeface="Calibri"/>
                <a:cs typeface="Calibri"/>
                <a:sym typeface="Calibri"/>
              </a:rPr>
              <a:t>.</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t/>
            </a:r>
            <a:endParaRPr b="0" i="0" sz="2300" u="none" cap="none" strike="noStrike">
              <a:solidFill>
                <a:srgbClr val="818990"/>
              </a:solidFill>
              <a:latin typeface="Calibri"/>
              <a:ea typeface="Calibri"/>
              <a:cs typeface="Calibri"/>
              <a:sym typeface="Calibri"/>
            </a:endParaRPr>
          </a:p>
          <a:p>
            <a:pPr indent="0" lvl="0" marL="0" marR="0" rtl="0" algn="just">
              <a:lnSpc>
                <a:spcPct val="90000"/>
              </a:lnSpc>
              <a:spcBef>
                <a:spcPts val="1001"/>
              </a:spcBef>
              <a:spcAft>
                <a:spcPts val="0"/>
              </a:spcAft>
              <a:buClr>
                <a:srgbClr val="000000"/>
              </a:buClr>
              <a:buSzPts val="1800"/>
              <a:buFont typeface="Arial"/>
              <a:buNone/>
            </a:pPr>
            <a:r>
              <a:rPr b="0" i="0" lang="es-ES" sz="2300" u="none" cap="none" strike="noStrike">
                <a:solidFill>
                  <a:srgbClr val="818990"/>
                </a:solidFill>
                <a:latin typeface="Calibri"/>
                <a:ea typeface="Calibri"/>
                <a:cs typeface="Calibri"/>
                <a:sym typeface="Calibri"/>
              </a:rPr>
              <a:t>El desarrollo de software utilizando los principios de DevOps ayuda a entregar software basado en principios de manufactura LEAN</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4" name="Google Shape;404;p9"/>
          <p:cNvSpPr txBox="1"/>
          <p:nvPr/>
        </p:nvSpPr>
        <p:spPr>
          <a:xfrm>
            <a:off x="1763640" y="212760"/>
            <a:ext cx="4287960" cy="81252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pic>
        <p:nvPicPr>
          <p:cNvPr id="405" name="Google Shape;405;p9"/>
          <p:cNvPicPr preferRelativeResize="0"/>
          <p:nvPr/>
        </p:nvPicPr>
        <p:blipFill rotWithShape="1">
          <a:blip r:embed="rId3">
            <a:alphaModFix/>
          </a:blip>
          <a:srcRect b="0" l="0" r="0" t="0"/>
          <a:stretch/>
        </p:blipFill>
        <p:spPr>
          <a:xfrm>
            <a:off x="2236938" y="5061800"/>
            <a:ext cx="4669774" cy="1527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e3d14e774f_0_4"/>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374650" lvl="0" marL="457200" marR="0" rtl="0" algn="just">
              <a:lnSpc>
                <a:spcPct val="90000"/>
              </a:lnSpc>
              <a:spcBef>
                <a:spcPts val="1001"/>
              </a:spcBef>
              <a:spcAft>
                <a:spcPts val="0"/>
              </a:spcAft>
              <a:buClr>
                <a:srgbClr val="818990"/>
              </a:buClr>
              <a:buSzPts val="2300"/>
              <a:buFont typeface="Calibri"/>
              <a:buChar char="●"/>
            </a:pPr>
            <a:r>
              <a:rPr b="0" i="0" lang="es-ES" sz="2300" u="none" cap="none" strike="noStrike">
                <a:solidFill>
                  <a:srgbClr val="818990"/>
                </a:solidFill>
                <a:latin typeface="Calibri"/>
                <a:ea typeface="Calibri"/>
                <a:cs typeface="Calibri"/>
                <a:sym typeface="Calibri"/>
              </a:rPr>
              <a:t>Desperdicio de mapas de inventario a trabajo parcialmente realizado (o trabajo en proceso) </a:t>
            </a:r>
            <a:endParaRPr b="0" i="0" sz="2300" u="none" cap="none" strike="noStrike">
              <a:solidFill>
                <a:srgbClr val="818990"/>
              </a:solidFill>
              <a:latin typeface="Calibri"/>
              <a:ea typeface="Calibri"/>
              <a:cs typeface="Calibri"/>
              <a:sym typeface="Calibri"/>
            </a:endParaRPr>
          </a:p>
          <a:p>
            <a:pPr indent="-374650" lvl="0" marL="457200" marR="0" rtl="0" algn="just">
              <a:lnSpc>
                <a:spcPct val="90000"/>
              </a:lnSpc>
              <a:spcBef>
                <a:spcPts val="0"/>
              </a:spcBef>
              <a:spcAft>
                <a:spcPts val="0"/>
              </a:spcAft>
              <a:buClr>
                <a:srgbClr val="818990"/>
              </a:buClr>
              <a:buSzPts val="2300"/>
              <a:buFont typeface="Calibri"/>
              <a:buChar char="●"/>
            </a:pPr>
            <a:r>
              <a:rPr b="0" i="0" lang="es-ES" sz="2300" u="none" cap="none" strike="noStrike">
                <a:solidFill>
                  <a:srgbClr val="818990"/>
                </a:solidFill>
                <a:latin typeface="Calibri"/>
                <a:ea typeface="Calibri"/>
                <a:cs typeface="Calibri"/>
                <a:sym typeface="Calibri"/>
              </a:rPr>
              <a:t>Desperdicio de mapas de sobreproducción a entregar características innecesarias </a:t>
            </a:r>
            <a:endParaRPr b="0" i="0" sz="2300" u="none" cap="none" strike="noStrike">
              <a:solidFill>
                <a:srgbClr val="818990"/>
              </a:solidFill>
              <a:latin typeface="Calibri"/>
              <a:ea typeface="Calibri"/>
              <a:cs typeface="Calibri"/>
              <a:sym typeface="Calibri"/>
            </a:endParaRPr>
          </a:p>
          <a:p>
            <a:pPr indent="-374650" lvl="0" marL="457200" marR="0" rtl="0" algn="just">
              <a:lnSpc>
                <a:spcPct val="90000"/>
              </a:lnSpc>
              <a:spcBef>
                <a:spcPts val="0"/>
              </a:spcBef>
              <a:spcAft>
                <a:spcPts val="0"/>
              </a:spcAft>
              <a:buClr>
                <a:srgbClr val="818990"/>
              </a:buClr>
              <a:buSzPts val="2300"/>
              <a:buFont typeface="Calibri"/>
              <a:buChar char="●"/>
            </a:pPr>
            <a:r>
              <a:rPr b="0" i="0" lang="es-ES" sz="2300" u="none" cap="none" strike="noStrike">
                <a:solidFill>
                  <a:srgbClr val="818990"/>
                </a:solidFill>
                <a:latin typeface="Calibri"/>
                <a:ea typeface="Calibri"/>
                <a:cs typeface="Calibri"/>
                <a:sym typeface="Calibri"/>
              </a:rPr>
              <a:t>Desperdicio de mapas de procesamiento adicionales a reaprendizaje </a:t>
            </a:r>
            <a:endParaRPr b="0" i="0" sz="2300" u="none" cap="none" strike="noStrike">
              <a:solidFill>
                <a:srgbClr val="818990"/>
              </a:solidFill>
              <a:latin typeface="Calibri"/>
              <a:ea typeface="Calibri"/>
              <a:cs typeface="Calibri"/>
              <a:sym typeface="Calibri"/>
            </a:endParaRPr>
          </a:p>
          <a:p>
            <a:pPr indent="-374650" lvl="0" marL="457200" marR="0" rtl="0" algn="just">
              <a:lnSpc>
                <a:spcPct val="90000"/>
              </a:lnSpc>
              <a:spcBef>
                <a:spcPts val="0"/>
              </a:spcBef>
              <a:spcAft>
                <a:spcPts val="0"/>
              </a:spcAft>
              <a:buClr>
                <a:srgbClr val="818990"/>
              </a:buClr>
              <a:buSzPts val="2300"/>
              <a:buFont typeface="Calibri"/>
              <a:buChar char="●"/>
            </a:pPr>
            <a:r>
              <a:rPr b="0" i="0" lang="es-ES" sz="2300" u="none" cap="none" strike="noStrike">
                <a:solidFill>
                  <a:srgbClr val="818990"/>
                </a:solidFill>
                <a:latin typeface="Calibri"/>
                <a:ea typeface="Calibri"/>
                <a:cs typeface="Calibri"/>
                <a:sym typeface="Calibri"/>
              </a:rPr>
              <a:t>Desperdicio de mapas de transporte a traspasos </a:t>
            </a:r>
            <a:endParaRPr b="0" i="0" sz="2300" u="none" cap="none" strike="noStrike">
              <a:solidFill>
                <a:srgbClr val="818990"/>
              </a:solidFill>
              <a:latin typeface="Calibri"/>
              <a:ea typeface="Calibri"/>
              <a:cs typeface="Calibri"/>
              <a:sym typeface="Calibri"/>
            </a:endParaRPr>
          </a:p>
          <a:p>
            <a:pPr indent="-374650" lvl="0" marL="457200" marR="0" rtl="0" algn="just">
              <a:lnSpc>
                <a:spcPct val="90000"/>
              </a:lnSpc>
              <a:spcBef>
                <a:spcPts val="0"/>
              </a:spcBef>
              <a:spcAft>
                <a:spcPts val="0"/>
              </a:spcAft>
              <a:buClr>
                <a:srgbClr val="818990"/>
              </a:buClr>
              <a:buSzPts val="2300"/>
              <a:buFont typeface="Calibri"/>
              <a:buChar char="●"/>
            </a:pPr>
            <a:r>
              <a:rPr b="0" i="0" lang="es-ES" sz="2300" u="none" cap="none" strike="noStrike">
                <a:solidFill>
                  <a:srgbClr val="818990"/>
                </a:solidFill>
                <a:latin typeface="Calibri"/>
                <a:ea typeface="Calibri"/>
                <a:cs typeface="Calibri"/>
                <a:sym typeface="Calibri"/>
              </a:rPr>
              <a:t>Desperdicio de mapas de espera a retrasos </a:t>
            </a:r>
            <a:endParaRPr b="0" i="0" sz="2300" u="none" cap="none" strike="noStrike">
              <a:solidFill>
                <a:srgbClr val="818990"/>
              </a:solidFill>
              <a:latin typeface="Calibri"/>
              <a:ea typeface="Calibri"/>
              <a:cs typeface="Calibri"/>
              <a:sym typeface="Calibri"/>
            </a:endParaRPr>
          </a:p>
          <a:p>
            <a:pPr indent="-374650" lvl="0" marL="457200" marR="0" rtl="0" algn="just">
              <a:lnSpc>
                <a:spcPct val="90000"/>
              </a:lnSpc>
              <a:spcBef>
                <a:spcPts val="0"/>
              </a:spcBef>
              <a:spcAft>
                <a:spcPts val="0"/>
              </a:spcAft>
              <a:buClr>
                <a:srgbClr val="818990"/>
              </a:buClr>
              <a:buSzPts val="2300"/>
              <a:buFont typeface="Calibri"/>
              <a:buChar char="●"/>
            </a:pPr>
            <a:r>
              <a:rPr b="0" i="0" lang="es-ES" sz="2300" u="none" cap="none" strike="noStrike">
                <a:solidFill>
                  <a:srgbClr val="818990"/>
                </a:solidFill>
                <a:latin typeface="Calibri"/>
                <a:ea typeface="Calibri"/>
                <a:cs typeface="Calibri"/>
                <a:sym typeface="Calibri"/>
              </a:rPr>
              <a:t>Desperdicio de mapas de movimiento a cambios de contexto </a:t>
            </a:r>
            <a:endParaRPr b="0" i="0" sz="2300" u="none" cap="none" strike="noStrike">
              <a:solidFill>
                <a:srgbClr val="818990"/>
              </a:solidFill>
              <a:latin typeface="Calibri"/>
              <a:ea typeface="Calibri"/>
              <a:cs typeface="Calibri"/>
              <a:sym typeface="Calibri"/>
            </a:endParaRPr>
          </a:p>
          <a:p>
            <a:pPr indent="-374650" lvl="0" marL="457200" marR="0" rtl="0" algn="just">
              <a:lnSpc>
                <a:spcPct val="90000"/>
              </a:lnSpc>
              <a:spcBef>
                <a:spcPts val="0"/>
              </a:spcBef>
              <a:spcAft>
                <a:spcPts val="0"/>
              </a:spcAft>
              <a:buClr>
                <a:srgbClr val="818990"/>
              </a:buClr>
              <a:buSzPts val="2300"/>
              <a:buFont typeface="Calibri"/>
              <a:buChar char="●"/>
            </a:pPr>
            <a:r>
              <a:rPr b="0" i="0" lang="es-ES" sz="2300" u="none" cap="none" strike="noStrike">
                <a:solidFill>
                  <a:srgbClr val="818990"/>
                </a:solidFill>
                <a:latin typeface="Calibri"/>
                <a:ea typeface="Calibri"/>
                <a:cs typeface="Calibri"/>
                <a:sym typeface="Calibri"/>
              </a:rPr>
              <a:t>Desperdicio de defectos a defectos</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1" name="Google Shape;411;ge3d14e774f_0_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e3d14e774f_0_11"/>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457200" marR="0" rtl="0" algn="just">
              <a:lnSpc>
                <a:spcPct val="90000"/>
              </a:lnSpc>
              <a:spcBef>
                <a:spcPts val="1001"/>
              </a:spcBef>
              <a:spcAft>
                <a:spcPts val="0"/>
              </a:spcAft>
              <a:buClr>
                <a:srgbClr val="000000"/>
              </a:buClr>
              <a:buSzPts val="2300"/>
              <a:buFont typeface="Arial"/>
              <a:buNone/>
            </a:pPr>
            <a:r>
              <a:rPr b="0" i="0" lang="es-ES" sz="2300" u="none" cap="none" strike="noStrike">
                <a:solidFill>
                  <a:srgbClr val="818990"/>
                </a:solidFill>
                <a:latin typeface="Calibri"/>
                <a:ea typeface="Calibri"/>
                <a:cs typeface="Calibri"/>
                <a:sym typeface="Calibri"/>
              </a:rPr>
              <a:t>1.- Trabajo parcialmente realizado minimizado por la introducción de límites de trabajo en proceso (kanban)</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7" name="Google Shape;417;ge3d14e774f_0_11"/>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pic>
        <p:nvPicPr>
          <p:cNvPr id="418" name="Google Shape;418;ge3d14e774f_0_11"/>
          <p:cNvPicPr preferRelativeResize="0"/>
          <p:nvPr/>
        </p:nvPicPr>
        <p:blipFill rotWithShape="1">
          <a:blip r:embed="rId3">
            <a:alphaModFix/>
          </a:blip>
          <a:srcRect b="0" l="0" r="0" t="0"/>
          <a:stretch/>
        </p:blipFill>
        <p:spPr>
          <a:xfrm>
            <a:off x="1855575" y="3227350"/>
            <a:ext cx="5432509" cy="3275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e3d14e774f_0_18"/>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457200" marR="0" rtl="0" algn="just">
              <a:lnSpc>
                <a:spcPct val="90000"/>
              </a:lnSpc>
              <a:spcBef>
                <a:spcPts val="1001"/>
              </a:spcBef>
              <a:spcAft>
                <a:spcPts val="0"/>
              </a:spcAft>
              <a:buClr>
                <a:srgbClr val="000000"/>
              </a:buClr>
              <a:buSzPts val="2300"/>
              <a:buFont typeface="Arial"/>
              <a:buNone/>
            </a:pPr>
            <a:r>
              <a:rPr b="0" i="0" lang="es-ES" sz="2300" u="none" cap="none" strike="noStrike">
                <a:solidFill>
                  <a:srgbClr val="818990"/>
                </a:solidFill>
                <a:latin typeface="Calibri"/>
                <a:ea typeface="Calibri"/>
                <a:cs typeface="Calibri"/>
                <a:sym typeface="Calibri"/>
              </a:rPr>
              <a:t>2.- Evite las funciones adicionales validando las suposiciones sobre el valor y las necesidades en ciclos cortos de retroalimentación (Lean Startup).</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4" name="Google Shape;424;ge3d14e774f_0_18"/>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pic>
        <p:nvPicPr>
          <p:cNvPr id="425" name="Google Shape;425;ge3d14e774f_0_18"/>
          <p:cNvPicPr preferRelativeResize="0"/>
          <p:nvPr/>
        </p:nvPicPr>
        <p:blipFill rotWithShape="1">
          <a:blip r:embed="rId3">
            <a:alphaModFix/>
          </a:blip>
          <a:srcRect b="0" l="0" r="0" t="0"/>
          <a:stretch/>
        </p:blipFill>
        <p:spPr>
          <a:xfrm>
            <a:off x="2821825" y="3343250"/>
            <a:ext cx="3499999" cy="3275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e3d14e774f_0_26"/>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457200" marR="0" rtl="0" algn="just">
              <a:lnSpc>
                <a:spcPct val="90000"/>
              </a:lnSpc>
              <a:spcBef>
                <a:spcPts val="1001"/>
              </a:spcBef>
              <a:spcAft>
                <a:spcPts val="0"/>
              </a:spcAft>
              <a:buClr>
                <a:srgbClr val="000000"/>
              </a:buClr>
              <a:buSzPts val="2300"/>
              <a:buFont typeface="Arial"/>
              <a:buNone/>
            </a:pPr>
            <a:r>
              <a:rPr b="0" i="0" lang="es-ES" sz="2300" u="none" cap="none" strike="noStrike">
                <a:solidFill>
                  <a:srgbClr val="818990"/>
                </a:solidFill>
                <a:latin typeface="Calibri"/>
                <a:ea typeface="Calibri"/>
                <a:cs typeface="Calibri"/>
                <a:sym typeface="Calibri"/>
              </a:rPr>
              <a:t>3.- El reaprendizaje es el aprendizaje repetido de lo mismo, ya sea por varias personas o por una sola persona, y puede abordarse mediante prácticas saludables de colaboración y comunicación, como el aprendizaje compartido</a:t>
            </a:r>
            <a:r>
              <a:rPr b="0" i="0" lang="es-ES" sz="1350" u="none" cap="none" strike="noStrike">
                <a:solidFill>
                  <a:srgbClr val="252525"/>
                </a:solidFill>
                <a:latin typeface="Roboto"/>
                <a:ea typeface="Roboto"/>
                <a:cs typeface="Roboto"/>
                <a:sym typeface="Roboto"/>
              </a:rPr>
              <a:t>.</a:t>
            </a:r>
            <a:r>
              <a:rPr b="0" i="0" lang="es-ES" sz="2300" u="none" cap="none" strike="noStrike">
                <a:solidFill>
                  <a:srgbClr val="818990"/>
                </a:solidFill>
                <a:latin typeface="Calibri"/>
                <a:ea typeface="Calibri"/>
                <a:cs typeface="Calibri"/>
                <a:sym typeface="Calibri"/>
              </a:rPr>
              <a:t> (Mob-Programming).</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1" name="Google Shape;431;ge3d14e774f_0_26"/>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pic>
        <p:nvPicPr>
          <p:cNvPr id="432" name="Google Shape;432;ge3d14e774f_0_26"/>
          <p:cNvPicPr preferRelativeResize="0"/>
          <p:nvPr/>
        </p:nvPicPr>
        <p:blipFill rotWithShape="1">
          <a:blip r:embed="rId3">
            <a:alphaModFix/>
          </a:blip>
          <a:srcRect b="0" l="0" r="0" t="0"/>
          <a:stretch/>
        </p:blipFill>
        <p:spPr>
          <a:xfrm>
            <a:off x="2712075" y="3851125"/>
            <a:ext cx="3713525" cy="28757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e3d14e774f_0_34"/>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457200" marR="0" rtl="0" algn="just">
              <a:lnSpc>
                <a:spcPct val="90000"/>
              </a:lnSpc>
              <a:spcBef>
                <a:spcPts val="1001"/>
              </a:spcBef>
              <a:spcAft>
                <a:spcPts val="0"/>
              </a:spcAft>
              <a:buClr>
                <a:srgbClr val="000000"/>
              </a:buClr>
              <a:buSzPts val="2300"/>
              <a:buFont typeface="Arial"/>
              <a:buNone/>
            </a:pPr>
            <a:r>
              <a:rPr b="0" i="0" lang="es-ES" sz="2300" u="none" cap="none" strike="noStrike">
                <a:solidFill>
                  <a:srgbClr val="818990"/>
                </a:solidFill>
                <a:latin typeface="Calibri"/>
                <a:ea typeface="Calibri"/>
                <a:cs typeface="Calibri"/>
                <a:sym typeface="Calibri"/>
              </a:rPr>
              <a:t>4.- Las transferencias se pueden minimizar, incluso eliminar, mediante la creación de equipos autónomos y multifuncionales que tengan todo lo que necesitan para pasar del concepto al efectivo. (UX research).</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8" name="Google Shape;438;ge3d14e774f_0_3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pic>
        <p:nvPicPr>
          <p:cNvPr id="439" name="Google Shape;439;ge3d14e774f_0_34"/>
          <p:cNvPicPr preferRelativeResize="0"/>
          <p:nvPr/>
        </p:nvPicPr>
        <p:blipFill rotWithShape="1">
          <a:blip r:embed="rId3">
            <a:alphaModFix/>
          </a:blip>
          <a:srcRect b="0" l="0" r="0" t="0"/>
          <a:stretch/>
        </p:blipFill>
        <p:spPr>
          <a:xfrm>
            <a:off x="2055250" y="3889750"/>
            <a:ext cx="5275451" cy="2709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e3d14e774f_0_42"/>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457200" marR="0" rtl="0" algn="just">
              <a:lnSpc>
                <a:spcPct val="90000"/>
              </a:lnSpc>
              <a:spcBef>
                <a:spcPts val="1001"/>
              </a:spcBef>
              <a:spcAft>
                <a:spcPts val="0"/>
              </a:spcAft>
              <a:buClr>
                <a:srgbClr val="000000"/>
              </a:buClr>
              <a:buSzPts val="2300"/>
              <a:buFont typeface="Arial"/>
              <a:buNone/>
            </a:pPr>
            <a:r>
              <a:rPr b="0" i="0" lang="es-ES" sz="2300" u="none" cap="none" strike="noStrike">
                <a:solidFill>
                  <a:srgbClr val="818990"/>
                </a:solidFill>
                <a:latin typeface="Calibri"/>
                <a:ea typeface="Calibri"/>
                <a:cs typeface="Calibri"/>
                <a:sym typeface="Calibri"/>
              </a:rPr>
              <a:t>5.- Los retrasos a menudo se abordan eliminando transferencias (arriba) y reduciendo las dependencias entre equipos al reunir el trabajo relacionado (portfolio kanban).</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5" name="Google Shape;445;ge3d14e774f_0_4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pic>
        <p:nvPicPr>
          <p:cNvPr id="446" name="Google Shape;446;ge3d14e774f_0_42"/>
          <p:cNvPicPr preferRelativeResize="0"/>
          <p:nvPr/>
        </p:nvPicPr>
        <p:blipFill rotWithShape="1">
          <a:blip r:embed="rId3">
            <a:alphaModFix/>
          </a:blip>
          <a:srcRect b="0" l="0" r="0" t="0"/>
          <a:stretch/>
        </p:blipFill>
        <p:spPr>
          <a:xfrm>
            <a:off x="2055250" y="3578825"/>
            <a:ext cx="5626026" cy="2933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e3d14e774f_0_50"/>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457200" marR="0" rtl="0" algn="just">
              <a:lnSpc>
                <a:spcPct val="90000"/>
              </a:lnSpc>
              <a:spcBef>
                <a:spcPts val="1001"/>
              </a:spcBef>
              <a:spcAft>
                <a:spcPts val="0"/>
              </a:spcAft>
              <a:buClr>
                <a:srgbClr val="000000"/>
              </a:buClr>
              <a:buSzPts val="2300"/>
              <a:buFont typeface="Arial"/>
              <a:buNone/>
            </a:pPr>
            <a:r>
              <a:rPr b="0" i="0" lang="es-ES" sz="2300" u="none" cap="none" strike="noStrike">
                <a:solidFill>
                  <a:srgbClr val="818990"/>
                </a:solidFill>
                <a:latin typeface="Calibri"/>
                <a:ea typeface="Calibri"/>
                <a:cs typeface="Calibri"/>
                <a:sym typeface="Calibri"/>
              </a:rPr>
              <a:t>6.- De manera similar al trabajo parcialmente realizado, el cambio de contexto se puede abordar limitando el trabajo en proceso. El cambio de contexto debido a un trabajo no planificado (por ejemplo, incidentes) se puede abordar aprendiendo (y abordando) las causas fundamentales de los incidentes (revisiones posteriores al incidente). El cambio de contexto también puede ser un síntoma de una mala priorización y esto se puede abordar mediante marcos de priorización (costo del retardo).</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2" name="Google Shape;452;ge3d14e774f_0_5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e3d14e774f_0_56"/>
          <p:cNvSpPr txBox="1"/>
          <p:nvPr/>
        </p:nvSpPr>
        <p:spPr>
          <a:xfrm>
            <a:off x="294125" y="1218600"/>
            <a:ext cx="8555400" cy="205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1"/>
              </a:spcBef>
              <a:spcAft>
                <a:spcPts val="0"/>
              </a:spcAft>
              <a:buClr>
                <a:schemeClr val="dk1"/>
              </a:buClr>
              <a:buSzPts val="1800"/>
              <a:buFont typeface="Arial"/>
              <a:buNone/>
            </a:pPr>
            <a:r>
              <a:rPr b="1" i="0" lang="es-ES" sz="2300" u="none" cap="none" strike="noStrike">
                <a:solidFill>
                  <a:srgbClr val="818990"/>
                </a:solidFill>
                <a:latin typeface="Calibri"/>
                <a:ea typeface="Calibri"/>
                <a:cs typeface="Calibri"/>
                <a:sym typeface="Calibri"/>
              </a:rPr>
              <a:t>7 desperdicios que DevOps elimina y ayuda al desarrollo de software a ser eficiente</a:t>
            </a:r>
            <a:endParaRPr b="1"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chemeClr val="dk1"/>
              </a:buClr>
              <a:buSzPts val="1800"/>
              <a:buFont typeface="Arial"/>
              <a:buNone/>
            </a:pPr>
            <a:r>
              <a:t/>
            </a:r>
            <a:endParaRPr b="1" i="0" sz="2300" u="none" cap="none" strike="noStrike">
              <a:solidFill>
                <a:srgbClr val="818990"/>
              </a:solidFill>
              <a:latin typeface="Calibri"/>
              <a:ea typeface="Calibri"/>
              <a:cs typeface="Calibri"/>
              <a:sym typeface="Calibri"/>
            </a:endParaRPr>
          </a:p>
          <a:p>
            <a:pPr indent="0" lvl="0" marL="457200" marR="0" rtl="0" algn="just">
              <a:lnSpc>
                <a:spcPct val="90000"/>
              </a:lnSpc>
              <a:spcBef>
                <a:spcPts val="1001"/>
              </a:spcBef>
              <a:spcAft>
                <a:spcPts val="0"/>
              </a:spcAft>
              <a:buClr>
                <a:srgbClr val="000000"/>
              </a:buClr>
              <a:buSzPts val="2300"/>
              <a:buFont typeface="Arial"/>
              <a:buNone/>
            </a:pPr>
            <a:r>
              <a:rPr b="0" i="0" lang="es-ES" sz="2300" u="none" cap="none" strike="noStrike">
                <a:solidFill>
                  <a:srgbClr val="818990"/>
                </a:solidFill>
                <a:latin typeface="Calibri"/>
                <a:ea typeface="Calibri"/>
                <a:cs typeface="Calibri"/>
                <a:sym typeface="Calibri"/>
              </a:rPr>
              <a:t>7.- La reducción de defectos se puede abordar mediante la "calidad de construcción en", que se refiere a formas de trabajo que se centran en la calidad desde el principio y no al final como una puerta.(behaviour/test-driven development).</a:t>
            </a:r>
            <a:endParaRPr b="0" i="0" sz="23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rPr b="0" i="0" lang="es-ES" sz="1800" u="none" cap="none" strike="noStrike">
                <a:solidFill>
                  <a:srgbClr val="81899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8" name="Google Shape;458;ge3d14e774f_0_56"/>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7 principios DevOps</a:t>
            </a:r>
            <a:endParaRPr b="0" i="0" sz="3000" u="none" cap="none" strike="noStrike">
              <a:solidFill>
                <a:srgbClr val="000000"/>
              </a:solidFill>
              <a:latin typeface="Arial"/>
              <a:ea typeface="Arial"/>
              <a:cs typeface="Arial"/>
              <a:sym typeface="Arial"/>
            </a:endParaRPr>
          </a:p>
        </p:txBody>
      </p:sp>
      <p:pic>
        <p:nvPicPr>
          <p:cNvPr id="459" name="Google Shape;459;ge3d14e774f_0_56"/>
          <p:cNvPicPr preferRelativeResize="0"/>
          <p:nvPr/>
        </p:nvPicPr>
        <p:blipFill rotWithShape="1">
          <a:blip r:embed="rId3">
            <a:alphaModFix/>
          </a:blip>
          <a:srcRect b="0" l="0" r="0" t="0"/>
          <a:stretch/>
        </p:blipFill>
        <p:spPr>
          <a:xfrm>
            <a:off x="3170225" y="3851100"/>
            <a:ext cx="2803201" cy="26226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1349b23170d_0_303"/>
          <p:cNvSpPr txBox="1"/>
          <p:nvPr>
            <p:ph type="title"/>
          </p:nvPr>
        </p:nvSpPr>
        <p:spPr>
          <a:xfrm>
            <a:off x="296484" y="4537114"/>
            <a:ext cx="2751000" cy="2619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s-ES" sz="3700">
                <a:latin typeface="Calibri"/>
                <a:ea typeface="Calibri"/>
                <a:cs typeface="Calibri"/>
                <a:sym typeface="Calibri"/>
              </a:rPr>
              <a:t>Herramientas para un pipeline de desarrollo</a:t>
            </a:r>
            <a:endParaRPr sz="1600"/>
          </a:p>
          <a:p>
            <a:pPr indent="0" lvl="0" marL="0" rtl="0" algn="l">
              <a:spcBef>
                <a:spcPts val="0"/>
              </a:spcBef>
              <a:spcAft>
                <a:spcPts val="0"/>
              </a:spcAft>
              <a:buNone/>
            </a:pPr>
            <a:r>
              <a:t/>
            </a:r>
            <a:endParaRPr sz="3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4"/>
          <p:cNvSpPr txBox="1"/>
          <p:nvPr/>
        </p:nvSpPr>
        <p:spPr>
          <a:xfrm>
            <a:off x="1763640" y="212760"/>
            <a:ext cx="4287960" cy="81252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470" name="Google Shape;470;p14"/>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Que es un pipeline DevOps?</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Una canalización de DevOps es un conjunto de prácticas que implementan los equipos de desarrollo (Dev) y operaciones (Ops) para crear, probar e implementar software de forma más rápida y sencilla. Uno de los propósitos principales de una canalización es mantener el proceso de desarrollo de software </a:t>
            </a:r>
            <a:r>
              <a:rPr b="1" i="1" lang="es-ES" sz="2000" u="none" cap="none" strike="noStrike">
                <a:solidFill>
                  <a:srgbClr val="818990"/>
                </a:solidFill>
                <a:latin typeface="Calibri"/>
                <a:ea typeface="Calibri"/>
                <a:cs typeface="Calibri"/>
                <a:sym typeface="Calibri"/>
              </a:rPr>
              <a:t>organizado y enfocado</a:t>
            </a:r>
            <a:r>
              <a:rPr b="0" i="0" lang="es-ES" sz="1800" u="none" cap="none" strike="noStrike">
                <a:solidFill>
                  <a:srgbClr val="818990"/>
                </a:solidFill>
                <a:latin typeface="Calibri"/>
                <a:ea typeface="Calibri"/>
                <a:cs typeface="Calibri"/>
                <a:sym typeface="Calibri"/>
              </a:rPr>
              <a:t>.</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71" name="Google Shape;471;p14"/>
          <p:cNvPicPr preferRelativeResize="0"/>
          <p:nvPr/>
        </p:nvPicPr>
        <p:blipFill rotWithShape="1">
          <a:blip r:embed="rId3">
            <a:alphaModFix/>
          </a:blip>
          <a:srcRect b="0" l="0" r="0" t="0"/>
          <a:stretch/>
        </p:blipFill>
        <p:spPr>
          <a:xfrm>
            <a:off x="1549875" y="3261903"/>
            <a:ext cx="6044250" cy="28175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e3d14e774f_0_76"/>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477" name="Google Shape;477;ge3d14e774f_0_76"/>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Componentes de un pipeline DevOps</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Para garantizar que el código pase de una etapa a la siguiente sin problemas, es necesario implementar varias estrategias y prácticas de DevOps. Los más importantes entre ellos son la integración continua y la entrega continua (CI / CD).</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78" name="Google Shape;478;ge3d14e774f_0_76"/>
          <p:cNvPicPr preferRelativeResize="0"/>
          <p:nvPr/>
        </p:nvPicPr>
        <p:blipFill rotWithShape="1">
          <a:blip r:embed="rId3">
            <a:alphaModFix/>
          </a:blip>
          <a:srcRect b="0" l="0" r="0" t="0"/>
          <a:stretch/>
        </p:blipFill>
        <p:spPr>
          <a:xfrm>
            <a:off x="963175" y="3039699"/>
            <a:ext cx="7178501" cy="3255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e3d14e774f_0_8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484" name="Google Shape;484;ge3d14e774f_0_84"/>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Integración Continua (CI)</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La integración continua (CI) es un método para integrar pequeños fragmentos de código de varios desarrolladores en un repositorio de código compartido con la mayor frecuencia posible.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Con una estrategia de CI, puede probar automáticamente el código en busca de errores sin tener que esperar a que otros miembros del equipo contribuyan con su código. Uno de los beneficios clave de CI es que ayuda a los equipos grandes a prevenir lo que se conoce como el infierno de la integración.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En los primeros días del desarrollo de software, los desarrolladores tuvieron que esperar mucho tiempo para enviar su código. Ese retraso aumentó significativamente el riesgo de conflictos de integración de código y la implementación de código incorrecto.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ge3d14e774f_0_91"/>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490" name="Google Shape;490;ge3d14e774f_0_91"/>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Integración Continua (CI)</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A diferencia de la antigua forma de hacer las cosas, CI anima a los desarrolladores a enviar su código a diario. Como resultado, pueden detectar errores más rápido y, en última instancia, dedicar menos tiempo a corregirlos. En el corazón de CI hay un sistema de control de fuente central. Su objetivo principal es ayudar a los equipos a organizar su código, realizar un seguimiento de los cambios y habilitar las pruebas automatizadas.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En una configuración típica de CI, siempre que un desarrollador inserta un nuevo código en el repositorio de código compartido, </a:t>
            </a:r>
            <a:r>
              <a:rPr b="1" i="1" lang="es-ES" sz="2100" u="none" cap="none" strike="noStrike">
                <a:solidFill>
                  <a:srgbClr val="818990"/>
                </a:solidFill>
                <a:latin typeface="Calibri"/>
                <a:ea typeface="Calibri"/>
                <a:cs typeface="Calibri"/>
                <a:sym typeface="Calibri"/>
              </a:rPr>
              <a:t>la automatización se activa para compilar el código nuevo y existente en una compilación</a:t>
            </a:r>
            <a:r>
              <a:rPr b="0" i="0" lang="es-ES" sz="1800" u="none" cap="none" strike="noStrike">
                <a:solidFill>
                  <a:srgbClr val="818990"/>
                </a:solidFill>
                <a:latin typeface="Calibri"/>
                <a:ea typeface="Calibri"/>
                <a:cs typeface="Calibri"/>
                <a:sym typeface="Calibri"/>
              </a:rPr>
              <a:t>.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Si el proceso de compilación falla, los desarrolladores reciben una alerta que les informa qué líneas de código necesita ser reelaboradas.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Asegurarse de que solo el código de calidad pase por la tubería es de suma importancia. Por lo tanto, </a:t>
            </a:r>
            <a:r>
              <a:rPr b="1" i="1" lang="es-ES" sz="2100" u="none" cap="none" strike="noStrike">
                <a:solidFill>
                  <a:srgbClr val="818990"/>
                </a:solidFill>
                <a:latin typeface="Calibri"/>
                <a:ea typeface="Calibri"/>
                <a:cs typeface="Calibri"/>
                <a:sym typeface="Calibri"/>
              </a:rPr>
              <a:t>todo el proceso se repite cada vez que alguien envía un nuevo código al repositorio compartido</a:t>
            </a:r>
            <a:r>
              <a:rPr b="0" i="0" lang="es-ES" sz="1800" u="none" cap="none" strike="noStrike">
                <a:solidFill>
                  <a:srgbClr val="818990"/>
                </a:solidFill>
                <a:latin typeface="Calibri"/>
                <a:ea typeface="Calibri"/>
                <a:cs typeface="Calibri"/>
                <a:sym typeface="Calibri"/>
              </a:rPr>
              <a:t>.</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e3d14e774f_0_97"/>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496" name="Google Shape;496;ge3d14e774f_0_97"/>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Entrega Continua (CD)</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La entrega continua (CD) es una extensión de IC. Implica acelerar el proceso de lanzamiento al alentar a los desarrolladores a lanzar el código a producción en partes incrementales.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Habiendo pasado la etapa de CI, la compilación del código se mueve a un área de espera. En este punto de la tubería, depende de usted decidir si llevar la compilación a producción o mantenerla para una evaluación adicional.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En un escenario típico de DevOps, los desarrolladores primero introduce su código en un entorno de producción para evaluar cómo se comporta.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Sin embargo, la nueva compilación también se puede poner en marcha de inmediato y los desarrolladores pueden implementar en cualquier momento con solo presionar un botón.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e3d14e774f_0_103"/>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02" name="Google Shape;502;ge3d14e774f_0_103"/>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Entrega Continua (CD)</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Para aprovechar al máximo la entrega continua, implemente actualizaciones de código con la mayor frecuencia posible. La frecuencia de publicación depende del flujo de trabajo, pero suele ser diaria, semanal o mensual.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La publicación de </a:t>
            </a:r>
            <a:r>
              <a:rPr b="1" i="1" lang="es-ES" sz="2100" u="none" cap="none" strike="noStrike">
                <a:solidFill>
                  <a:srgbClr val="818990"/>
                </a:solidFill>
                <a:latin typeface="Calibri"/>
                <a:ea typeface="Calibri"/>
                <a:cs typeface="Calibri"/>
                <a:sym typeface="Calibri"/>
              </a:rPr>
              <a:t>código en fragmentos más pequeños es mucho más fácil de solucionar en comparación con la publicación de todos los cambios a la vez</a:t>
            </a:r>
            <a:r>
              <a:rPr b="0" i="0" lang="es-ES" sz="1800" u="none" cap="none" strike="noStrike">
                <a:solidFill>
                  <a:srgbClr val="818990"/>
                </a:solidFill>
                <a:latin typeface="Calibri"/>
                <a:ea typeface="Calibri"/>
                <a:cs typeface="Calibri"/>
                <a:sym typeface="Calibri"/>
              </a:rPr>
              <a:t>.</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Como resultado, evita los cuellos de botella y los conflictos de fusión, </a:t>
            </a:r>
            <a:r>
              <a:rPr b="1" i="1" lang="es-ES" sz="2000" u="none" cap="none" strike="noStrike">
                <a:solidFill>
                  <a:srgbClr val="818990"/>
                </a:solidFill>
                <a:latin typeface="Calibri"/>
                <a:ea typeface="Calibri"/>
                <a:cs typeface="Calibri"/>
                <a:sym typeface="Calibri"/>
              </a:rPr>
              <a:t>manteniendo así un flujo de canalización de integración constante y continuo</a:t>
            </a:r>
            <a:r>
              <a:rPr b="0" i="0" lang="es-ES" sz="1800" u="none" cap="none" strike="noStrike">
                <a:solidFill>
                  <a:srgbClr val="818990"/>
                </a:solidFill>
                <a:latin typeface="Calibri"/>
                <a:ea typeface="Calibri"/>
                <a:cs typeface="Calibri"/>
                <a:sym typeface="Calibri"/>
              </a:rPr>
              <a:t>.</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03" name="Google Shape;503;ge3d14e774f_0_103"/>
          <p:cNvPicPr preferRelativeResize="0"/>
          <p:nvPr/>
        </p:nvPicPr>
        <p:blipFill rotWithShape="1">
          <a:blip r:embed="rId3">
            <a:alphaModFix/>
          </a:blip>
          <a:srcRect b="0" l="0" r="0" t="0"/>
          <a:stretch/>
        </p:blipFill>
        <p:spPr>
          <a:xfrm>
            <a:off x="2434875" y="4785204"/>
            <a:ext cx="4235101" cy="1945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e3d14e774f_0_110"/>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09" name="Google Shape;509;ge3d14e774f_0_110"/>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Gradle</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1" i="0" lang="es-ES" sz="1800" u="none" cap="none" strike="noStrike">
                <a:solidFill>
                  <a:srgbClr val="818990"/>
                </a:solidFill>
                <a:latin typeface="Calibri"/>
                <a:ea typeface="Calibri"/>
                <a:cs typeface="Calibri"/>
                <a:sym typeface="Calibri"/>
              </a:rPr>
              <a:t>Construcciones incrementales</a:t>
            </a:r>
            <a:endParaRPr b="1"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Gradle verifica entre ejecuciones de compilación si la entrada, salida o implementación de una tarea ha cambiado desde la última invocación de compilación. De lo contrario, la tarea se considera actualizada y no se ejecuta. Gradle también considera la configuración de la tarea como parte de su entrada.</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1" i="0" lang="es-ES" sz="1800" u="none" cap="none" strike="noStrike">
                <a:solidFill>
                  <a:srgbClr val="818990"/>
                </a:solidFill>
                <a:latin typeface="Calibri"/>
                <a:ea typeface="Calibri"/>
                <a:cs typeface="Calibri"/>
                <a:sym typeface="Calibri"/>
              </a:rPr>
              <a:t>Subtareas incrementales</a:t>
            </a:r>
            <a:endParaRPr b="1"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Cuando Gradle descubre que la entrada o salida de una tarea ha cambiado entre ejecuciones de compilación, la tarea se ejecuta nuevamente. La tarea puede utilizar la API incremental para saber qué archivos han cambiado exactamente. Con esta información, es posible que la tarea no necesite reconstruir todo.</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1" i="0" lang="es-ES" sz="1800" u="none" cap="none" strike="noStrike">
                <a:solidFill>
                  <a:srgbClr val="818990"/>
                </a:solidFill>
                <a:latin typeface="Calibri"/>
                <a:ea typeface="Calibri"/>
                <a:cs typeface="Calibri"/>
                <a:sym typeface="Calibri"/>
              </a:rPr>
              <a:t>Tiempos de espera de tareas</a:t>
            </a:r>
            <a:endParaRPr b="1"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Cada tarea tiene una propiedad de tiempo de espera que se puede utilizar para limitar su tiempo de ejecución. Cuando una tarea alcanza su tiempo de espera, su subproceso de ejecución de la tarea se interrumpe y permite que finalice la compilación.</a:t>
            </a:r>
            <a:endParaRPr b="0" i="0" sz="18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10" name="Google Shape;510;ge3d14e774f_0_110"/>
          <p:cNvPicPr preferRelativeResize="0"/>
          <p:nvPr/>
        </p:nvPicPr>
        <p:blipFill rotWithShape="1">
          <a:blip r:embed="rId3">
            <a:alphaModFix/>
          </a:blip>
          <a:srcRect b="0" l="0" r="0" t="0"/>
          <a:stretch/>
        </p:blipFill>
        <p:spPr>
          <a:xfrm>
            <a:off x="4845925" y="1102978"/>
            <a:ext cx="2834950" cy="1359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e3d14e774f_0_117"/>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16" name="Google Shape;516;ge3d14e774f_0_117"/>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Git</a:t>
            </a:r>
            <a:endParaRPr b="0" i="0" sz="1700" u="none" cap="none" strike="noStrike">
              <a:solidFill>
                <a:srgbClr val="212121"/>
              </a:solidFill>
              <a:highlight>
                <a:srgbClr val="FFFFFF"/>
              </a:highlight>
              <a:latin typeface="Roboto"/>
              <a:ea typeface="Roboto"/>
              <a:cs typeface="Roboto"/>
              <a:sym typeface="Roboto"/>
            </a:endParaRPr>
          </a:p>
          <a:p>
            <a:pPr indent="0" lvl="0" marL="0" marR="0" rtl="0" algn="just">
              <a:lnSpc>
                <a:spcPct val="100000"/>
              </a:lnSpc>
              <a:spcBef>
                <a:spcPts val="45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Git es una de las herramientas de DevOps más populares, ampliamente utilizada en la industria del software. Es una herramienta SCM (administración de código fuente) distribuida, amada por equipos remotos y colaboradores de código abierto. Git le permite realizar un seguimiento del progreso de su trabajo de desarrollo. Puede guardar diferentes versiones de su código fuente y volver a una versión anterior cuando sea necesario. También es excelente para experimentar, ya que puede crear ramas independientes y combinar nuevas funciones sólo cuando estén listas para comenzar.</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17" name="Google Shape;517;ge3d14e774f_0_117"/>
          <p:cNvPicPr preferRelativeResize="0"/>
          <p:nvPr/>
        </p:nvPicPr>
        <p:blipFill rotWithShape="1">
          <a:blip r:embed="rId3">
            <a:alphaModFix/>
          </a:blip>
          <a:srcRect b="0" l="0" r="0" t="0"/>
          <a:stretch/>
        </p:blipFill>
        <p:spPr>
          <a:xfrm>
            <a:off x="2134925" y="4536826"/>
            <a:ext cx="4874149" cy="20130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e3d14e774f_0_123"/>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23" name="Google Shape;523;ge3d14e774f_0_123"/>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Jenkins</a:t>
            </a:r>
            <a:endParaRPr b="1" i="0" sz="2200" u="none" cap="none" strike="noStrike">
              <a:solidFill>
                <a:srgbClr val="818990"/>
              </a:solidFill>
              <a:latin typeface="Calibri"/>
              <a:ea typeface="Calibri"/>
              <a:cs typeface="Calibri"/>
              <a:sym typeface="Calibri"/>
            </a:endParaRPr>
          </a:p>
          <a:p>
            <a:pPr indent="0" lvl="0" marL="0" marR="0" rtl="0" algn="just">
              <a:lnSpc>
                <a:spcPct val="100000"/>
              </a:lnSpc>
              <a:spcBef>
                <a:spcPts val="4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Jenkins es la herramienta de automatización de DevOps para muchos equipos de desarrollo de software. Es un servidor CI / CD de código abierto que le permite automatizar las diferentes etapas de su canal de entrega. La razón principal de la popularidad de Jenkins es su enorme ecosistema de complementos. Actualmente, ofrece más de 1,000 complementos, por lo que se integra con casi todas las herramientas de DevOps, desde Docker hasta Puppet.</a:t>
            </a:r>
            <a:endParaRPr b="1" i="0" sz="2200" u="none" cap="none" strike="noStrike">
              <a:solidFill>
                <a:srgbClr val="818990"/>
              </a:solidFill>
              <a:latin typeface="Calibri"/>
              <a:ea typeface="Calibri"/>
              <a:cs typeface="Calibri"/>
              <a:sym typeface="Calibri"/>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24" name="Google Shape;524;ge3d14e774f_0_123"/>
          <p:cNvPicPr preferRelativeResize="0"/>
          <p:nvPr/>
        </p:nvPicPr>
        <p:blipFill rotWithShape="1">
          <a:blip r:embed="rId3">
            <a:alphaModFix/>
          </a:blip>
          <a:srcRect b="0" l="0" r="0" t="0"/>
          <a:stretch/>
        </p:blipFill>
        <p:spPr>
          <a:xfrm>
            <a:off x="1069774" y="3790325"/>
            <a:ext cx="6965299" cy="26762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e3db15d403_0_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30" name="Google Shape;530;ge3db15d403_0_2"/>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Jenkins</a:t>
            </a:r>
            <a:endParaRPr b="1" i="0" sz="2200" u="none" cap="none" strike="noStrike">
              <a:solidFill>
                <a:srgbClr val="818990"/>
              </a:solidFill>
              <a:latin typeface="Calibri"/>
              <a:ea typeface="Calibri"/>
              <a:cs typeface="Calibri"/>
              <a:sym typeface="Calibri"/>
            </a:endParaRPr>
          </a:p>
          <a:p>
            <a:pPr indent="0" lvl="0" marL="0" marR="0" rtl="0" algn="just">
              <a:lnSpc>
                <a:spcPct val="100000"/>
              </a:lnSpc>
              <a:spcBef>
                <a:spcPts val="4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Es fácil comenzar con Jenkins, ya que se ejecuta de forma inmediata en Windows, Mac OS X y Linux. También puede instalarlo fácilmente con Docker. Puede instalar y configurar su servidor Jenkins a través de una interfaz web. Si es un usuario nuevo, puede optar por instalarlo con complementos de uso frecuente. Sin embargo, también puede crear su propia configuración personalizada.</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Con Jenkins, puede iterar e implementar código nuevo lo más rápido posible. También permite medir el éxito de cada paso del pipeline. </a:t>
            </a:r>
            <a:endParaRPr b="0" i="0" sz="1800" u="none" cap="none" strike="noStrike">
              <a:solidFill>
                <a:srgbClr val="818990"/>
              </a:solidFill>
              <a:latin typeface="Calibri"/>
              <a:ea typeface="Calibri"/>
              <a:cs typeface="Calibri"/>
              <a:sym typeface="Calibri"/>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31" name="Google Shape;531;ge3db15d403_0_2"/>
          <p:cNvPicPr preferRelativeResize="0"/>
          <p:nvPr/>
        </p:nvPicPr>
        <p:blipFill rotWithShape="1">
          <a:blip r:embed="rId3">
            <a:alphaModFix/>
          </a:blip>
          <a:srcRect b="0" l="0" r="0" t="0"/>
          <a:stretch/>
        </p:blipFill>
        <p:spPr>
          <a:xfrm>
            <a:off x="1473500" y="4260051"/>
            <a:ext cx="6197000" cy="2393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e3d14e774f_0_135"/>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37" name="Google Shape;537;ge3d14e774f_0_135"/>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Docker</a:t>
            </a:r>
            <a:endParaRPr b="0" i="0" sz="1700" u="none" cap="none" strike="noStrike">
              <a:solidFill>
                <a:srgbClr val="212121"/>
              </a:solidFill>
              <a:highlight>
                <a:srgbClr val="FFFFFF"/>
              </a:highlight>
              <a:latin typeface="Roboto"/>
              <a:ea typeface="Roboto"/>
              <a:cs typeface="Roboto"/>
              <a:sym typeface="Roboto"/>
            </a:endParaRPr>
          </a:p>
          <a:p>
            <a:pPr indent="0" lvl="0" marL="0" marR="0" rtl="0" algn="just">
              <a:lnSpc>
                <a:spcPct val="100000"/>
              </a:lnSpc>
              <a:spcBef>
                <a:spcPts val="4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Docker ha sido la plataforma de contenedores número uno desde su lanzamiento en 2013 y continúa mejorando. También se considera una de las herramientas de DevOps más importantes que existen. Docker ha hecho que la contenedorización sea popular en el mundo de la tecnología, principalmente porque hace posible el desarrollo distribuido y automatiza la implementación de sus aplicaciones. Aísla las aplicaciones en contenedores separados, por lo que se vuelven portátiles y más seguros. Las aplicaciones de Docker también son independientes del sistema operativo y de la plataforma. Puede utilizar contenedores Docker en lugar de máquinas virtuales como VirtualBox.</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38" name="Google Shape;538;ge3d14e774f_0_135"/>
          <p:cNvPicPr preferRelativeResize="0"/>
          <p:nvPr/>
        </p:nvPicPr>
        <p:blipFill rotWithShape="1">
          <a:blip r:embed="rId3">
            <a:alphaModFix/>
          </a:blip>
          <a:srcRect b="0" l="0" r="0" t="0"/>
          <a:stretch/>
        </p:blipFill>
        <p:spPr>
          <a:xfrm>
            <a:off x="2339025" y="4399777"/>
            <a:ext cx="4465950" cy="21993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e3db15d403_0_12"/>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44" name="Google Shape;544;ge3db15d403_0_12"/>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Docker</a:t>
            </a:r>
            <a:r>
              <a:rPr b="0" i="0" lang="es-ES" sz="1700" u="none" cap="none" strike="noStrike">
                <a:solidFill>
                  <a:srgbClr val="212121"/>
                </a:solidFill>
                <a:highlight>
                  <a:srgbClr val="FFFFFF"/>
                </a:highlight>
                <a:latin typeface="Roboto"/>
                <a:ea typeface="Roboto"/>
                <a:cs typeface="Roboto"/>
                <a:sym typeface="Roboto"/>
              </a:rPr>
              <a:t> (</a:t>
            </a:r>
            <a:r>
              <a:rPr b="1" i="0" lang="es-ES" sz="1800" u="none" cap="none" strike="noStrike">
                <a:solidFill>
                  <a:srgbClr val="818990"/>
                </a:solidFill>
                <a:latin typeface="Calibri"/>
                <a:ea typeface="Calibri"/>
                <a:cs typeface="Calibri"/>
                <a:sym typeface="Calibri"/>
              </a:rPr>
              <a:t>Contenedores y la nube)</a:t>
            </a:r>
            <a:endParaRPr b="1" i="0" sz="1800" u="none" cap="none" strike="noStrike">
              <a:solidFill>
                <a:srgbClr val="818990"/>
              </a:solidFill>
              <a:latin typeface="Calibri"/>
              <a:ea typeface="Calibri"/>
              <a:cs typeface="Calibri"/>
              <a:sym typeface="Calibri"/>
            </a:endParaRPr>
          </a:p>
          <a:p>
            <a:pPr indent="0" lvl="0" marL="0" marR="0" rtl="0" algn="just">
              <a:lnSpc>
                <a:spcPct val="100000"/>
              </a:lnSpc>
              <a:spcBef>
                <a:spcPts val="4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Los contenedores se adaptan perfectamente al enfoque actual de la nube para la arquitectura de aplicaciones, donde, en lugar de depender de un gran programa monolítico, puede dividir las cosas en un conjunto de microservicios poco acoplados. Esto le proporciona una serie de beneficios. Por ejemplo, puede replicar microservicios en un clúster de VM para mejorar la tolerancia a fallas. Si falla una máquina virtual individual, su aplicación puede recurrir a otros microservicios en el clúster y continuar funcionando. Además, los microservicios son más fáciles de mantener, ya que puede parchear o actualizar el código y el entorno del sistema de sus contenedores sin afectar a otros en su clúster.</a:t>
            </a:r>
            <a:endParaRPr b="0" i="0" sz="1800" u="none" cap="none" strike="noStrike">
              <a:solidFill>
                <a:srgbClr val="818990"/>
              </a:solidFill>
              <a:latin typeface="Calibri"/>
              <a:ea typeface="Calibri"/>
              <a:cs typeface="Calibri"/>
              <a:sym typeface="Calibri"/>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45" name="Google Shape;545;ge3db15d403_0_12"/>
          <p:cNvPicPr preferRelativeResize="0"/>
          <p:nvPr/>
        </p:nvPicPr>
        <p:blipFill rotWithShape="1">
          <a:blip r:embed="rId3">
            <a:alphaModFix/>
          </a:blip>
          <a:srcRect b="0" l="0" r="0" t="0"/>
          <a:stretch/>
        </p:blipFill>
        <p:spPr>
          <a:xfrm>
            <a:off x="2537675" y="4325900"/>
            <a:ext cx="4068649" cy="23229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e3d14e774f_0_141"/>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51" name="Google Shape;551;ge3d14e774f_0_141"/>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Kubernetes</a:t>
            </a:r>
            <a:endParaRPr b="0" i="0" sz="1700" u="none" cap="none" strike="noStrike">
              <a:solidFill>
                <a:srgbClr val="212121"/>
              </a:solidFill>
              <a:highlight>
                <a:srgbClr val="FFFFFF"/>
              </a:highlight>
              <a:latin typeface="Roboto"/>
              <a:ea typeface="Roboto"/>
              <a:cs typeface="Roboto"/>
              <a:sym typeface="Roboto"/>
            </a:endParaRPr>
          </a:p>
          <a:p>
            <a:pPr indent="0" lvl="0" marL="0" marR="0" rtl="0" algn="just">
              <a:lnSpc>
                <a:spcPct val="100000"/>
              </a:lnSpc>
              <a:spcBef>
                <a:spcPts val="12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Kubernetes es una plataforma portable y extensible de código abierto para administrar cargas de trabajo y servicios. Kubernetes facilita la automatización y la configuración declarativa. Tiene un ecosistema grande y en rápido crecimiento. El soporte, las herramientas y los servicios para Kubernetes están ampliamente disponibles.</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12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Google liberó el proyecto Kubernetes en el año 2014. Kubernetes se basa en</a:t>
            </a:r>
            <a:r>
              <a:rPr b="0" i="0" lang="es-ES" sz="1800" u="none" cap="none" strike="noStrike">
                <a:solidFill>
                  <a:srgbClr val="818990"/>
                </a:solidFill>
                <a:uFill>
                  <a:noFill/>
                </a:uFill>
                <a:latin typeface="Calibri"/>
                <a:ea typeface="Calibri"/>
                <a:cs typeface="Calibri"/>
                <a:sym typeface="Calibri"/>
                <a:hlinkClick r:id="rId3">
                  <a:extLst>
                    <a:ext uri="{A12FA001-AC4F-418D-AE19-62706E023703}">
                      <ahyp:hlinkClr val="tx"/>
                    </a:ext>
                  </a:extLst>
                </a:hlinkClick>
              </a:rPr>
              <a:t> la experiencia de Google corriendo aplicaciones en producción a gran escala por década y media</a:t>
            </a:r>
            <a:r>
              <a:rPr b="0" i="0" lang="es-ES" sz="1800" u="none" cap="none" strike="noStrike">
                <a:solidFill>
                  <a:srgbClr val="818990"/>
                </a:solidFill>
                <a:latin typeface="Calibri"/>
                <a:ea typeface="Calibri"/>
                <a:cs typeface="Calibri"/>
                <a:sym typeface="Calibri"/>
              </a:rPr>
              <a:t>, junto a las mejores ideas y prácticas de la comunidad.</a:t>
            </a:r>
            <a:endParaRPr b="0" i="0" sz="1100" u="none" cap="none" strike="noStrike">
              <a:solidFill>
                <a:schemeClr val="dk1"/>
              </a:solidFill>
              <a:latin typeface="Arial"/>
              <a:ea typeface="Arial"/>
              <a:cs typeface="Arial"/>
              <a:sym typeface="Arial"/>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52" name="Google Shape;552;ge3d14e774f_0_141"/>
          <p:cNvPicPr preferRelativeResize="0"/>
          <p:nvPr/>
        </p:nvPicPr>
        <p:blipFill rotWithShape="1">
          <a:blip r:embed="rId4">
            <a:alphaModFix/>
          </a:blip>
          <a:srcRect b="0" l="0" r="0" t="0"/>
          <a:stretch/>
        </p:blipFill>
        <p:spPr>
          <a:xfrm>
            <a:off x="1400125" y="4281600"/>
            <a:ext cx="6343726" cy="22708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e3d14e774f_0_153"/>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58" name="Google Shape;558;ge3d14e774f_0_153"/>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Ansible</a:t>
            </a:r>
            <a:endParaRPr b="0" i="0" sz="1700" u="none" cap="none" strike="noStrike">
              <a:solidFill>
                <a:srgbClr val="212121"/>
              </a:solidFill>
              <a:highlight>
                <a:srgbClr val="FFFFFF"/>
              </a:highlight>
              <a:latin typeface="Roboto"/>
              <a:ea typeface="Roboto"/>
              <a:cs typeface="Roboto"/>
              <a:sym typeface="Roboto"/>
            </a:endParaRPr>
          </a:p>
          <a:p>
            <a:pPr indent="0" lvl="0" marL="0" marR="0" rtl="0" algn="just">
              <a:lnSpc>
                <a:spcPct val="100000"/>
              </a:lnSpc>
              <a:spcBef>
                <a:spcPts val="4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Ansible es una herramienta de administración de configuración ampliamente utilizada escrita en lenguaje Python que ayuda a configurar una o varias máquinas al mismo tiempo. Ansible se puede utilizar para realizar las siguientes tareas:</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342900" lvl="0" marL="457200" marR="0" rtl="0" algn="just">
              <a:lnSpc>
                <a:spcPct val="10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Configuración desde cero de uno o varios nodos</a:t>
            </a:r>
            <a:endParaRPr b="0" i="0" sz="1800" u="none" cap="none" strike="noStrike">
              <a:solidFill>
                <a:srgbClr val="818990"/>
              </a:solidFill>
              <a:latin typeface="Calibri"/>
              <a:ea typeface="Calibri"/>
              <a:cs typeface="Calibri"/>
              <a:sym typeface="Calibri"/>
            </a:endParaRPr>
          </a:p>
          <a:p>
            <a:pPr indent="-342900" lvl="0" marL="457200" marR="0" rtl="0" algn="just">
              <a:lnSpc>
                <a:spcPct val="10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Despliegues</a:t>
            </a:r>
            <a:endParaRPr b="0" i="0" sz="1800" u="none" cap="none" strike="noStrike">
              <a:solidFill>
                <a:srgbClr val="818990"/>
              </a:solidFill>
              <a:latin typeface="Calibri"/>
              <a:ea typeface="Calibri"/>
              <a:cs typeface="Calibri"/>
              <a:sym typeface="Calibri"/>
            </a:endParaRPr>
          </a:p>
          <a:p>
            <a:pPr indent="-342900" lvl="0" marL="457200" marR="0" rtl="0" algn="just">
              <a:lnSpc>
                <a:spcPct val="10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Cambios de configuración</a:t>
            </a:r>
            <a:endParaRPr b="0" i="0" sz="1800" u="none" cap="none" strike="noStrike">
              <a:solidFill>
                <a:srgbClr val="818990"/>
              </a:solidFill>
              <a:latin typeface="Calibri"/>
              <a:ea typeface="Calibri"/>
              <a:cs typeface="Calibri"/>
              <a:sym typeface="Calibri"/>
            </a:endParaRPr>
          </a:p>
          <a:p>
            <a:pPr indent="-342900" lvl="0" marL="457200" marR="0" rtl="0" algn="just">
              <a:lnSpc>
                <a:spcPct val="10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Parcheo</a:t>
            </a:r>
            <a:endParaRPr b="0" i="0" sz="1800" u="none" cap="none" strike="noStrike">
              <a:solidFill>
                <a:srgbClr val="818990"/>
              </a:solidFill>
              <a:latin typeface="Calibri"/>
              <a:ea typeface="Calibri"/>
              <a:cs typeface="Calibri"/>
              <a:sym typeface="Calibri"/>
            </a:endParaRPr>
          </a:p>
          <a:p>
            <a:pPr indent="-342900" lvl="0" marL="457200" marR="0" rtl="0" algn="just">
              <a:lnSpc>
                <a:spcPct val="100000"/>
              </a:lnSpc>
              <a:spcBef>
                <a:spcPts val="0"/>
              </a:spcBef>
              <a:spcAft>
                <a:spcPts val="0"/>
              </a:spcAft>
              <a:buClr>
                <a:srgbClr val="818990"/>
              </a:buClr>
              <a:buSzPts val="1800"/>
              <a:buFont typeface="Calibri"/>
              <a:buChar char="●"/>
            </a:pPr>
            <a:r>
              <a:rPr b="0" i="0" lang="es-ES" sz="1800" u="none" cap="none" strike="noStrike">
                <a:solidFill>
                  <a:srgbClr val="818990"/>
                </a:solidFill>
                <a:latin typeface="Calibri"/>
                <a:ea typeface="Calibri"/>
                <a:cs typeface="Calibri"/>
                <a:sym typeface="Calibri"/>
              </a:rPr>
              <a:t>Gestión De Servicios y muchos más</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59" name="Google Shape;559;ge3d14e774f_0_153"/>
          <p:cNvPicPr preferRelativeResize="0"/>
          <p:nvPr/>
        </p:nvPicPr>
        <p:blipFill rotWithShape="1">
          <a:blip r:embed="rId3">
            <a:alphaModFix/>
          </a:blip>
          <a:srcRect b="0" l="0" r="0" t="0"/>
          <a:stretch/>
        </p:blipFill>
        <p:spPr>
          <a:xfrm>
            <a:off x="4267200" y="3601149"/>
            <a:ext cx="4287900" cy="263047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e3db15d403_0_2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65" name="Google Shape;565;ge3db15d403_0_24"/>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Ansible</a:t>
            </a:r>
            <a:endParaRPr b="0" i="0" sz="1700" u="none" cap="none" strike="noStrike">
              <a:solidFill>
                <a:srgbClr val="212121"/>
              </a:solidFill>
              <a:highlight>
                <a:srgbClr val="FFFFFF"/>
              </a:highlight>
              <a:latin typeface="Roboto"/>
              <a:ea typeface="Roboto"/>
              <a:cs typeface="Roboto"/>
              <a:sym typeface="Roboto"/>
            </a:endParaRPr>
          </a:p>
          <a:p>
            <a:pPr indent="0" lvl="0" marL="0" marR="0" rtl="0" algn="just">
              <a:lnSpc>
                <a:spcPct val="100000"/>
              </a:lnSpc>
              <a:spcBef>
                <a:spcPts val="40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Ansible se usa ampliamente debido a su simplicidad. El código Ansible también está escrito en lenguaje YAML, no necesita un agente para ser instalado en una máquina remota. Ansible usa el puerto 22 (SSH) para conectarse a una máquina remota y realizar los cambios necesarios.</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s-ES" sz="1800" u="none" cap="none" strike="noStrike">
                <a:solidFill>
                  <a:srgbClr val="818990"/>
                </a:solidFill>
                <a:latin typeface="Calibri"/>
                <a:ea typeface="Calibri"/>
                <a:cs typeface="Calibri"/>
                <a:sym typeface="Calibri"/>
              </a:rPr>
              <a:t>Cualquier máquina que pueda conectarse a la máquina remota en el puerto 22 puede convertirse en un nodo de control. Un nodo de control es donde puede instalar Ansible y un nodo gestionado se gestiona mediante los nodos de control.</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66" name="Google Shape;566;ge3db15d403_0_24"/>
          <p:cNvPicPr preferRelativeResize="0"/>
          <p:nvPr/>
        </p:nvPicPr>
        <p:blipFill rotWithShape="1">
          <a:blip r:embed="rId3">
            <a:alphaModFix/>
          </a:blip>
          <a:srcRect b="0" l="0" r="0" t="0"/>
          <a:stretch/>
        </p:blipFill>
        <p:spPr>
          <a:xfrm>
            <a:off x="2036338" y="4215300"/>
            <a:ext cx="5071325" cy="23940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ge3d14e774f_0_159"/>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72" name="Google Shape;572;ge3d14e774f_0_159"/>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Nagios</a:t>
            </a:r>
            <a:endParaRPr b="0" i="0" sz="1700" u="none" cap="none" strike="noStrike">
              <a:solidFill>
                <a:srgbClr val="212121"/>
              </a:solidFill>
              <a:highlight>
                <a:srgbClr val="FFFFFF"/>
              </a:highlight>
              <a:latin typeface="Roboto"/>
              <a:ea typeface="Roboto"/>
              <a:cs typeface="Roboto"/>
              <a:sym typeface="Roboto"/>
            </a:endParaRPr>
          </a:p>
          <a:p>
            <a:pPr indent="0" lvl="0" marL="0" marR="0" rtl="0" algn="just">
              <a:lnSpc>
                <a:spcPct val="100000"/>
              </a:lnSpc>
              <a:spcBef>
                <a:spcPts val="400"/>
              </a:spcBef>
              <a:spcAft>
                <a:spcPts val="0"/>
              </a:spcAft>
              <a:buClr>
                <a:schemeClr val="dk1"/>
              </a:buClr>
              <a:buSzPts val="1100"/>
              <a:buFont typeface="Arial"/>
              <a:buNone/>
            </a:pPr>
            <a:r>
              <a:rPr b="1" i="1" lang="es-ES" sz="2100" u="none" cap="none" strike="noStrike">
                <a:solidFill>
                  <a:srgbClr val="818990"/>
                </a:solidFill>
                <a:latin typeface="Calibri"/>
                <a:ea typeface="Calibri"/>
                <a:cs typeface="Calibri"/>
                <a:sym typeface="Calibri"/>
              </a:rPr>
              <a:t>Nagios XI</a:t>
            </a:r>
            <a:r>
              <a:rPr b="0" i="0" lang="es-ES" sz="1800" u="none" cap="none" strike="noStrike">
                <a:solidFill>
                  <a:srgbClr val="818990"/>
                </a:solidFill>
                <a:latin typeface="Calibri"/>
                <a:ea typeface="Calibri"/>
                <a:cs typeface="Calibri"/>
                <a:sym typeface="Calibri"/>
              </a:rPr>
              <a:t> proporciona monitoreo de todos los componentes de infraestructura de misión crítica, incluidas aplicaciones, servicios, sistemas operativos, protocolos de red, métricas de sistemas e infraestructura de red. Cientos de complementos de terceros permiten la supervisión de prácticamente todas las aplicaciones, servicios y sistemas internos y externos.</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1" i="1" lang="es-ES" sz="2100" u="none" cap="none" strike="noStrike">
                <a:solidFill>
                  <a:srgbClr val="818990"/>
                </a:solidFill>
                <a:latin typeface="Calibri"/>
                <a:ea typeface="Calibri"/>
                <a:cs typeface="Calibri"/>
                <a:sym typeface="Calibri"/>
              </a:rPr>
              <a:t>Nagios Log Server</a:t>
            </a:r>
            <a:r>
              <a:rPr b="0" i="0" lang="es-ES" sz="1800" u="none" cap="none" strike="noStrike">
                <a:solidFill>
                  <a:srgbClr val="818990"/>
                </a:solidFill>
                <a:latin typeface="Calibri"/>
                <a:ea typeface="Calibri"/>
                <a:cs typeface="Calibri"/>
                <a:sym typeface="Calibri"/>
              </a:rPr>
              <a:t> simplifica enormemente el proceso de búsqueda de sus datos de registro. Configure alertas para notificarle cuando surjan amenazas potenciales, o simplemente consulte sus datos de registro para auditar rápidamente cualquier sistema. Con Nagios Log Server, obtiene todos sus datos de registro en una ubicación, con alta disponibilidad y conmutación por error incorporada. ¿Mencionamos que no hay límites de datos?</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e3db15d403_0_34"/>
          <p:cNvSpPr txBox="1"/>
          <p:nvPr/>
        </p:nvSpPr>
        <p:spPr>
          <a:xfrm>
            <a:off x="1763640" y="212760"/>
            <a:ext cx="4287900" cy="812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000"/>
              <a:buFont typeface="Arial"/>
              <a:buNone/>
            </a:pPr>
            <a:r>
              <a:rPr b="0" i="0" lang="es-ES" sz="3000" u="none" cap="none" strike="noStrike">
                <a:solidFill>
                  <a:srgbClr val="FFFFFF"/>
                </a:solidFill>
                <a:latin typeface="Calibri"/>
                <a:ea typeface="Calibri"/>
                <a:cs typeface="Calibri"/>
                <a:sym typeface="Calibri"/>
              </a:rPr>
              <a:t>Pipeline DevOps</a:t>
            </a:r>
            <a:endParaRPr b="0" i="0" sz="3000" u="none" cap="none" strike="noStrike">
              <a:solidFill>
                <a:srgbClr val="000000"/>
              </a:solidFill>
              <a:latin typeface="Arial"/>
              <a:ea typeface="Arial"/>
              <a:cs typeface="Arial"/>
              <a:sym typeface="Arial"/>
            </a:endParaRPr>
          </a:p>
        </p:txBody>
      </p:sp>
      <p:sp>
        <p:nvSpPr>
          <p:cNvPr id="578" name="Google Shape;578;ge3db15d403_0_34"/>
          <p:cNvSpPr txBox="1"/>
          <p:nvPr/>
        </p:nvSpPr>
        <p:spPr>
          <a:xfrm>
            <a:off x="274735" y="1418585"/>
            <a:ext cx="8555400" cy="610200"/>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4500"/>
              </a:spcBef>
              <a:spcAft>
                <a:spcPts val="0"/>
              </a:spcAft>
              <a:buClr>
                <a:schemeClr val="dk1"/>
              </a:buClr>
              <a:buSzPts val="1100"/>
              <a:buFont typeface="Arial"/>
              <a:buNone/>
            </a:pPr>
            <a:r>
              <a:rPr b="1" i="0" lang="es-ES" sz="2200" u="none" cap="none" strike="noStrike">
                <a:solidFill>
                  <a:srgbClr val="818990"/>
                </a:solidFill>
                <a:latin typeface="Calibri"/>
                <a:ea typeface="Calibri"/>
                <a:cs typeface="Calibri"/>
                <a:sym typeface="Calibri"/>
              </a:rPr>
              <a:t>Nagios</a:t>
            </a:r>
            <a:endParaRPr b="0" i="0" sz="1700" u="none" cap="none" strike="noStrike">
              <a:solidFill>
                <a:srgbClr val="212121"/>
              </a:solidFill>
              <a:highlight>
                <a:srgbClr val="FFFFFF"/>
              </a:highlight>
              <a:latin typeface="Roboto"/>
              <a:ea typeface="Roboto"/>
              <a:cs typeface="Roboto"/>
              <a:sym typeface="Roboto"/>
            </a:endParaRPr>
          </a:p>
          <a:p>
            <a:pPr indent="0" lvl="0" marL="0" marR="0" rtl="0" algn="just">
              <a:lnSpc>
                <a:spcPct val="100000"/>
              </a:lnSpc>
              <a:spcBef>
                <a:spcPts val="400"/>
              </a:spcBef>
              <a:spcAft>
                <a:spcPts val="0"/>
              </a:spcAft>
              <a:buClr>
                <a:schemeClr val="dk1"/>
              </a:buClr>
              <a:buSzPts val="1100"/>
              <a:buFont typeface="Arial"/>
              <a:buNone/>
            </a:pPr>
            <a:r>
              <a:rPr b="1" i="1" lang="es-ES" sz="2100" u="none" cap="none" strike="noStrike">
                <a:solidFill>
                  <a:srgbClr val="818990"/>
                </a:solidFill>
                <a:latin typeface="Calibri"/>
                <a:ea typeface="Calibri"/>
                <a:cs typeface="Calibri"/>
                <a:sym typeface="Calibri"/>
              </a:rPr>
              <a:t>Nagios Fusion</a:t>
            </a:r>
            <a:r>
              <a:rPr b="0" i="0" lang="es-ES" sz="1800" u="none" cap="none" strike="noStrike">
                <a:solidFill>
                  <a:srgbClr val="818990"/>
                </a:solidFill>
                <a:latin typeface="Calibri"/>
                <a:ea typeface="Calibri"/>
                <a:cs typeface="Calibri"/>
                <a:sym typeface="Calibri"/>
              </a:rPr>
              <a:t> ofrece a su red un alto grado de visibilidad y escalabilidad, ayudando a resolver problemas que vienen con múltiples redes y separación geográfica. Al permitirle visualizar múltiples servidores Nagios XI y Core en una ubicación, la administración de la red se simplifica mediante la centralización.</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140000"/>
              </a:lnSpc>
              <a:spcBef>
                <a:spcPts val="4500"/>
              </a:spcBef>
              <a:spcAft>
                <a:spcPts val="0"/>
              </a:spcAft>
              <a:buClr>
                <a:schemeClr val="dk1"/>
              </a:buClr>
              <a:buSzPts val="1100"/>
              <a:buFont typeface="Arial"/>
              <a:buNone/>
            </a:pPr>
            <a:r>
              <a:t/>
            </a:r>
            <a:endParaRPr b="0" i="0" sz="1700" u="none" cap="none" strike="noStrike">
              <a:solidFill>
                <a:srgbClr val="212121"/>
              </a:solidFill>
              <a:highlight>
                <a:srgbClr val="FFFFFF"/>
              </a:highlight>
              <a:latin typeface="Roboto"/>
              <a:ea typeface="Roboto"/>
              <a:cs typeface="Roboto"/>
              <a:sym typeface="Roboto"/>
            </a:endParaRPr>
          </a:p>
          <a:p>
            <a:pPr indent="0" lvl="0" marL="0" marR="0" rtl="0" algn="l">
              <a:lnSpc>
                <a:spcPct val="90000"/>
              </a:lnSpc>
              <a:spcBef>
                <a:spcPts val="40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100"/>
              <a:buFont typeface="Arial"/>
              <a:buNone/>
            </a:pPr>
            <a:r>
              <a:t/>
            </a:r>
            <a:endParaRPr b="1"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1100"/>
              <a:buFont typeface="Arial"/>
              <a:buNone/>
            </a:pPr>
            <a:r>
              <a:t/>
            </a:r>
            <a:endParaRPr b="0" i="0" sz="1800" u="none" cap="none" strike="noStrike">
              <a:solidFill>
                <a:srgbClr val="81899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579" name="Google Shape;579;ge3db15d403_0_34"/>
          <p:cNvPicPr preferRelativeResize="0"/>
          <p:nvPr/>
        </p:nvPicPr>
        <p:blipFill rotWithShape="1">
          <a:blip r:embed="rId3">
            <a:alphaModFix/>
          </a:blip>
          <a:srcRect b="0" l="0" r="0" t="0"/>
          <a:stretch/>
        </p:blipFill>
        <p:spPr>
          <a:xfrm>
            <a:off x="1255275" y="3242024"/>
            <a:ext cx="6594300" cy="33384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g1349b23170d_0_307"/>
          <p:cNvSpPr txBox="1"/>
          <p:nvPr>
            <p:ph type="title"/>
          </p:nvPr>
        </p:nvSpPr>
        <p:spPr>
          <a:xfrm>
            <a:off x="601284" y="4994314"/>
            <a:ext cx="27510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¿Qué</a:t>
            </a:r>
            <a:r>
              <a:rPr lang="es-ES"/>
              <a:t> hemos aprendido hoy?</a:t>
            </a:r>
            <a:endParaRPr/>
          </a:p>
        </p:txBody>
      </p:sp>
      <p:sp>
        <p:nvSpPr>
          <p:cNvPr id="585" name="Google Shape;585;g1349b23170d_0_307"/>
          <p:cNvSpPr txBox="1"/>
          <p:nvPr>
            <p:ph idx="1" type="body"/>
          </p:nvPr>
        </p:nvSpPr>
        <p:spPr>
          <a:xfrm>
            <a:off x="3781601" y="4802165"/>
            <a:ext cx="5091300" cy="1385400"/>
          </a:xfrm>
          <a:prstGeom prst="rect">
            <a:avLst/>
          </a:prstGeom>
          <a:noFill/>
          <a:ln>
            <a:noFill/>
          </a:ln>
        </p:spPr>
        <p:txBody>
          <a:bodyPr anchorCtr="0" anchor="t" bIns="0" lIns="0" spcFirstLastPara="1" rIns="0" wrap="square" tIns="0">
            <a:spAutoFit/>
          </a:bodyPr>
          <a:lstStyle/>
          <a:p>
            <a:pPr indent="-209550" lvl="0" marL="228600" rtl="0" algn="just">
              <a:lnSpc>
                <a:spcPct val="100000"/>
              </a:lnSpc>
              <a:spcBef>
                <a:spcPts val="0"/>
              </a:spcBef>
              <a:spcAft>
                <a:spcPts val="0"/>
              </a:spcAft>
              <a:buSzPts val="1500"/>
              <a:buChar char="●"/>
            </a:pPr>
            <a:r>
              <a:rPr lang="es-ES" sz="1500"/>
              <a:t>Que significa DEVOPS en el desarrollo de aplicaciones</a:t>
            </a:r>
            <a:endParaRPr sz="1500"/>
          </a:p>
          <a:p>
            <a:pPr indent="-209550" lvl="0" marL="228600" rtl="0" algn="just">
              <a:lnSpc>
                <a:spcPct val="100000"/>
              </a:lnSpc>
              <a:spcBef>
                <a:spcPts val="0"/>
              </a:spcBef>
              <a:spcAft>
                <a:spcPts val="0"/>
              </a:spcAft>
              <a:buSzPts val="1500"/>
              <a:buChar char="●"/>
            </a:pPr>
            <a:r>
              <a:rPr lang="es-ES" sz="1500"/>
              <a:t>La importancia de la integración de equipos de desarrollo e infraestructura</a:t>
            </a:r>
            <a:endParaRPr sz="1500"/>
          </a:p>
          <a:p>
            <a:pPr indent="-209550" lvl="0" marL="228600" rtl="0" algn="just">
              <a:lnSpc>
                <a:spcPct val="100000"/>
              </a:lnSpc>
              <a:spcBef>
                <a:spcPts val="0"/>
              </a:spcBef>
              <a:spcAft>
                <a:spcPts val="0"/>
              </a:spcAft>
              <a:buSzPts val="1500"/>
              <a:buChar char="●"/>
            </a:pPr>
            <a:r>
              <a:rPr lang="es-ES" sz="1500"/>
              <a:t>Herramientas disponibles para la implementación de un pipeline devops</a:t>
            </a:r>
            <a:endParaRPr sz="1500"/>
          </a:p>
          <a:p>
            <a:pPr indent="0" lvl="0" marL="228600" rtl="0" algn="just">
              <a:lnSpc>
                <a:spcPct val="100000"/>
              </a:lnSpc>
              <a:spcBef>
                <a:spcPts val="0"/>
              </a:spcBef>
              <a:spcAft>
                <a:spcPts val="0"/>
              </a:spcAft>
              <a:buNone/>
            </a:pPr>
            <a:r>
              <a:t/>
            </a:r>
            <a:endParaRPr sz="15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1349b23170d_0_312"/>
          <p:cNvSpPr txBox="1"/>
          <p:nvPr>
            <p:ph idx="1" type="body"/>
          </p:nvPr>
        </p:nvSpPr>
        <p:spPr>
          <a:xfrm>
            <a:off x="261092" y="6869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solidFill>
                  <a:schemeClr val="lt1"/>
                </a:solidFill>
              </a:rPr>
              <a:t>Resumen</a:t>
            </a:r>
            <a:endParaRPr>
              <a:solidFill>
                <a:schemeClr val="lt1"/>
              </a:solidFill>
            </a:endParaRPr>
          </a:p>
        </p:txBody>
      </p:sp>
      <p:sp>
        <p:nvSpPr>
          <p:cNvPr id="591" name="Google Shape;591;g1349b23170d_0_312"/>
          <p:cNvSpPr txBox="1"/>
          <p:nvPr/>
        </p:nvSpPr>
        <p:spPr>
          <a:xfrm>
            <a:off x="295560" y="1315080"/>
            <a:ext cx="8555400" cy="610200"/>
          </a:xfrm>
          <a:prstGeom prst="rect">
            <a:avLst/>
          </a:prstGeom>
          <a:noFill/>
          <a:ln>
            <a:noFill/>
          </a:ln>
        </p:spPr>
        <p:txBody>
          <a:bodyPr anchorCtr="0" anchor="t" bIns="45700" lIns="91425" spcFirstLastPara="1" rIns="91425" wrap="square" tIns="45700">
            <a:noAutofit/>
          </a:bodyPr>
          <a:lstStyle/>
          <a:p>
            <a:pPr indent="-368300" lvl="0" marL="457200" marR="0" rtl="0" algn="just">
              <a:lnSpc>
                <a:spcPct val="90000"/>
              </a:lnSpc>
              <a:spcBef>
                <a:spcPts val="0"/>
              </a:spcBef>
              <a:spcAft>
                <a:spcPts val="0"/>
              </a:spcAft>
              <a:buClr>
                <a:srgbClr val="818990"/>
              </a:buClr>
              <a:buSzPts val="2200"/>
              <a:buFont typeface="Calibri"/>
              <a:buChar char="-"/>
            </a:pPr>
            <a:r>
              <a:rPr b="0" i="0" lang="es-ES" sz="2200" u="none" cap="none" strike="noStrike">
                <a:solidFill>
                  <a:srgbClr val="818990"/>
                </a:solidFill>
                <a:latin typeface="Calibri"/>
                <a:ea typeface="Calibri"/>
                <a:cs typeface="Calibri"/>
                <a:sym typeface="Calibri"/>
              </a:rPr>
              <a:t>Es una evidencia que DevOps es una tendencia imparable, pero no siempre se entiende correctamente. DevOps es mucho más que el uso de una serie de técnicas y herramientas, e incluye aspectos críticos tanto culturales como organizativos. Pensar que los problemas en la construcción de los servicios quedan acotados exclusivamente en el ámbito de IT es tener una visión muy parcial del problema y su solución. Las organizaciones que están sacando partido a todo el potencial de DevOps y otros marcos ágiles han entendido que su alcance es el conjunto de la empresa, no sólo un área o departamento.</a:t>
            </a:r>
            <a:endParaRPr b="0" i="0" sz="2200" u="none" cap="none" strike="noStrike">
              <a:solidFill>
                <a:srgbClr val="81899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ts val="1800"/>
              <a:buFont typeface="Arial"/>
              <a:buNone/>
            </a:pPr>
            <a:r>
              <a:t/>
            </a:r>
            <a:endParaRPr b="0" i="0" sz="2200" u="none" cap="none" strike="noStrike">
              <a:solidFill>
                <a:srgbClr val="818990"/>
              </a:solidFill>
              <a:latin typeface="Calibri"/>
              <a:ea typeface="Calibri"/>
              <a:cs typeface="Calibri"/>
              <a:sym typeface="Calibri"/>
            </a:endParaRPr>
          </a:p>
          <a:p>
            <a:pPr indent="-368300" lvl="0" marL="457200" marR="0" rtl="0" algn="just">
              <a:lnSpc>
                <a:spcPct val="90000"/>
              </a:lnSpc>
              <a:spcBef>
                <a:spcPts val="0"/>
              </a:spcBef>
              <a:spcAft>
                <a:spcPts val="0"/>
              </a:spcAft>
              <a:buClr>
                <a:srgbClr val="818990"/>
              </a:buClr>
              <a:buSzPts val="2200"/>
              <a:buFont typeface="Calibri"/>
              <a:buChar char="-"/>
            </a:pPr>
            <a:r>
              <a:rPr b="0" i="0" lang="es-ES" sz="2200" u="none" cap="none" strike="noStrike">
                <a:solidFill>
                  <a:srgbClr val="818990"/>
                </a:solidFill>
                <a:latin typeface="Calibri"/>
                <a:ea typeface="Calibri"/>
                <a:cs typeface="Calibri"/>
                <a:sym typeface="Calibri"/>
              </a:rPr>
              <a:t>Las técnicas y herramientas software, por muy sofisticadas que resulten, no son suficientes para integrar modos de trabajo, mentalidades y propósitos diferentes. Hace falta mucho más. Por eso DevOps es sobre todo una filosofía y mentalidad que influye en las personas, los equipos, la cultura de las organizaciones y la forma de gestionarlas.</a:t>
            </a:r>
            <a:endParaRPr b="0" i="0" sz="1350" u="none" cap="none" strike="noStrike">
              <a:solidFill>
                <a:srgbClr val="4B4B4D"/>
              </a:solidFill>
              <a:highlight>
                <a:srgbClr val="FFFFFF"/>
              </a:highlight>
              <a:latin typeface="Arial"/>
              <a:ea typeface="Arial"/>
              <a:cs typeface="Arial"/>
              <a:sym typeface="Arial"/>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1349b23170d_0_322"/>
          <p:cNvSpPr txBox="1"/>
          <p:nvPr>
            <p:ph idx="1" type="body"/>
          </p:nvPr>
        </p:nvSpPr>
        <p:spPr>
          <a:xfrm>
            <a:off x="261092" y="6869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solidFill>
                  <a:schemeClr val="lt1"/>
                </a:solidFill>
              </a:rPr>
              <a:t>Bibliografía</a:t>
            </a:r>
            <a:endParaRPr>
              <a:solidFill>
                <a:schemeClr val="lt1"/>
              </a:solidFill>
            </a:endParaRPr>
          </a:p>
        </p:txBody>
      </p:sp>
      <p:pic>
        <p:nvPicPr>
          <p:cNvPr id="597" name="Google Shape;597;g1349b23170d_0_322"/>
          <p:cNvPicPr preferRelativeResize="0"/>
          <p:nvPr/>
        </p:nvPicPr>
        <p:blipFill rotWithShape="1">
          <a:blip r:embed="rId3">
            <a:alphaModFix/>
          </a:blip>
          <a:srcRect b="0" l="0" r="0" t="0"/>
          <a:stretch/>
        </p:blipFill>
        <p:spPr>
          <a:xfrm>
            <a:off x="496883" y="2176607"/>
            <a:ext cx="469268" cy="255893"/>
          </a:xfrm>
          <a:prstGeom prst="rect">
            <a:avLst/>
          </a:prstGeom>
          <a:noFill/>
          <a:ln>
            <a:noFill/>
          </a:ln>
        </p:spPr>
      </p:pic>
      <p:sp>
        <p:nvSpPr>
          <p:cNvPr id="598" name="Google Shape;598;g1349b23170d_0_322"/>
          <p:cNvSpPr txBox="1"/>
          <p:nvPr/>
        </p:nvSpPr>
        <p:spPr>
          <a:xfrm>
            <a:off x="1357653" y="2058024"/>
            <a:ext cx="7394400" cy="1368600"/>
          </a:xfrm>
          <a:prstGeom prst="rect">
            <a:avLst/>
          </a:prstGeom>
          <a:noFill/>
          <a:ln>
            <a:noFill/>
          </a:ln>
        </p:spPr>
        <p:txBody>
          <a:bodyPr anchorCtr="0" anchor="t" bIns="0" lIns="0" spcFirstLastPara="1" rIns="0" wrap="square" tIns="46200">
            <a:spAutoFit/>
          </a:bodyPr>
          <a:lstStyle/>
          <a:p>
            <a:pPr indent="0" lvl="0" marL="12700" marR="0" rtl="0" algn="l">
              <a:lnSpc>
                <a:spcPct val="100000"/>
              </a:lnSpc>
              <a:spcBef>
                <a:spcPts val="0"/>
              </a:spcBef>
              <a:spcAft>
                <a:spcPts val="0"/>
              </a:spcAft>
              <a:buClr>
                <a:schemeClr val="dk1"/>
              </a:buClr>
              <a:buSzPts val="1100"/>
              <a:buFont typeface="Arial"/>
              <a:buNone/>
            </a:pPr>
            <a:r>
              <a:rPr b="1" lang="es-ES">
                <a:solidFill>
                  <a:schemeClr val="dk1"/>
                </a:solidFill>
              </a:rPr>
              <a:t>3.3.1 Learning DevOps: The complete guide to accelerate collaboration with Jenkins, Kubernetes, Terraform and Azure DevOps Mikael Krief, 2019</a:t>
            </a:r>
            <a:endParaRPr b="1">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t/>
            </a:r>
            <a:endParaRPr b="1">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t/>
            </a:r>
            <a:endParaRPr b="1">
              <a:solidFill>
                <a:schemeClr val="dk1"/>
              </a:solidFill>
            </a:endParaRPr>
          </a:p>
          <a:p>
            <a:pPr indent="0" lvl="0" marL="0" marR="0" rtl="0" algn="l">
              <a:lnSpc>
                <a:spcPct val="101499"/>
              </a:lnSpc>
              <a:spcBef>
                <a:spcPts val="200"/>
              </a:spcBef>
              <a:spcAft>
                <a:spcPts val="0"/>
              </a:spcAft>
              <a:buClr>
                <a:srgbClr val="000000"/>
              </a:buClr>
              <a:buSzPts val="1700"/>
              <a:buFont typeface="Arial"/>
              <a:buNone/>
            </a:pPr>
            <a:r>
              <a:rPr b="1" lang="es-ES">
                <a:solidFill>
                  <a:schemeClr val="dk1"/>
                </a:solidFill>
              </a:rPr>
              <a:t>3.3.2 Ingeno, J. (2018). Software architect's handbook: Become a successful software architect by implementing effective architecture concepts.</a:t>
            </a:r>
            <a:endParaRPr b="1" i="0" sz="1700" u="none" cap="none" strike="noStrike">
              <a:solidFill>
                <a:schemeClr val="dk1"/>
              </a:solidFill>
              <a:latin typeface="Arial"/>
              <a:ea typeface="Arial"/>
              <a:cs typeface="Arial"/>
              <a:sym typeface="Arial"/>
            </a:endParaRPr>
          </a:p>
        </p:txBody>
      </p:sp>
      <p:pic>
        <p:nvPicPr>
          <p:cNvPr id="599" name="Google Shape;599;g1349b23170d_0_322"/>
          <p:cNvPicPr preferRelativeResize="0"/>
          <p:nvPr/>
        </p:nvPicPr>
        <p:blipFill rotWithShape="1">
          <a:blip r:embed="rId3">
            <a:alphaModFix/>
          </a:blip>
          <a:srcRect b="0" l="0" r="0" t="0"/>
          <a:stretch/>
        </p:blipFill>
        <p:spPr>
          <a:xfrm>
            <a:off x="496883" y="3091007"/>
            <a:ext cx="469268" cy="25589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Maricel Escobar Mella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Presentación en pantalla (4:3)</vt:lpwstr>
  </property>
  <property fmtid="{D5CDD505-2E9C-101B-9397-08002B2CF9AE}" pid="4" name="Slides">
    <vt:i4>39</vt:i4>
  </property>
</Properties>
</file>