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768096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MQTT y gestión de suscripciones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07008"/>
            <a:ext cx="7955279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0">
                <a:solidFill>
                  <a:srgbClr val="C4D8EB"/>
                </a:solidFill>
                <a:latin typeface="Aptos"/>
              </a:defRPr>
            </a:pPr>
            <a:r>
              <a:t>Mosquitto · ESP32 · Raspberry Pi / DigitalOcean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2240280" cy="1051560"/>
          </a:xfrm>
          <a:prstGeom prst="roundRect">
            <a:avLst/>
          </a:prstGeom>
          <a:solidFill>
            <a:srgbClr val="213758"/>
          </a:solidFill>
          <a:ln w="12700">
            <a:solidFill>
              <a:srgbClr val="486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ESP32</a:t>
            </a:r>
            <a:br/>
            <a:r>
              <a:t>Cliente MQTT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057400"/>
            <a:ext cx="2423160" cy="1417320"/>
          </a:xfrm>
          <a:prstGeom prst="roundRect">
            <a:avLst/>
          </a:prstGeom>
          <a:solidFill>
            <a:srgbClr val="1B75BB"/>
          </a:solidFill>
          <a:ln w="12700">
            <a:solidFill>
              <a:srgbClr val="1B7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MOSQUITTO</a:t>
            </a:r>
            <a:br/>
            <a:r>
              <a:t>Broker MQTT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240280"/>
            <a:ext cx="2240280" cy="1051560"/>
          </a:xfrm>
          <a:prstGeom prst="roundRect">
            <a:avLst/>
          </a:prstGeom>
          <a:solidFill>
            <a:srgbClr val="213758"/>
          </a:solidFill>
          <a:ln w="12700">
            <a:solidFill>
              <a:srgbClr val="486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Dashboard /</a:t>
            </a:r>
            <a:br/>
            <a:r>
              <a:t>Python / Node-RED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697480"/>
            <a:ext cx="1810512" cy="0"/>
          </a:xfrm>
          <a:prstGeom prst="line">
            <a:avLst/>
          </a:prstGeom>
          <a:ln w="3810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60920" y="2697480"/>
            <a:ext cx="1691640" cy="0"/>
          </a:xfrm>
          <a:prstGeom prst="line">
            <a:avLst/>
          </a:prstGeom>
          <a:ln w="3810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54680" y="2267712"/>
            <a:ext cx="15087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100" b="1">
                <a:solidFill>
                  <a:srgbClr val="BFE7F0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67712"/>
            <a:ext cx="12801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100" b="1">
                <a:solidFill>
                  <a:srgbClr val="BFE7F0"/>
                </a:solidFill>
                <a:latin typeface="Aptos"/>
              </a:defRPr>
            </a:pPr>
            <a:r>
              <a:t>SUBSCRIBE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754880"/>
            <a:ext cx="1042416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Modelo publish/subscribe, topics, QoS, sesiones, retained messages, ACLs y seguridad de broker.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60720"/>
            <a:ext cx="1371600" cy="310896"/>
          </a:xfrm>
          <a:prstGeom prst="roundRect">
            <a:avLst/>
          </a:prstGeom>
          <a:solidFill>
            <a:srgbClr val="2D9C5F"/>
          </a:solidFill>
          <a:ln w="12700">
            <a:solidFill>
              <a:srgbClr val="2D9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5760720"/>
            <a:ext cx="1828800" cy="310896"/>
          </a:xfrm>
          <a:prstGeom prst="roundRect">
            <a:avLst/>
          </a:prstGeom>
          <a:solidFill>
            <a:srgbClr val="7454A9"/>
          </a:solidFill>
          <a:ln w="12700">
            <a:solidFill>
              <a:srgbClr val="745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MQTT 3.1.1 /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5760720"/>
            <a:ext cx="2011680" cy="310896"/>
          </a:xfrm>
          <a:prstGeom prst="roundRect">
            <a:avLst/>
          </a:prstGeom>
          <a:solidFill>
            <a:srgbClr val="EF9130"/>
          </a:solidFill>
          <a:ln w="12700">
            <a:solidFill>
              <a:srgbClr val="EF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Mosquitto 2.x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¿Qué problema resuelve MQTT?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Desacoplar productores y consumidores de datos en sistemas IoT.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2918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74320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800" b="1">
                <a:solidFill>
                  <a:srgbClr val="CE4A4A"/>
                </a:solidFill>
                <a:latin typeface="Aptos"/>
              </a:defRPr>
            </a:pPr>
            <a:r>
              <a:t>Enfoque request/response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74320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500" b="0">
                <a:solidFill>
                  <a:srgbClr val="222C38"/>
                </a:solidFill>
                <a:latin typeface="Aptos"/>
              </a:defRPr>
            </a:pPr>
            <a:r>
              <a:t>El dispositivo debe conocer al servidor, su endpoint y cuándo enviar o consultar información.</a:t>
            </a:r>
            <a:br/>
            <a:br/>
            <a:r>
              <a:t>Acoplamiento más fuerte entre nodos y aplicaciones.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7040880" cy="4251960"/>
          </a:xfrm>
          <a:prstGeom prst="roundRect">
            <a:avLst/>
          </a:prstGeom>
          <a:solidFill>
            <a:srgbClr val="EDF6FC"/>
          </a:solidFill>
          <a:ln w="12700">
            <a:solidFill>
              <a:srgbClr val="C5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38528"/>
            <a:ext cx="329184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800" b="1">
                <a:solidFill>
                  <a:srgbClr val="1B75BB"/>
                </a:solidFill>
                <a:latin typeface="Aptos"/>
              </a:defRPr>
            </a:pPr>
            <a:r>
              <a:t>Enfoque publish / subscribe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74320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2C38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560320"/>
            <a:ext cx="1737360" cy="1097280"/>
          </a:xfrm>
          <a:prstGeom prst="roundRect">
            <a:avLst/>
          </a:prstGeom>
          <a:solidFill>
            <a:srgbClr val="1B75BB"/>
          </a:solidFill>
          <a:ln w="12700">
            <a:solidFill>
              <a:srgbClr val="1B7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Broker</a:t>
            </a:r>
            <a:br/>
            <a:r>
              <a:t>MQTT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011680"/>
            <a:ext cx="960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880360"/>
            <a:ext cx="960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749039"/>
            <a:ext cx="960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App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3108960"/>
            <a:ext cx="960120" cy="0"/>
          </a:xfrm>
          <a:prstGeom prst="line">
            <a:avLst/>
          </a:prstGeom>
          <a:ln w="3556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098280" y="2331720"/>
            <a:ext cx="914400" cy="777240"/>
          </a:xfrm>
          <a:prstGeom prst="line">
            <a:avLst/>
          </a:prstGeom>
          <a:ln w="29209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98280" y="3108960"/>
            <a:ext cx="914400" cy="91440"/>
          </a:xfrm>
          <a:prstGeom prst="line">
            <a:avLst/>
          </a:prstGeom>
          <a:ln w="29209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98280" y="3108960"/>
            <a:ext cx="914400" cy="960120"/>
          </a:xfrm>
          <a:prstGeom prst="line">
            <a:avLst/>
          </a:prstGeom>
          <a:ln w="29209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54880" y="4800600"/>
            <a:ext cx="6126480" cy="685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14253F"/>
                </a:solidFill>
                <a:latin typeface="Aptos"/>
              </a:defRPr>
            </a:pPr>
            <a:r>
              <a:t>El ESP32 publica una vez; el broker decide qué clientes deben recibir una copia.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El broker es el punto de desacoplamiento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Mosquitto recibe publicaciones, mantiene suscripciones y aplica políticas.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057400"/>
            <a:ext cx="265176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2300" b="1">
                <a:solidFill>
                  <a:srgbClr val="1B75BB"/>
                </a:solidFill>
                <a:latin typeface="Aptos"/>
              </a:defRPr>
            </a:pPr>
            <a:r>
              <a:t>MOSQUITTO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743200"/>
            <a:ext cx="2514600" cy="3383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454A9"/>
                </a:solidFill>
                <a:latin typeface="Aptos"/>
              </a:defRPr>
            </a:pPr>
            <a:r>
              <a:t>Tabla de suscripciones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218688"/>
            <a:ext cx="2514600" cy="3383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75BB"/>
                </a:solidFill>
                <a:latin typeface="Aptos"/>
              </a:defRPr>
            </a:pPr>
            <a:r>
              <a:t>Matching de topics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694176"/>
            <a:ext cx="2514600" cy="3383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D9C5F"/>
                </a:solidFill>
                <a:latin typeface="Aptos"/>
              </a:defRPr>
            </a:pPr>
            <a:r>
              <a:t>Autenticación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4169664"/>
            <a:ext cx="2514600" cy="3383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9130"/>
                </a:solidFill>
                <a:latin typeface="Aptos"/>
              </a:defRPr>
            </a:pPr>
            <a:r>
              <a:t>Autorización / ACL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645152"/>
            <a:ext cx="2514600" cy="3383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A8C4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05740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ESP32 Node 01</a:t>
            </a:r>
            <a:br/>
            <a:r>
              <a:t>Publisher + Subscriber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2336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ESP32 Node 02</a:t>
            </a:r>
            <a:br/>
            <a:r>
              <a:t>Publisher + Subscriber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05740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Dashboard</a:t>
            </a:r>
            <a:br/>
            <a:r>
              <a:t>Subscriber + Publisher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02336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Logger / DB</a:t>
            </a:r>
            <a:br/>
            <a:r>
              <a:t>Subscriber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27248" y="2523744"/>
            <a:ext cx="1234440" cy="0"/>
          </a:xfrm>
          <a:prstGeom prst="line">
            <a:avLst/>
          </a:prstGeom>
          <a:ln w="2794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27248" y="4480560"/>
            <a:ext cx="1234440" cy="0"/>
          </a:xfrm>
          <a:prstGeom prst="line">
            <a:avLst/>
          </a:prstGeom>
          <a:ln w="2794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82127" y="2523744"/>
            <a:ext cx="1216153" cy="0"/>
          </a:xfrm>
          <a:prstGeom prst="line">
            <a:avLst/>
          </a:prstGeom>
          <a:ln w="2794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82127" y="4480560"/>
            <a:ext cx="1216153" cy="0"/>
          </a:xfrm>
          <a:prstGeom prst="line">
            <a:avLst/>
          </a:prstGeom>
          <a:ln w="2794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14253F"/>
                </a:solidFill>
                <a:latin typeface="Aptos"/>
              </a:defRPr>
            </a:pPr>
            <a:r>
              <a:t>Un cliente MQTT no queda fijado a un único rol: puede publicar y suscribirse simultáneamente.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Topics y topic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Un publisher publica en un topic concreto; un subscriber se registra con un filtro.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196596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8463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PUBLISH → topic +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48840"/>
            <a:ext cx="484632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iot/node01/sensor/temperature</a:t>
            </a:r>
            <a:br/>
            <a:r>
              <a:t>23.7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66360" cy="196596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847088"/>
            <a:ext cx="48463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SUBSCRIBE → topic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148840"/>
            <a:ext cx="484632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iot/node01/sensor/+</a:t>
            </a:r>
            <a:br/>
            <a:r>
              <a:t>iot/node01/#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516636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700" b="1">
                <a:solidFill>
                  <a:srgbClr val="2D9C5F"/>
                </a:solidFill>
                <a:latin typeface="Aptos"/>
              </a:defRPr>
            </a:pPr>
            <a:r>
              <a:t>Topic concreto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14800"/>
            <a:ext cx="516636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700" b="1">
                <a:solidFill>
                  <a:srgbClr val="7454A9"/>
                </a:solidFill>
                <a:latin typeface="Aptos"/>
              </a:defRPr>
            </a:pPr>
            <a:r>
              <a:t>Filtro de suscripción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4754880" cy="100584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No usa wildcards.</a:t>
            </a:r>
          </a:p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Identifica una ruta exacta dentro del árbol de topics.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17720"/>
            <a:ext cx="4663440" cy="105156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Puede utilizar + y #.</a:t>
            </a:r>
          </a:p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Define qué publicaciones desea recibir el cliente.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Wildcards: + y 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Permiten suscripciones compactas sobre jerarquías de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57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011680"/>
            <a:ext cx="548640" cy="310896"/>
          </a:xfrm>
          <a:prstGeom prst="roundRect">
            <a:avLst/>
          </a:prstGeom>
          <a:solidFill>
            <a:srgbClr val="7454A9"/>
          </a:solidFill>
          <a:ln w="12700">
            <a:solidFill>
              <a:srgbClr val="745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984248"/>
            <a:ext cx="33832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800" b="1">
                <a:solidFill>
                  <a:srgbClr val="7454A9"/>
                </a:solidFill>
                <a:latin typeface="Aptos"/>
              </a:defRPr>
            </a:pPr>
            <a:r>
              <a:t>Exactamente un nivel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697480"/>
            <a:ext cx="4526280" cy="77724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1" y="2862072"/>
            <a:ext cx="4206240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iot/+/temperature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03320"/>
            <a:ext cx="4480560" cy="150876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✓ iot/node01/temperature</a:t>
            </a:r>
          </a:p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✓ iot/node02/temperature</a:t>
            </a:r>
          </a:p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✗ iot/node01/sensor/temperature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257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2011680"/>
            <a:ext cx="548640" cy="310896"/>
          </a:xfrm>
          <a:prstGeom prst="roundRect">
            <a:avLst/>
          </a:prstGeom>
          <a:solidFill>
            <a:srgbClr val="1B75BB"/>
          </a:solidFill>
          <a:ln w="12700">
            <a:solidFill>
              <a:srgbClr val="1B7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984248"/>
            <a:ext cx="33832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800" b="1">
                <a:solidFill>
                  <a:srgbClr val="1B75BB"/>
                </a:solidFill>
                <a:latin typeface="Aptos"/>
              </a:defRPr>
            </a:pPr>
            <a:r>
              <a:t>Todos los niveles restantes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697480"/>
            <a:ext cx="4526280" cy="77724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862072"/>
            <a:ext cx="4206240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iot/node01/#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03320"/>
            <a:ext cx="4480560" cy="150876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✓ iot/node01/temperature</a:t>
            </a:r>
          </a:p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✓ iot/node01/sensor/temperature</a:t>
            </a:r>
          </a:p>
          <a:p>
            <a:pPr>
              <a:spcAft>
                <a:spcPts val="500"/>
              </a:spcAft>
              <a:defRPr sz="1400">
                <a:solidFill>
                  <a:srgbClr val="222C38"/>
                </a:solidFill>
                <a:latin typeface="Aptos"/>
              </a:defRPr>
            </a:pPr>
            <a:r>
              <a:t>• ✓ iot/node01/command/restart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SUSCRIPCIONES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Una publicación puede llegar a muchos subscribers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El broker entrega una copia a cada suscripción cuyo filtro haga match.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2C38"/>
                </a:solidFill>
                <a:latin typeface="Aptos"/>
              </a:defRPr>
            </a:pPr>
            <a:r>
              <a:t>ESP32</a:t>
            </a:r>
            <a:br/>
            <a:r>
              <a:t>PUBLISH 25.1 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194560"/>
            <a:ext cx="2057400" cy="1371600"/>
          </a:xfrm>
          <a:prstGeom prst="roundRect">
            <a:avLst/>
          </a:prstGeom>
          <a:solidFill>
            <a:srgbClr val="1B75BB"/>
          </a:solidFill>
          <a:ln w="12700">
            <a:solidFill>
              <a:srgbClr val="1B7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MOSQUITTO</a:t>
            </a:r>
            <a:br/>
            <a:r>
              <a:t>matching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1546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2C38"/>
                </a:solidFill>
                <a:latin typeface="Aptos"/>
              </a:defRPr>
            </a:pPr>
            <a:r>
              <a:t>Dashboard</a:t>
            </a:r>
            <a:br/>
            <a:r>
              <a:t>iot/node01/temperature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43200"/>
            <a:ext cx="31546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2C38"/>
                </a:solidFill>
                <a:latin typeface="Aptos"/>
              </a:defRPr>
            </a:pPr>
            <a:r>
              <a:t>Database</a:t>
            </a:r>
            <a:br/>
            <a:r>
              <a:t>iot/node01/#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069080"/>
            <a:ext cx="31546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2C38"/>
                </a:solidFill>
                <a:latin typeface="Aptos"/>
              </a:defRPr>
            </a:pPr>
            <a:r>
              <a:t>Monitor</a:t>
            </a:r>
            <a:br/>
            <a:r>
              <a:t>iot/+/temperature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880360"/>
            <a:ext cx="1691640" cy="0"/>
          </a:xfrm>
          <a:prstGeom prst="line">
            <a:avLst/>
          </a:prstGeom>
          <a:ln w="3810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766560" y="1828800"/>
            <a:ext cx="1417319" cy="1051560"/>
          </a:xfrm>
          <a:prstGeom prst="line">
            <a:avLst/>
          </a:prstGeom>
          <a:ln w="2794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66560" y="2880360"/>
            <a:ext cx="1417319" cy="274320"/>
          </a:xfrm>
          <a:prstGeom prst="line">
            <a:avLst/>
          </a:prstGeom>
          <a:ln w="2794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2880360"/>
            <a:ext cx="1417319" cy="1600200"/>
          </a:xfrm>
          <a:prstGeom prst="line">
            <a:avLst/>
          </a:prstGeom>
          <a:ln w="2794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166360"/>
            <a:ext cx="649224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1">
                <a:solidFill>
                  <a:srgbClr val="14253F"/>
                </a:solidFill>
                <a:latin typeface="Aptos"/>
              </a:defRPr>
            </a:pPr>
            <a:r>
              <a:t>El publisher no necesita conocer cuántos consumidores existen ni dónde están.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ESP32: publicar y suscribirse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Un mismo cliente puede enviar telemetría y recibir comandos.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440680" cy="434340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512064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PubSubClient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5120640" cy="3794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mqttClient.publish(</a:t>
            </a:r>
            <a:br/>
            <a:r>
              <a:t>  "iot/node01/sensor/temperature",</a:t>
            </a:r>
            <a:br/>
            <a:r>
              <a:t>  "23.7"</a:t>
            </a:r>
            <a:br/>
            <a:r>
              <a:t>);</a:t>
            </a:r>
            <a:br/>
            <a:br/>
            <a:r>
              <a:t>mqttClient.subscribe(</a:t>
            </a:r>
            <a:br/>
            <a:r>
              <a:t>  "iot/node01/command/#"</a:t>
            </a:r>
            <a:br/>
            <a:r>
              <a:t>);</a:t>
            </a:r>
            <a:br/>
            <a:br/>
            <a:r>
              <a:t>mqttClient.loop();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74519"/>
            <a:ext cx="1828800" cy="731520"/>
          </a:xfrm>
          <a:prstGeom prst="roundRect">
            <a:avLst/>
          </a:prstGeom>
          <a:solidFill>
            <a:srgbClr val="2D9C5F"/>
          </a:solidFill>
          <a:ln w="12700">
            <a:solidFill>
              <a:srgbClr val="2D9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74519"/>
            <a:ext cx="1828800" cy="731520"/>
          </a:xfrm>
          <a:prstGeom prst="roundRect">
            <a:avLst/>
          </a:prstGeom>
          <a:solidFill>
            <a:srgbClr val="7454A9"/>
          </a:solidFill>
          <a:ln w="12700">
            <a:solidFill>
              <a:srgbClr val="745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SUBSCRIBE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80360"/>
            <a:ext cx="4754880" cy="2286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800" b="1">
                <a:solidFill>
                  <a:srgbClr val="222C38"/>
                </a:solidFill>
                <a:latin typeface="Aptos"/>
              </a:defRPr>
            </a:pPr>
            <a:r>
              <a:t>Telemetría →</a:t>
            </a:r>
            <a:br/>
            <a:r>
              <a:t>iot/node01/sensor/#</a:t>
            </a:r>
            <a:br/>
            <a:br/>
            <a:r>
              <a:t>Comandos ←</a:t>
            </a:r>
            <a:br/>
            <a:r>
              <a:t>iot/node01/command/#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SUSCRIPCIONES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Ciclo de vida de una suscripción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La suscripción se crea desde el cliente y el broker la mantiene dentro de la sesión.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0116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800" b="1">
                <a:solidFill>
                  <a:srgbClr val="14253F"/>
                </a:solidFill>
                <a:latin typeface="Aptos"/>
              </a:defRPr>
            </a:pPr>
            <a:r>
              <a:t>Cliente MQTT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0116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800" b="1">
                <a:solidFill>
                  <a:srgbClr val="14253F"/>
                </a:solidFill>
                <a:latin typeface="Aptos"/>
              </a:defRPr>
            </a:pPr>
            <a:r>
              <a:t>Broker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240280"/>
            <a:ext cx="0" cy="356616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2240280"/>
            <a:ext cx="0" cy="356616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11680" y="2606040"/>
            <a:ext cx="8046720" cy="0"/>
          </a:xfrm>
          <a:prstGeom prst="line">
            <a:avLst/>
          </a:prstGeom>
          <a:ln w="29209">
            <a:solidFill>
              <a:srgbClr val="1B7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40480" y="2304288"/>
            <a:ext cx="4389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200" b="1">
                <a:solidFill>
                  <a:srgbClr val="1B75BB"/>
                </a:solidFill>
                <a:latin typeface="Aptos"/>
              </a:defRPr>
            </a:pPr>
            <a:r>
              <a:t>SUBSCRIBE iot/node01/command/#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011680" y="3337560"/>
            <a:ext cx="8046720" cy="0"/>
          </a:xfrm>
          <a:prstGeom prst="line">
            <a:avLst/>
          </a:prstGeom>
          <a:ln w="29209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80" y="3035808"/>
            <a:ext cx="4389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200" b="1">
                <a:solidFill>
                  <a:srgbClr val="2D9C5F"/>
                </a:solidFill>
                <a:latin typeface="Aptos"/>
              </a:defRPr>
            </a:pPr>
            <a:r>
              <a:t>SUBACK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011680" y="4251960"/>
            <a:ext cx="8046720" cy="0"/>
          </a:xfrm>
          <a:prstGeom prst="line">
            <a:avLst/>
          </a:prstGeom>
          <a:ln w="29209">
            <a:solidFill>
              <a:srgbClr val="EF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40480" y="3950208"/>
            <a:ext cx="4389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200" b="1">
                <a:solidFill>
                  <a:srgbClr val="EF9130"/>
                </a:solidFill>
                <a:latin typeface="Aptos"/>
              </a:defRPr>
            </a:pPr>
            <a:r>
              <a:t>PUBLISH command/restart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1680" y="5074920"/>
            <a:ext cx="8046720" cy="0"/>
          </a:xfrm>
          <a:prstGeom prst="line">
            <a:avLst/>
          </a:prstGeom>
          <a:ln w="29209">
            <a:solidFill>
              <a:srgbClr val="7454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40480" y="4773168"/>
            <a:ext cx="4389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200" b="1">
                <a:solidFill>
                  <a:srgbClr val="7454A9"/>
                </a:solidFill>
                <a:latin typeface="Aptos"/>
              </a:defRPr>
            </a:pPr>
            <a:r>
              <a:t>UNSUBSCRIBE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011680" y="5623560"/>
            <a:ext cx="8046720" cy="0"/>
          </a:xfrm>
          <a:prstGeom prst="line">
            <a:avLst/>
          </a:prstGeom>
          <a:ln w="29209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0480" y="5321808"/>
            <a:ext cx="4389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200" b="1">
                <a:solidFill>
                  <a:srgbClr val="2D9C5F"/>
                </a:solidFill>
                <a:latin typeface="Aptos"/>
              </a:defRPr>
            </a:pPr>
            <a:r>
              <a:t>UNSUBACK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Tres conceptos distintos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No confundir autenticación, autorización y suscripción.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971800" cy="640080"/>
          </a:xfrm>
          <a:prstGeom prst="roundRect">
            <a:avLst/>
          </a:prstGeom>
          <a:solidFill>
            <a:srgbClr val="1B75BB"/>
          </a:solidFill>
          <a:ln w="12700">
            <a:solidFill>
              <a:srgbClr val="1B7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AUTENTICACIÓN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5146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2000" b="1">
                <a:solidFill>
                  <a:srgbClr val="1B75BB"/>
                </a:solidFill>
                <a:latin typeface="Aptos"/>
              </a:defRPr>
            </a:pPr>
            <a:r>
              <a:t>¿Quién eres?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657600"/>
            <a:ext cx="23774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222C38"/>
                </a:solidFill>
                <a:latin typeface="Aptos"/>
              </a:defRPr>
            </a:pPr>
            <a:r>
              <a:t>password_file</a:t>
            </a:r>
            <a:br/>
            <a:r>
              <a:t>usuarios / credenciales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28800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828800"/>
            <a:ext cx="2971800" cy="640080"/>
          </a:xfrm>
          <a:prstGeom prst="roundRect">
            <a:avLst/>
          </a:prstGeom>
          <a:solidFill>
            <a:srgbClr val="EF9130"/>
          </a:solidFill>
          <a:ln w="12700">
            <a:solidFill>
              <a:srgbClr val="EF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AUTORIZACIÓN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25146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2000" b="1">
                <a:solidFill>
                  <a:srgbClr val="EF9130"/>
                </a:solidFill>
                <a:latin typeface="Aptos"/>
              </a:defRPr>
            </a:pPr>
            <a:r>
              <a:t>¿Qué puedes hacer?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657600"/>
            <a:ext cx="23774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222C38"/>
                </a:solidFill>
                <a:latin typeface="Aptos"/>
              </a:defRPr>
            </a:pPr>
            <a:r>
              <a:t>ACL</a:t>
            </a:r>
            <a:br/>
            <a:r>
              <a:t>read / write /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828800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1828800"/>
            <a:ext cx="2971800" cy="640080"/>
          </a:xfrm>
          <a:prstGeom prst="roundRect">
            <a:avLst/>
          </a:prstGeom>
          <a:solidFill>
            <a:srgbClr val="7454A9"/>
          </a:solidFill>
          <a:ln w="12700">
            <a:solidFill>
              <a:srgbClr val="745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SUSCRIPCIÓN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743200"/>
            <a:ext cx="25146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2000" b="1">
                <a:solidFill>
                  <a:srgbClr val="7454A9"/>
                </a:solidFill>
                <a:latin typeface="Aptos"/>
              </a:defRPr>
            </a:pPr>
            <a:r>
              <a:t>¿Qué quieres recibir?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3657600"/>
            <a:ext cx="237744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222C38"/>
                </a:solidFill>
                <a:latin typeface="Aptos"/>
              </a:defRPr>
            </a:pPr>
            <a:r>
              <a:t>SUBSCRIBE</a:t>
            </a:r>
            <a:br/>
            <a:r>
              <a:t>topic filter + QoS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700" b="1">
                <a:solidFill>
                  <a:srgbClr val="14253F"/>
                </a:solidFill>
                <a:latin typeface="Aptos"/>
              </a:defRPr>
            </a:pPr>
            <a:r>
              <a:t>ACL: “puedes suscribirte”.   SUBSCRIBE: “quiero suscribirme”.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ACLs en Mosquitto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El broker controla qué topics puede leer o escribir cada usuario.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51663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/etc/mosquitto/acl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5166360" cy="3840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user esp32_node01</a:t>
            </a:r>
            <a:br/>
            <a:br/>
            <a:r>
              <a:t>topic write iot/node01/sensor/#</a:t>
            </a:r>
            <a:br/>
            <a:r>
              <a:t>topic write iot/node01/status/#</a:t>
            </a:r>
            <a:br/>
            <a:br/>
            <a:r>
              <a:t>topic read  iot/node01/command/#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1828800" cy="713232"/>
          </a:xfrm>
          <a:prstGeom prst="roundRect">
            <a:avLst/>
          </a:prstGeom>
          <a:solidFill>
            <a:srgbClr val="2D9C5F"/>
          </a:solidFill>
          <a:ln w="12700">
            <a:solidFill>
              <a:srgbClr val="2D9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PERMITIDO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697480"/>
            <a:ext cx="4754880" cy="91440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862072"/>
            <a:ext cx="443484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iot/node01/sensor/temperature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977639"/>
            <a:ext cx="1828800" cy="713232"/>
          </a:xfrm>
          <a:prstGeom prst="roundRect">
            <a:avLst/>
          </a:prstGeom>
          <a:solidFill>
            <a:srgbClr val="CE4A4A"/>
          </a:solidFill>
          <a:ln w="12700">
            <a:solidFill>
              <a:srgbClr val="CE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BLOQUEADO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846320"/>
            <a:ext cx="4754880" cy="91440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5010912"/>
            <a:ext cx="44348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iot/node02/sensor/temperature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Escalar ACLs con %u y %c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Patrones evitan reglas repetidas para decenas de nodos.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029200" cy="182880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091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ACL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48840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pattern write iot/%u/sensor/#</a:t>
            </a:r>
            <a:br/>
            <a:r>
              <a:t>pattern read  iot/%u/command/#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5074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938528"/>
            <a:ext cx="4389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800" b="1">
                <a:solidFill>
                  <a:srgbClr val="1B75BB"/>
                </a:solidFill>
                <a:latin typeface="Aptos"/>
              </a:defRPr>
            </a:pPr>
            <a:r>
              <a:t>Ejemplo: username = node01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97480"/>
            <a:ext cx="43891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500" b="1">
                <a:solidFill>
                  <a:srgbClr val="2D9C5F"/>
                </a:solidFill>
                <a:latin typeface="Aptos"/>
              </a:defRPr>
            </a:pPr>
            <a:r>
              <a:t>✓ iot/node01/sensor/temperature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474720"/>
            <a:ext cx="43891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500" b="1">
                <a:solidFill>
                  <a:srgbClr val="2D9C5F"/>
                </a:solidFill>
                <a:latin typeface="Aptos"/>
              </a:defRPr>
            </a:pPr>
            <a:r>
              <a:t>✓ iot/node01/command/restart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251960"/>
            <a:ext cx="43891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500" b="1">
                <a:solidFill>
                  <a:srgbClr val="CE4A4A"/>
                </a:solidFill>
                <a:latin typeface="Aptos"/>
              </a:defRPr>
            </a:pPr>
            <a:r>
              <a:t>✗ iot/node02/sensor/temperature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4663440" cy="1371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700" b="1">
                <a:solidFill>
                  <a:srgbClr val="14253F"/>
                </a:solidFill>
                <a:latin typeface="Aptos"/>
              </a:defRPr>
            </a:pPr>
            <a:r>
              <a:t>%u → username</a:t>
            </a:r>
            <a:br/>
            <a:r>
              <a:t>%c → client ID</a:t>
            </a:r>
            <a:br/>
            <a:br/>
            <a:r>
              <a:t>Muy útil para flotas de nodos IoT.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QOS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QoS: semántica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La confiabilidad aumenta, pero también el tráfico y el estado protocolario.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97280" cy="56692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QoS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783080"/>
            <a:ext cx="2743200" cy="56692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Semántica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783080"/>
            <a:ext cx="2651760" cy="56692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Intercambio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783080"/>
            <a:ext cx="3749039" cy="566928"/>
          </a:xfrm>
          <a:prstGeom prst="roundRect">
            <a:avLst/>
          </a:prstGeom>
          <a:solidFill>
            <a:srgbClr val="14253F"/>
          </a:solidFill>
          <a:ln w="127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Uso típico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95728"/>
            <a:ext cx="1097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75B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2395728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At most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395728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395728"/>
            <a:ext cx="3749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Telemetría frecuente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28416"/>
            <a:ext cx="1097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75B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3328416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At least once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328416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PUBLISH + PUBACK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328416"/>
            <a:ext cx="3749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Comandos / eventos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61104"/>
            <a:ext cx="1097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75B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261104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Exactly once*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261104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4 pasos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4261104"/>
            <a:ext cx="374903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Casos muy específicos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10881360" cy="594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700" b="1">
                <a:solidFill>
                  <a:srgbClr val="14253F"/>
                </a:solidFill>
                <a:latin typeface="Aptos"/>
              </a:defRPr>
            </a:pPr>
            <a:r>
              <a:t>Recomendación práctica: QoS 0 para telemetría periódica; QoS 1 para comandos y alarmas importantes.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8813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050" b="0">
                <a:solidFill>
                  <a:srgbClr val="667380"/>
                </a:solidFill>
                <a:latin typeface="Aptos"/>
              </a:defRPr>
            </a:pPr>
            <a:r>
              <a:t>*“Exactly once” se refiere a la semántica MQTT entre pares, no a la lógica de negocio extremo a extremo.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SESIONES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Sesiones persistentes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Deciden si el broker conserva estado del cliente entre desconexiones.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900" b="1">
                <a:solidFill>
                  <a:srgbClr val="CE4A4A"/>
                </a:solidFill>
                <a:latin typeface="Aptos"/>
              </a:defRPr>
            </a:pPr>
            <a:r>
              <a:t>Sesión no persistente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663440" cy="219456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Al desconectarse, se descarta la sesión.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Las suscripciones desaparecen.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Al reconectar, el cliente debe suscribirse nuevamente.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900" b="1">
                <a:solidFill>
                  <a:srgbClr val="2D9C5F"/>
                </a:solidFill>
                <a:latin typeface="Aptos"/>
              </a:defRPr>
            </a:pPr>
            <a:r>
              <a:t>Sesión persistente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663440" cy="219456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El broker conserva la sesión.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Puede mantener suscripciones y mensajes aplicables.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Requiere un Client ID estable.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  <a:latin typeface="Aptos"/>
              </a:defRPr>
            </a:pPr>
            <a:r>
              <a:t>No confundir “sesión persistente MQTT” con “persistencia en disco del broker”.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Retained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El broker conserva el último valor retenido de un topic.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2C38"/>
                </a:solidFill>
                <a:latin typeface="Aptos"/>
              </a:defRPr>
            </a:pPr>
            <a:r>
              <a:t>ESP32</a:t>
            </a:r>
            <a:br/>
            <a:r>
              <a:t>status = online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2240280" cy="1463040"/>
          </a:xfrm>
          <a:prstGeom prst="roundRect">
            <a:avLst/>
          </a:prstGeom>
          <a:solidFill>
            <a:srgbClr val="1B75BB"/>
          </a:solidFill>
          <a:ln w="12700">
            <a:solidFill>
              <a:srgbClr val="1B7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Broker</a:t>
            </a:r>
            <a:br/>
            <a:r>
              <a:t>retained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28600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2C38"/>
                </a:solidFill>
                <a:latin typeface="Aptos"/>
              </a:defRPr>
            </a:pPr>
            <a:r>
              <a:t>Nuevo</a:t>
            </a:r>
            <a:br/>
            <a:r>
              <a:t>subscriber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743200"/>
            <a:ext cx="1691640" cy="0"/>
          </a:xfrm>
          <a:prstGeom prst="line">
            <a:avLst/>
          </a:prstGeom>
          <a:ln w="3810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2743200"/>
            <a:ext cx="1783080" cy="0"/>
          </a:xfrm>
          <a:prstGeom prst="line">
            <a:avLst/>
          </a:prstGeom>
          <a:ln w="3810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80" y="2377440"/>
            <a:ext cx="12344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050" b="1">
                <a:solidFill>
                  <a:srgbClr val="2D9C5F"/>
                </a:solidFill>
                <a:latin typeface="Aptos"/>
              </a:defRPr>
            </a:pPr>
            <a:r>
              <a:t>retain =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331720"/>
            <a:ext cx="128016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050" b="1">
                <a:solidFill>
                  <a:srgbClr val="2CA8C4"/>
                </a:solidFill>
                <a:latin typeface="Aptos"/>
              </a:defRPr>
            </a:pPr>
            <a:r>
              <a:t>Recibe</a:t>
            </a:r>
            <a:br/>
            <a:r>
              <a:t>inmediatamente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424160" cy="1234440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C5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16552"/>
            <a:ext cx="987552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  <a:latin typeface="Aptos"/>
              </a:defRPr>
            </a:pPr>
            <a:r>
              <a:t>Subscription → recuerda qué quiere un cliente</a:t>
            </a:r>
            <a:br/>
            <a:r>
              <a:t>Retained message → recuerda el último valor de un topic</a:t>
            </a:r>
            <a:br/>
            <a:r>
              <a:t>Persistent session → recuerda estado de la sesión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Monitorear el 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Mosquitto expone estadísticas y eventos útiles para operación y diagnóstico.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394960" cy="182880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50749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Estadísticas $SYS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mosquitto_sub \</a:t>
            </a:r>
            <a:br/>
            <a:r>
              <a:t>  -h localhost \</a:t>
            </a:r>
            <a:br/>
            <a:r>
              <a:t>  -t "$SYS/#" -v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394960" cy="150876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95928"/>
            <a:ext cx="50749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Log del broker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97680"/>
            <a:ext cx="507492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tail -f /var/log/mosquitto/mosquitto.log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691640"/>
            <a:ext cx="4846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965960"/>
            <a:ext cx="420624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900" b="1">
                <a:solidFill>
                  <a:srgbClr val="1B75BB"/>
                </a:solidFill>
                <a:latin typeface="Aptos"/>
              </a:defRPr>
            </a:pPr>
            <a:r>
              <a:t>Qué observar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651760"/>
            <a:ext cx="4114800" cy="256032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Clientes conectados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Mensajes recibidos / enviados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Bytes / tráfico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Conexiones y desconexiones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Errores de autenticación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394960"/>
            <a:ext cx="4114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250" b="0">
                <a:solidFill>
                  <a:srgbClr val="667380"/>
                </a:solidFill>
                <a:latin typeface="Aptos"/>
              </a:defRPr>
            </a:pPr>
            <a:r>
              <a:t>MQTT no define un comando estándar “listar todas las suscripciones”.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ESCALABILIDAD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Funciones avanzadas de Mosquitto y MQTT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Útiles cuando el número de clientes y servicios crece.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11680"/>
            <a:ext cx="470916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2000" b="1">
                <a:solidFill>
                  <a:srgbClr val="7454A9"/>
                </a:solidFill>
                <a:latin typeface="Aptos"/>
              </a:defRPr>
            </a:pPr>
            <a:r>
              <a:t>Dynamic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43200"/>
            <a:ext cx="4663440" cy="219456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Gestiona clientes, roles, grupos y ACLs en runtime.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Evita editar manualmente archivos estáticos en sistemas grandes.</a:t>
            </a:r>
          </a:p>
          <a:p>
            <a:pPr>
              <a:spcAft>
                <a:spcPts val="5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Administración con mosquitto_ctrl.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2120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11680"/>
            <a:ext cx="470916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2000" b="1">
                <a:solidFill>
                  <a:srgbClr val="1B75BB"/>
                </a:solidFill>
                <a:latin typeface="Aptos"/>
              </a:defRPr>
            </a:pPr>
            <a:r>
              <a:t>Shared subscriptions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788920"/>
            <a:ext cx="4251960" cy="77724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2953512"/>
            <a:ext cx="3931920" cy="475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$share/workers/iot/+/sensor/#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4617720" cy="1508760"/>
          </a:xfrm>
          <a:prstGeom prst="rect">
            <a:avLst/>
          </a:prstGeom>
          <a:noFill/>
        </p:spPr>
        <p:txBody>
          <a:bodyPr wrap="square" lIns="50800" rIns="254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222C38"/>
                </a:solidFill>
                <a:latin typeface="Aptos"/>
              </a:defRPr>
            </a:pPr>
            <a:r>
              <a:t>• Varios workers comparten el mismo filtro.</a:t>
            </a:r>
          </a:p>
          <a:p>
            <a:pPr>
              <a:spcAft>
                <a:spcPts val="500"/>
              </a:spcAft>
              <a:defRPr sz="1450">
                <a:solidFill>
                  <a:srgbClr val="222C38"/>
                </a:solidFill>
                <a:latin typeface="Aptos"/>
              </a:defRPr>
            </a:pPr>
            <a:r>
              <a:t>• Cada mensaje se entrega a un miembro del grupo.</a:t>
            </a:r>
          </a:p>
          <a:p>
            <a:pPr>
              <a:spcAft>
                <a:spcPts val="500"/>
              </a:spcAft>
              <a:defRPr sz="1450">
                <a:solidFill>
                  <a:srgbClr val="222C38"/>
                </a:solidFill>
                <a:latin typeface="Aptos"/>
              </a:defRPr>
            </a:pPr>
            <a:r>
              <a:t>• Útil para balancear procesamiento backend.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Arquitectura recomendada para ESP32 + Raspberry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El broker local actúa como gateway y punto de control del sistema IoT.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187451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ESP32 Node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43200"/>
            <a:ext cx="187451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ESP32 Node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840480"/>
            <a:ext cx="187451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ESP32 Node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057400"/>
            <a:ext cx="2743200" cy="2240280"/>
          </a:xfrm>
          <a:prstGeom prst="roundRect">
            <a:avLst/>
          </a:prstGeom>
          <a:solidFill>
            <a:srgbClr val="1B75BB"/>
          </a:solidFill>
          <a:ln w="12700">
            <a:solidFill>
              <a:srgbClr val="1B7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Raspberry Pi 3B+</a:t>
            </a:r>
            <a:br/>
            <a:r>
              <a:t>Mosquitto Broker</a:t>
            </a:r>
            <a:br/>
            <a:r>
              <a:t>192.168.1.50:1883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1975104"/>
            <a:ext cx="1508760" cy="1188720"/>
          </a:xfrm>
          <a:prstGeom prst="line">
            <a:avLst/>
          </a:prstGeom>
          <a:ln w="2794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3072384"/>
            <a:ext cx="1508760" cy="91440"/>
          </a:xfrm>
          <a:prstGeom prst="line">
            <a:avLst/>
          </a:prstGeom>
          <a:ln w="2794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14600" y="3163824"/>
            <a:ext cx="1508760" cy="1005839"/>
          </a:xfrm>
          <a:prstGeom prst="line">
            <a:avLst/>
          </a:prstGeom>
          <a:ln w="27940">
            <a:solidFill>
              <a:srgbClr val="2D9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32520" y="1600200"/>
            <a:ext cx="2514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Node-RED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858000" y="1929384"/>
            <a:ext cx="1828800" cy="1252728"/>
          </a:xfrm>
          <a:prstGeom prst="line">
            <a:avLst/>
          </a:prstGeom>
          <a:ln w="2540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32520" y="2606040"/>
            <a:ext cx="2514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Python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858000" y="2935224"/>
            <a:ext cx="1828800" cy="246888"/>
          </a:xfrm>
          <a:prstGeom prst="line">
            <a:avLst/>
          </a:prstGeom>
          <a:ln w="2540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3611880"/>
            <a:ext cx="2514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3182112"/>
            <a:ext cx="1828800" cy="758952"/>
          </a:xfrm>
          <a:prstGeom prst="line">
            <a:avLst/>
          </a:prstGeom>
          <a:ln w="2540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32520" y="4617720"/>
            <a:ext cx="2514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C38"/>
                </a:solidFill>
                <a:latin typeface="Aptos"/>
              </a:defRPr>
            </a:pPr>
            <a:r>
              <a:t>Cloud bridge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0" y="3182112"/>
            <a:ext cx="1828800" cy="1764792"/>
          </a:xfrm>
          <a:prstGeom prst="line">
            <a:avLst/>
          </a:prstGeom>
          <a:ln w="25400">
            <a:solidFill>
              <a:srgbClr val="2CA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074920"/>
            <a:ext cx="704088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14253F"/>
                </a:solidFill>
                <a:latin typeface="Aptos"/>
              </a:defRPr>
            </a:pPr>
            <a:r>
              <a:t>ESP32 publica telemetría y se suscribe a comandos.</a:t>
            </a:r>
            <a:br/>
            <a:r>
              <a:t>El Pi centraliza autenticación, ACLs, monitorización y servicios.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75BB"/>
                </a:solidFill>
                <a:latin typeface="Aptos"/>
              </a:defRPr>
            </a:pPr>
            <a:r>
              <a:t>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3F"/>
                </a:solidFill>
                <a:latin typeface="Aptos"/>
              </a:defRPr>
            </a:pPr>
            <a:r>
              <a:t>Jerarquía de topics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380"/>
                </a:solidFill>
                <a:latin typeface="Aptos"/>
              </a:defRPr>
            </a:pPr>
            <a:r>
              <a:t>Consistencia de nombres simplifica ACLs, dashboards y automatización.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653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760720" cy="452628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9928"/>
            <a:ext cx="54406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000" b="1">
                <a:solidFill>
                  <a:srgbClr val="2CA8C4"/>
                </a:solidFill>
                <a:latin typeface="Aptos"/>
              </a:defRPr>
            </a:pPr>
            <a:r>
              <a:t>Topic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544068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E6EEF7"/>
                </a:solidFill>
                <a:latin typeface="Aptos Mono"/>
              </a:defRPr>
            </a:pPr>
            <a:r>
              <a:t>iot/</a:t>
            </a:r>
            <a:br/>
            <a:r>
              <a:t>├── node01/</a:t>
            </a:r>
            <a:br/>
            <a:r>
              <a:t>│   ├── sensor/</a:t>
            </a:r>
            <a:br/>
            <a:r>
              <a:t>│   │   ├── temperature</a:t>
            </a:r>
            <a:br/>
            <a:r>
              <a:t>│   │   ├── humidity</a:t>
            </a:r>
            <a:br/>
            <a:r>
              <a:t>│   │   └── pressure</a:t>
            </a:r>
            <a:br/>
            <a:r>
              <a:t>│   ├── network/rssi</a:t>
            </a:r>
            <a:br/>
            <a:r>
              <a:t>│   ├── status</a:t>
            </a:r>
            <a:br/>
            <a:r>
              <a:t>│   └── command/</a:t>
            </a:r>
            <a:br/>
            <a:r>
              <a:t>│       ├── led</a:t>
            </a:r>
            <a:br/>
            <a:r>
              <a:t>│       ├── sampling</a:t>
            </a:r>
            <a:br/>
            <a:r>
              <a:t>│       └── restart</a:t>
            </a:r>
            <a:br/>
            <a:r>
              <a:t>└── node02/...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783080"/>
            <a:ext cx="4434840" cy="155448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C1E1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011680"/>
            <a:ext cx="3886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2D9C5F"/>
                </a:solidFill>
                <a:latin typeface="Aptos"/>
              </a:defRPr>
            </a:pPr>
            <a:r>
              <a:t>ESP32 publica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514600"/>
            <a:ext cx="38862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iot/node01/sensor/#</a:t>
            </a:r>
            <a:br/>
            <a:r>
              <a:t>iot/node01/network/#</a:t>
            </a:r>
            <a:br/>
            <a:r>
              <a:t>iot/node01/status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703320"/>
            <a:ext cx="4434840" cy="155448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D6C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3931920"/>
            <a:ext cx="3886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600" b="1">
                <a:solidFill>
                  <a:srgbClr val="7454A9"/>
                </a:solidFill>
                <a:latin typeface="Aptos"/>
              </a:defRPr>
            </a:pPr>
            <a:r>
              <a:t>ESP32 se suscribe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526280"/>
            <a:ext cx="3886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300" b="0">
                <a:solidFill>
                  <a:srgbClr val="222C38"/>
                </a:solidFill>
                <a:latin typeface="Aptos"/>
              </a:defRPr>
            </a:pPr>
            <a:r>
              <a:t>iot/node01/command/#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64008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Ideas clave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84048" cy="384048"/>
          </a:xfrm>
          <a:prstGeom prst="roundRect">
            <a:avLst/>
          </a:prstGeom>
          <a:solidFill>
            <a:srgbClr val="2CA8C4"/>
          </a:solidFill>
          <a:ln w="1270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5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90472"/>
            <a:ext cx="98755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Las suscripciones las crea el cliente; el broker las mantiene y aplica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84048" cy="384048"/>
          </a:xfrm>
          <a:prstGeom prst="roundRect">
            <a:avLst/>
          </a:prstGeom>
          <a:solidFill>
            <a:srgbClr val="2CA8C4"/>
          </a:solidFill>
          <a:ln w="1270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5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67712"/>
            <a:ext cx="98755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Los ACLs controlan lo permitido, no lo que el cliente “quiere” recibir.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39"/>
            <a:ext cx="384048" cy="384048"/>
          </a:xfrm>
          <a:prstGeom prst="roundRect">
            <a:avLst/>
          </a:prstGeom>
          <a:solidFill>
            <a:srgbClr val="2CA8C4"/>
          </a:solidFill>
          <a:ln w="1270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5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44951"/>
            <a:ext cx="98755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QoS, sesiones y retained messages resuelven problemas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40479"/>
            <a:ext cx="384048" cy="384048"/>
          </a:xfrm>
          <a:prstGeom prst="roundRect">
            <a:avLst/>
          </a:prstGeom>
          <a:solidFill>
            <a:srgbClr val="2CA8C4"/>
          </a:solidFill>
          <a:ln w="1270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53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22191"/>
            <a:ext cx="98755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Una jerarquía de topics bien diseñada simplifica seguridad y escalabilidad.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17720"/>
            <a:ext cx="384048" cy="384048"/>
          </a:xfrm>
          <a:prstGeom prst="roundRect">
            <a:avLst/>
          </a:prstGeom>
          <a:solidFill>
            <a:srgbClr val="2CA8C4"/>
          </a:solidFill>
          <a:ln w="12700">
            <a:solidFill>
              <a:srgbClr val="2CA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5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599432"/>
            <a:ext cx="98755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ESP32 + Mosquitto en Raspberry Pi es una arquitectura sólida para laboratorios IoT.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400" b="0">
                <a:solidFill>
                  <a:srgbClr val="BDD6E9"/>
                </a:solidFill>
                <a:latin typeface="Aptos"/>
              </a:defRPr>
            </a:pPr>
            <a:r>
              <a:t>Siguiente paso sugerido: laboratorio ESP32 → Mosquitto → dashboard con ACLs y QoS.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