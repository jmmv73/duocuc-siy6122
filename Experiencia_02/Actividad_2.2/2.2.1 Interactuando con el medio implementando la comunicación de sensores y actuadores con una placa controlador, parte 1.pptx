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11309350" cx="20104100"/>
  <p:notesSz cx="20104100" cy="11309350"/>
  <p:embeddedFontLst>
    <p:embeddedFont>
      <p:font typeface="Franklin Gothic"/>
      <p:bold r:id="rId40"/>
    </p:embeddedFont>
    <p:embeddedFont>
      <p:font typeface="Bebas Neue"/>
      <p:regular r:id="rId41"/>
    </p:embeddedFont>
    <p:embeddedFont>
      <p:font typeface="Roboto Condensed"/>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50" roundtripDataSignature="AMtx7mhgC4F5xhozPP49aNZ2nB+fRedy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ranklinGothic-bold.fntdata"/><Relationship Id="rId42" Type="http://schemas.openxmlformats.org/officeDocument/2006/relationships/font" Target="fonts/RobotoCondensed-regular.fntdata"/><Relationship Id="rId41" Type="http://schemas.openxmlformats.org/officeDocument/2006/relationships/font" Target="fonts/BebasNeue-regular.fntdata"/><Relationship Id="rId44" Type="http://schemas.openxmlformats.org/officeDocument/2006/relationships/font" Target="fonts/RobotoCondensed-italic.fntdata"/><Relationship Id="rId43" Type="http://schemas.openxmlformats.org/officeDocument/2006/relationships/font" Target="fonts/RobotoCondensed-bold.fntdata"/><Relationship Id="rId46" Type="http://schemas.openxmlformats.org/officeDocument/2006/relationships/font" Target="fonts/RobotoMono-regular.fntdata"/><Relationship Id="rId45" Type="http://schemas.openxmlformats.org/officeDocument/2006/relationships/font" Target="fonts/RobotoCondensed-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343706a5ce_0_1631:notes"/>
          <p:cNvSpPr txBox="1"/>
          <p:nvPr>
            <p:ph idx="1" type="body"/>
          </p:nvPr>
        </p:nvSpPr>
        <p:spPr>
          <a:xfrm>
            <a:off x="2010410" y="5371941"/>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1343706a5ce_0_1631: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f435cb8f30_0_0:notes"/>
          <p:cNvSpPr txBox="1"/>
          <p:nvPr>
            <p:ph idx="1" type="body"/>
          </p:nvPr>
        </p:nvSpPr>
        <p:spPr>
          <a:xfrm>
            <a:off x="2010410" y="5371941"/>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f435cb8f30_0_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7: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7: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33e68395f5_0_46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133e68395f5_0_46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3547584bed_0_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13547584bed_0_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3547584bed_0_1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13547584bed_0_1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3547584bed_0_2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g13547584bed_0_2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3547584bed_0_3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13547584bed_0_3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33e68395f5_0_4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133e68395f5_0_4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33e68395f5_0_50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133e68395f5_0_50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3547584bed_0_27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295" name="Google Shape;295;g13547584bed_0_276: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3547584bed_0_288: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08" name="Google Shape;308;g13547584bed_0_288: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3547584bed_0_29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17" name="Google Shape;317;g13547584bed_0_296: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3547584bed_0_303: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25" name="Google Shape;325;g13547584bed_0_303: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3547584bed_0_48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13547584bed_0_48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3547584bed_0_31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38" name="Google Shape;338;g13547584bed_0_314: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3547584bed_0_32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45" name="Google Shape;345;g13547584bed_0_320: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3547584bed_0_32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52" name="Google Shape;352;g13547584bed_0_326: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3585c67efc_0_5: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58" name="Google Shape;358;g13585c67efc_0_5: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3547584bed_0_331: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64" name="Google Shape;364;g13547584bed_0_331: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3547584bed_0_337: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71" name="Google Shape;371;g13547584bed_0_337: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3585c67efc_0_1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77" name="Google Shape;377;g13585c67efc_0_10: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3547584bed_0_34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83" name="Google Shape;383;g13547584bed_0_342: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3585c67efc_0_2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g13585c67efc_0_2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3547584bed_0_347: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396" name="Google Shape;396;g13547584bed_0_347: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3547584bed_0_35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02" name="Google Shape;402;g13547584bed_0_352: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3547584bed_0_358: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09" name="Google Shape;409;g13547584bed_0_358: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3547584bed_0_363: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15" name="Google Shape;415;g13547584bed_0_363: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3585c67efc_0_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21" name="Google Shape;421;g13585c67efc_0_0: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343706a5ce_0_166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7" name="Google Shape;427;g1343706a5ce_0_166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33e68395f5_0_51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g133e68395f5_0_51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 Id="rId3"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b="0" l="0" r="0" t="0"/>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9"/>
          <p:cNvSpPr txBox="1"/>
          <p:nvPr>
            <p:ph idx="1" type="body"/>
          </p:nvPr>
        </p:nvSpPr>
        <p:spPr>
          <a:xfrm>
            <a:off x="5138402" y="6401309"/>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9"/>
          <p:cNvSpPr txBox="1"/>
          <p:nvPr>
            <p:ph idx="2" type="body"/>
          </p:nvPr>
        </p:nvSpPr>
        <p:spPr>
          <a:xfrm>
            <a:off x="4718050" y="5246439"/>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 name="Google Shape;17;p9"/>
          <p:cNvSpPr txBox="1"/>
          <p:nvPr>
            <p:ph idx="3" type="body"/>
          </p:nvPr>
        </p:nvSpPr>
        <p:spPr>
          <a:xfrm>
            <a:off x="5092767" y="7676832"/>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8" name="Google Shape;18;p9"/>
          <p:cNvPicPr preferRelativeResize="0"/>
          <p:nvPr/>
        </p:nvPicPr>
        <p:blipFill rotWithShape="1">
          <a:blip r:embed="rId3">
            <a:alphaModFix/>
          </a:blip>
          <a:srcRect b="0" l="0" r="0" t="0"/>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b="0" l="0" r="0" t="0"/>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0" name="Shape 20"/>
        <p:cNvGrpSpPr/>
        <p:nvPr/>
      </p:nvGrpSpPr>
      <p:grpSpPr>
        <a:xfrm>
          <a:off x="0" y="0"/>
          <a:ext cx="0" cy="0"/>
          <a:chOff x="0" y="0"/>
          <a:chExt cx="0" cy="0"/>
        </a:xfrm>
      </p:grpSpPr>
      <p:sp>
        <p:nvSpPr>
          <p:cNvPr id="21" name="Google Shape;21;p11"/>
          <p:cNvSpPr/>
          <p:nvPr/>
        </p:nvSpPr>
        <p:spPr>
          <a:xfrm>
            <a:off x="1" y="828729"/>
            <a:ext cx="4946650" cy="1168346"/>
          </a:xfrm>
          <a:prstGeom prst="rect">
            <a:avLst/>
          </a:prstGeom>
          <a:solidFill>
            <a:srgbClr val="317D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 name="Google Shape;22;p11"/>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1"/>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 name="Google Shape;24;p11"/>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11"/>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1"/>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7" name="Google Shape;27;p11"/>
          <p:cNvGrpSpPr/>
          <p:nvPr/>
        </p:nvGrpSpPr>
        <p:grpSpPr>
          <a:xfrm>
            <a:off x="19131280" y="10355374"/>
            <a:ext cx="445703" cy="598161"/>
            <a:chOff x="18406074" y="10234089"/>
            <a:chExt cx="445703" cy="598161"/>
          </a:xfrm>
        </p:grpSpPr>
        <p:sp>
          <p:nvSpPr>
            <p:cNvPr id="28" name="Google Shape;28;p11"/>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9" name="Google Shape;29;p1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30" name="Google Shape;30;p11"/>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 name="Shape 31"/>
        <p:cNvGrpSpPr/>
        <p:nvPr/>
      </p:nvGrpSpPr>
      <p:grpSpPr>
        <a:xfrm>
          <a:off x="0" y="0"/>
          <a:ext cx="0" cy="0"/>
          <a:chOff x="0" y="0"/>
          <a:chExt cx="0" cy="0"/>
        </a:xfrm>
      </p:grpSpPr>
      <p:pic>
        <p:nvPicPr>
          <p:cNvPr id="32" name="Google Shape;32;p13"/>
          <p:cNvPicPr preferRelativeResize="0"/>
          <p:nvPr/>
        </p:nvPicPr>
        <p:blipFill rotWithShape="1">
          <a:blip r:embed="rId2">
            <a:alphaModFix/>
          </a:blip>
          <a:srcRect b="0" l="0" r="0" t="0"/>
          <a:stretch/>
        </p:blipFill>
        <p:spPr>
          <a:xfrm>
            <a:off x="-1" y="0"/>
            <a:ext cx="20104101" cy="7407276"/>
          </a:xfrm>
          <a:prstGeom prst="rect">
            <a:avLst/>
          </a:prstGeom>
          <a:noFill/>
          <a:ln>
            <a:noFill/>
          </a:ln>
        </p:spPr>
      </p:pic>
      <p:sp>
        <p:nvSpPr>
          <p:cNvPr id="33" name="Google Shape;33;p13"/>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 name="Google Shape;34;p13"/>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5" name="Google Shape;35;p13"/>
          <p:cNvGrpSpPr/>
          <p:nvPr/>
        </p:nvGrpSpPr>
        <p:grpSpPr>
          <a:xfrm>
            <a:off x="19131280" y="10355374"/>
            <a:ext cx="445703" cy="598161"/>
            <a:chOff x="18406074" y="10234089"/>
            <a:chExt cx="445703" cy="598161"/>
          </a:xfrm>
        </p:grpSpPr>
        <p:sp>
          <p:nvSpPr>
            <p:cNvPr id="36" name="Google Shape;36;p13"/>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7" name="Google Shape;37;p1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8" name="Google Shape;38;p13"/>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39" name="Google Shape;39;p13"/>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40" name="Google Shape;40;p13"/>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41" name="Google Shape;41;p13"/>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2" name="Shape 42"/>
        <p:cNvGrpSpPr/>
        <p:nvPr/>
      </p:nvGrpSpPr>
      <p:grpSpPr>
        <a:xfrm>
          <a:off x="0" y="0"/>
          <a:ext cx="0" cy="0"/>
          <a:chOff x="0" y="0"/>
          <a:chExt cx="0" cy="0"/>
        </a:xfrm>
      </p:grpSpPr>
      <p:pic>
        <p:nvPicPr>
          <p:cNvPr id="43" name="Google Shape;43;p12"/>
          <p:cNvPicPr preferRelativeResize="0"/>
          <p:nvPr/>
        </p:nvPicPr>
        <p:blipFill rotWithShape="1">
          <a:blip r:embed="rId2">
            <a:alphaModFix/>
          </a:blip>
          <a:srcRect b="0" l="0" r="0" t="0"/>
          <a:stretch/>
        </p:blipFill>
        <p:spPr>
          <a:xfrm>
            <a:off x="0" y="0"/>
            <a:ext cx="20104100" cy="7378258"/>
          </a:xfrm>
          <a:prstGeom prst="rect">
            <a:avLst/>
          </a:prstGeom>
          <a:noFill/>
          <a:ln>
            <a:noFill/>
          </a:ln>
        </p:spPr>
      </p:pic>
      <p:sp>
        <p:nvSpPr>
          <p:cNvPr id="44" name="Google Shape;44;p12"/>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12"/>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6" name="Google Shape;46;p12"/>
          <p:cNvGrpSpPr/>
          <p:nvPr/>
        </p:nvGrpSpPr>
        <p:grpSpPr>
          <a:xfrm>
            <a:off x="19131280" y="10355374"/>
            <a:ext cx="445703" cy="598161"/>
            <a:chOff x="18406074" y="10234089"/>
            <a:chExt cx="445703" cy="598161"/>
          </a:xfrm>
        </p:grpSpPr>
        <p:sp>
          <p:nvSpPr>
            <p:cNvPr id="47" name="Google Shape;47;p1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 name="Google Shape;48;p12"/>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9" name="Google Shape;49;p12"/>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50" name="Google Shape;50;p12"/>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1" name="Google Shape;51;p12"/>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52" name="Google Shape;52;p12"/>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53" name="Shape 53"/>
        <p:cNvGrpSpPr/>
        <p:nvPr/>
      </p:nvGrpSpPr>
      <p:grpSpPr>
        <a:xfrm>
          <a:off x="0" y="0"/>
          <a:ext cx="0" cy="0"/>
          <a:chOff x="0" y="0"/>
          <a:chExt cx="0" cy="0"/>
        </a:xfrm>
      </p:grpSpPr>
      <p:sp>
        <p:nvSpPr>
          <p:cNvPr id="54" name="Google Shape;54;p10"/>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10"/>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10"/>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10"/>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10"/>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10"/>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10"/>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1" name="Google Shape;61;p10"/>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0"/>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0"/>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10"/>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10"/>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6" name="Google Shape;66;p10"/>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7" name="Google Shape;67;p10"/>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0"/>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9" name="Google Shape;69;p10"/>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0" name="Google Shape;70;p10"/>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0"/>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0"/>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10"/>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10"/>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0"/>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6" name="Google Shape;76;p10"/>
          <p:cNvGrpSpPr/>
          <p:nvPr/>
        </p:nvGrpSpPr>
        <p:grpSpPr>
          <a:xfrm>
            <a:off x="19131280" y="10355374"/>
            <a:ext cx="445703" cy="598161"/>
            <a:chOff x="18406074" y="10234089"/>
            <a:chExt cx="445703" cy="598161"/>
          </a:xfrm>
        </p:grpSpPr>
        <p:sp>
          <p:nvSpPr>
            <p:cNvPr id="77" name="Google Shape;77;p1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 name="Google Shape;78;p1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79" name="Google Shape;79;p10"/>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88" name="Google Shape;88;p14"/>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9" name="Google Shape;89;p14"/>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0" name="Google Shape;90;p14"/>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b="0" l="0" r="0" t="0"/>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99" name="Google Shape;99;p15"/>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0" name="Google Shape;100;p15"/>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01" name="Google Shape;101;p15"/>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Título y objetos 1">
    <p:spTree>
      <p:nvGrpSpPr>
        <p:cNvPr id="106" name="Shape 106"/>
        <p:cNvGrpSpPr/>
        <p:nvPr/>
      </p:nvGrpSpPr>
      <p:grpSpPr>
        <a:xfrm>
          <a:off x="0" y="0"/>
          <a:ext cx="0" cy="0"/>
          <a:chOff x="0" y="0"/>
          <a:chExt cx="0" cy="0"/>
        </a:xfrm>
      </p:grpSpPr>
      <p:sp>
        <p:nvSpPr>
          <p:cNvPr id="107" name="Google Shape;107;g133e68395f5_0_422"/>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08" name="Google Shape;108;g133e68395f5_0_422"/>
          <p:cNvSpPr/>
          <p:nvPr/>
        </p:nvSpPr>
        <p:spPr>
          <a:xfrm>
            <a:off x="1694799" y="350799"/>
            <a:ext cx="1986600" cy="1340700"/>
          </a:xfrm>
          <a:prstGeom prst="parallelogram">
            <a:avLst>
              <a:gd fmla="val 45310" name="adj"/>
            </a:avLst>
          </a:prstGeom>
          <a:solidFill>
            <a:srgbClr val="81899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9" name="Google Shape;109;g133e68395f5_0_422"/>
          <p:cNvSpPr/>
          <p:nvPr/>
        </p:nvSpPr>
        <p:spPr>
          <a:xfrm>
            <a:off x="321925" y="350799"/>
            <a:ext cx="1986600" cy="1340700"/>
          </a:xfrm>
          <a:prstGeom prst="parallelogram">
            <a:avLst>
              <a:gd fmla="val 45310" name="adj"/>
            </a:avLst>
          </a:prstGeom>
          <a:gradFill>
            <a:gsLst>
              <a:gs pos="0">
                <a:srgbClr val="FFFFFF"/>
              </a:gs>
              <a:gs pos="65000">
                <a:schemeClr val="dk2"/>
              </a:gs>
              <a:gs pos="100000">
                <a:schemeClr val="dk2"/>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0" name="Google Shape;110;g133e68395f5_0_422"/>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pic>
        <p:nvPicPr>
          <p:cNvPr id="111" name="Google Shape;111;g133e68395f5_0_422"/>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12" name="Google Shape;112;g133e68395f5_0_422"/>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13" name="Google Shape;113;g133e68395f5_0_422"/>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solidFill>
          <a:schemeClr val="dk2"/>
        </a:solidFill>
      </p:bgPr>
    </p:bg>
    <p:spTree>
      <p:nvGrpSpPr>
        <p:cNvPr id="114" name="Shape 114"/>
        <p:cNvGrpSpPr/>
        <p:nvPr/>
      </p:nvGrpSpPr>
      <p:grpSpPr>
        <a:xfrm>
          <a:off x="0" y="0"/>
          <a:ext cx="0" cy="0"/>
          <a:chOff x="0" y="0"/>
          <a:chExt cx="0" cy="0"/>
        </a:xfrm>
      </p:grpSpPr>
      <p:sp>
        <p:nvSpPr>
          <p:cNvPr id="115" name="Google Shape;115;g133e68395f5_0_400"/>
          <p:cNvSpPr txBox="1"/>
          <p:nvPr>
            <p:ph idx="1" type="body"/>
          </p:nvPr>
        </p:nvSpPr>
        <p:spPr>
          <a:xfrm>
            <a:off x="1232073" y="4345182"/>
            <a:ext cx="17640000" cy="3753000"/>
          </a:xfrm>
          <a:prstGeom prst="rect">
            <a:avLst/>
          </a:prstGeom>
          <a:noFill/>
          <a:ln>
            <a:noFill/>
          </a:ln>
        </p:spPr>
        <p:txBody>
          <a:bodyPr anchorCtr="0" anchor="ctr" bIns="92100" lIns="181400" spcFirstLastPara="1" rIns="184250" wrap="square" tIns="92100">
            <a:noAutofit/>
          </a:bodyPr>
          <a:lstStyle>
            <a:lvl1pPr indent="-228600" lvl="0" marL="457200" algn="ctr">
              <a:lnSpc>
                <a:spcPct val="90000"/>
              </a:lnSpc>
              <a:spcBef>
                <a:spcPts val="2000"/>
              </a:spcBef>
              <a:spcAft>
                <a:spcPts val="0"/>
              </a:spcAft>
              <a:buSzPts val="5600"/>
              <a:buNone/>
              <a:defRPr sz="81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pic>
        <p:nvPicPr>
          <p:cNvPr id="116" name="Google Shape;116;g133e68395f5_0_400"/>
          <p:cNvPicPr preferRelativeResize="0"/>
          <p:nvPr/>
        </p:nvPicPr>
        <p:blipFill rotWithShape="1">
          <a:blip r:embed="rId2">
            <a:alphaModFix/>
          </a:blip>
          <a:srcRect b="0" l="0" r="0" t="0"/>
          <a:stretch/>
        </p:blipFill>
        <p:spPr>
          <a:xfrm>
            <a:off x="13585985" y="647674"/>
            <a:ext cx="6066048" cy="757956"/>
          </a:xfrm>
          <a:prstGeom prst="rect">
            <a:avLst/>
          </a:prstGeom>
          <a:noFill/>
          <a:ln>
            <a:noFill/>
          </a:ln>
        </p:spPr>
      </p:pic>
      <p:sp>
        <p:nvSpPr>
          <p:cNvPr id="117" name="Google Shape;117;g133e68395f5_0_400"/>
          <p:cNvSpPr txBox="1"/>
          <p:nvPr>
            <p:ph idx="2" type="body"/>
          </p:nvPr>
        </p:nvSpPr>
        <p:spPr>
          <a:xfrm>
            <a:off x="1232073" y="2691761"/>
            <a:ext cx="17640000" cy="1097700"/>
          </a:xfrm>
          <a:prstGeom prst="rect">
            <a:avLst/>
          </a:prstGeom>
          <a:solidFill>
            <a:schemeClr val="accent1"/>
          </a:solidFill>
          <a:ln>
            <a:noFill/>
          </a:ln>
        </p:spPr>
        <p:txBody>
          <a:bodyPr anchorCtr="0" anchor="t" bIns="92100" lIns="181400" spcFirstLastPara="1" rIns="184250" wrap="square" tIns="92100">
            <a:noAutofit/>
          </a:bodyPr>
          <a:lstStyle>
            <a:lvl1pPr indent="-228600" lvl="0" marL="457200" algn="ctr">
              <a:lnSpc>
                <a:spcPct val="90000"/>
              </a:lnSpc>
              <a:spcBef>
                <a:spcPts val="2000"/>
              </a:spcBef>
              <a:spcAft>
                <a:spcPts val="0"/>
              </a:spcAft>
              <a:buSzPts val="5600"/>
              <a:buNone/>
              <a:defRPr sz="56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sp>
        <p:nvSpPr>
          <p:cNvPr id="118" name="Google Shape;118;g133e68395f5_0_400"/>
          <p:cNvSpPr/>
          <p:nvPr/>
        </p:nvSpPr>
        <p:spPr>
          <a:xfrm>
            <a:off x="1694799" y="350799"/>
            <a:ext cx="19866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9" name="Google Shape;119;g133e68395f5_0_400"/>
          <p:cNvSpPr/>
          <p:nvPr/>
        </p:nvSpPr>
        <p:spPr>
          <a:xfrm>
            <a:off x="321925" y="350799"/>
            <a:ext cx="1986600" cy="1340700"/>
          </a:xfrm>
          <a:prstGeom prst="parallelogram">
            <a:avLst>
              <a:gd fmla="val 45310" name="adj"/>
            </a:avLst>
          </a:prstGeom>
          <a:gradFill>
            <a:gsLst>
              <a:gs pos="0">
                <a:schemeClr val="dk2"/>
              </a:gs>
              <a:gs pos="65000">
                <a:schemeClr val="lt1"/>
              </a:gs>
              <a:gs pos="100000">
                <a:schemeClr val="l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0" name="Google Shape;120;g133e68395f5_0_400"/>
          <p:cNvSpPr/>
          <p:nvPr/>
        </p:nvSpPr>
        <p:spPr>
          <a:xfrm>
            <a:off x="3018638" y="350799"/>
            <a:ext cx="105672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1" name="Google Shape;121;g133e68395f5_0_400"/>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solidFill>
                  <a:schemeClr val="accent1"/>
                </a:solidFill>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type="obj">
  <p:cSld name="OBJECT">
    <p:spTree>
      <p:nvGrpSpPr>
        <p:cNvPr id="122" name="Shape 122"/>
        <p:cNvGrpSpPr/>
        <p:nvPr/>
      </p:nvGrpSpPr>
      <p:grpSpPr>
        <a:xfrm>
          <a:off x="0" y="0"/>
          <a:ext cx="0" cy="0"/>
          <a:chOff x="0" y="0"/>
          <a:chExt cx="0" cy="0"/>
        </a:xfrm>
      </p:grpSpPr>
      <p:sp>
        <p:nvSpPr>
          <p:cNvPr id="123" name="Google Shape;123;g133e68395f5_0_408"/>
          <p:cNvSpPr/>
          <p:nvPr/>
        </p:nvSpPr>
        <p:spPr>
          <a:xfrm>
            <a:off x="1694799" y="350799"/>
            <a:ext cx="1986600" cy="13407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4" name="Google Shape;124;g133e68395f5_0_408"/>
          <p:cNvSpPr/>
          <p:nvPr/>
        </p:nvSpPr>
        <p:spPr>
          <a:xfrm>
            <a:off x="321925" y="350799"/>
            <a:ext cx="1986600" cy="13407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25" name="Google Shape;125;g133e68395f5_0_408"/>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26" name="Google Shape;126;g133e68395f5_0_408"/>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27" name="Google Shape;127;g133e68395f5_0_408"/>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8" name="Google Shape;128;g133e68395f5_0_408"/>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29" name="Google Shape;129;g133e68395f5_0_408"/>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p:cSld name="TITLE_4_1_1">
    <p:bg>
      <p:bgPr>
        <a:solidFill>
          <a:schemeClr val="dk2"/>
        </a:solidFill>
      </p:bgPr>
    </p:bg>
    <p:spTree>
      <p:nvGrpSpPr>
        <p:cNvPr id="130" name="Shape 130"/>
        <p:cNvGrpSpPr/>
        <p:nvPr/>
      </p:nvGrpSpPr>
      <p:grpSpPr>
        <a:xfrm>
          <a:off x="0" y="0"/>
          <a:ext cx="0" cy="0"/>
          <a:chOff x="0" y="0"/>
          <a:chExt cx="0" cy="0"/>
        </a:xfrm>
      </p:grpSpPr>
      <p:pic>
        <p:nvPicPr>
          <p:cNvPr id="131" name="Google Shape;131;g133e68395f5_0_416"/>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grpSp>
        <p:nvGrpSpPr>
          <p:cNvPr id="132" name="Google Shape;132;g133e68395f5_0_416"/>
          <p:cNvGrpSpPr/>
          <p:nvPr/>
        </p:nvGrpSpPr>
        <p:grpSpPr>
          <a:xfrm>
            <a:off x="0" y="-205"/>
            <a:ext cx="10671505" cy="9466204"/>
            <a:chOff x="0" y="-126"/>
            <a:chExt cx="4554438" cy="5386482"/>
          </a:xfrm>
        </p:grpSpPr>
        <p:sp>
          <p:nvSpPr>
            <p:cNvPr id="133" name="Google Shape;133;g133e68395f5_0_416"/>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descr="Una caricatura de una ciudad&#10;&#10;Descripción generada automáticamente" id="134" name="Google Shape;134;g133e68395f5_0_416"/>
            <p:cNvPicPr preferRelativeResize="0"/>
            <p:nvPr/>
          </p:nvPicPr>
          <p:blipFill rotWithShape="1">
            <a:blip r:embed="rId3">
              <a:alphaModFix/>
            </a:blip>
            <a:srcRect b="0" l="9870" r="6482"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135" name="Google Shape;135;g133e68395f5_0_416"/>
          <p:cNvSpPr txBox="1"/>
          <p:nvPr>
            <p:ph type="title"/>
          </p:nvPr>
        </p:nvSpPr>
        <p:spPr>
          <a:xfrm>
            <a:off x="6605892" y="5732429"/>
            <a:ext cx="13182300" cy="2643900"/>
          </a:xfrm>
          <a:prstGeom prst="rect">
            <a:avLst/>
          </a:prstGeom>
          <a:solidFill>
            <a:srgbClr val="DE3075">
              <a:alpha val="62745"/>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dk2"/>
        </a:solidFill>
      </p:bgPr>
    </p:bg>
    <p:spTree>
      <p:nvGrpSpPr>
        <p:cNvPr id="136" name="Shape 136"/>
        <p:cNvGrpSpPr/>
        <p:nvPr/>
      </p:nvGrpSpPr>
      <p:grpSpPr>
        <a:xfrm>
          <a:off x="0" y="0"/>
          <a:ext cx="0" cy="0"/>
          <a:chOff x="0" y="0"/>
          <a:chExt cx="0" cy="0"/>
        </a:xfrm>
      </p:grpSpPr>
      <p:sp>
        <p:nvSpPr>
          <p:cNvPr id="137" name="Google Shape;137;g133e68395f5_0_394"/>
          <p:cNvSpPr/>
          <p:nvPr/>
        </p:nvSpPr>
        <p:spPr>
          <a:xfrm flipH="1">
            <a:off x="-6431" y="0"/>
            <a:ext cx="10185090" cy="1131570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chemeClr val="lt1"/>
              </a:buClr>
              <a:buSzPts val="3600"/>
              <a:buFont typeface="Calibri"/>
              <a:buNone/>
            </a:pPr>
            <a:r>
              <a:t/>
            </a:r>
            <a:endParaRPr b="0" i="0" sz="3600" u="none" cap="none" strike="noStrike">
              <a:solidFill>
                <a:srgbClr val="FFFFFF"/>
              </a:solidFill>
              <a:latin typeface="Calibri"/>
              <a:ea typeface="Calibri"/>
              <a:cs typeface="Calibri"/>
              <a:sym typeface="Calibri"/>
            </a:endParaRPr>
          </a:p>
        </p:txBody>
      </p:sp>
      <p:pic>
        <p:nvPicPr>
          <p:cNvPr id="138" name="Google Shape;138;g133e68395f5_0_394"/>
          <p:cNvPicPr preferRelativeResize="0"/>
          <p:nvPr/>
        </p:nvPicPr>
        <p:blipFill rotWithShape="1">
          <a:blip r:embed="rId2">
            <a:alphaModFix/>
          </a:blip>
          <a:srcRect b="0" l="0" r="0" t="0"/>
          <a:stretch/>
        </p:blipFill>
        <p:spPr>
          <a:xfrm>
            <a:off x="44" y="19720"/>
            <a:ext cx="9939854" cy="1128141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39" name="Google Shape;139;g133e68395f5_0_394"/>
          <p:cNvPicPr preferRelativeResize="0"/>
          <p:nvPr/>
        </p:nvPicPr>
        <p:blipFill rotWithShape="1">
          <a:blip r:embed="rId3">
            <a:alphaModFix/>
          </a:blip>
          <a:srcRect b="0" l="0" r="0" t="0"/>
          <a:stretch/>
        </p:blipFill>
        <p:spPr>
          <a:xfrm>
            <a:off x="11411062" y="350049"/>
            <a:ext cx="6181164" cy="966722"/>
          </a:xfrm>
          <a:prstGeom prst="rect">
            <a:avLst/>
          </a:prstGeom>
          <a:noFill/>
          <a:ln>
            <a:noFill/>
          </a:ln>
        </p:spPr>
      </p:pic>
      <p:sp>
        <p:nvSpPr>
          <p:cNvPr id="140" name="Google Shape;140;g133e68395f5_0_394"/>
          <p:cNvSpPr txBox="1"/>
          <p:nvPr>
            <p:ph idx="1" type="subTitle"/>
          </p:nvPr>
        </p:nvSpPr>
        <p:spPr>
          <a:xfrm>
            <a:off x="11619000" y="9269239"/>
            <a:ext cx="7923600" cy="1441200"/>
          </a:xfrm>
          <a:prstGeom prst="rect">
            <a:avLst/>
          </a:prstGeom>
          <a:solidFill>
            <a:srgbClr val="DE3075"/>
          </a:solidFill>
          <a:ln>
            <a:noFill/>
          </a:ln>
        </p:spPr>
        <p:txBody>
          <a:bodyPr anchorCtr="0" anchor="t" bIns="0" lIns="184250" spcFirstLastPara="1" rIns="368575" wrap="square" tIns="0">
            <a:noAutofit/>
          </a:bodyPr>
          <a:lstStyle>
            <a:lvl1pPr lvl="0" algn="r">
              <a:lnSpc>
                <a:spcPct val="90000"/>
              </a:lnSpc>
              <a:spcBef>
                <a:spcPts val="2000"/>
              </a:spcBef>
              <a:spcAft>
                <a:spcPts val="0"/>
              </a:spcAft>
              <a:buSzPts val="5600"/>
              <a:buNone/>
              <a:defRPr b="1" sz="9700">
                <a:solidFill>
                  <a:srgbClr val="FFFFFF"/>
                </a:solidFill>
                <a:latin typeface="Calibri"/>
                <a:ea typeface="Calibri"/>
                <a:cs typeface="Calibri"/>
                <a:sym typeface="Calibri"/>
              </a:defRPr>
            </a:lvl1pPr>
            <a:lvl2pPr lvl="1" algn="r">
              <a:lnSpc>
                <a:spcPct val="90000"/>
              </a:lnSpc>
              <a:spcBef>
                <a:spcPts val="2000"/>
              </a:spcBef>
              <a:spcAft>
                <a:spcPts val="0"/>
              </a:spcAft>
              <a:buSzPts val="4800"/>
              <a:buNone/>
              <a:defRPr b="1" sz="9700">
                <a:solidFill>
                  <a:srgbClr val="FFFFFF"/>
                </a:solidFill>
              </a:defRPr>
            </a:lvl2pPr>
            <a:lvl3pPr lvl="2" algn="r">
              <a:lnSpc>
                <a:spcPct val="90000"/>
              </a:lnSpc>
              <a:spcBef>
                <a:spcPts val="2000"/>
              </a:spcBef>
              <a:spcAft>
                <a:spcPts val="0"/>
              </a:spcAft>
              <a:buSzPts val="3600"/>
              <a:buNone/>
              <a:defRPr b="1" sz="9700">
                <a:solidFill>
                  <a:srgbClr val="FFFFFF"/>
                </a:solidFill>
              </a:defRPr>
            </a:lvl3pPr>
            <a:lvl4pPr lvl="3" algn="r">
              <a:lnSpc>
                <a:spcPct val="90000"/>
              </a:lnSpc>
              <a:spcBef>
                <a:spcPts val="2000"/>
              </a:spcBef>
              <a:spcAft>
                <a:spcPts val="0"/>
              </a:spcAft>
              <a:buSzPts val="3200"/>
              <a:buNone/>
              <a:defRPr b="1" sz="9700">
                <a:solidFill>
                  <a:srgbClr val="FFFFFF"/>
                </a:solidFill>
              </a:defRPr>
            </a:lvl4pPr>
            <a:lvl5pPr lvl="4" algn="r">
              <a:lnSpc>
                <a:spcPct val="90000"/>
              </a:lnSpc>
              <a:spcBef>
                <a:spcPts val="2000"/>
              </a:spcBef>
              <a:spcAft>
                <a:spcPts val="0"/>
              </a:spcAft>
              <a:buSzPts val="2800"/>
              <a:buNone/>
              <a:defRPr b="1" sz="9700">
                <a:solidFill>
                  <a:srgbClr val="FFFFFF"/>
                </a:solidFill>
              </a:defRPr>
            </a:lvl5pPr>
            <a:lvl6pPr lvl="5" algn="r">
              <a:lnSpc>
                <a:spcPct val="90000"/>
              </a:lnSpc>
              <a:spcBef>
                <a:spcPts val="2000"/>
              </a:spcBef>
              <a:spcAft>
                <a:spcPts val="0"/>
              </a:spcAft>
              <a:buSzPts val="2400"/>
              <a:buNone/>
              <a:defRPr b="1" sz="9700">
                <a:solidFill>
                  <a:srgbClr val="FFFFFF"/>
                </a:solidFill>
              </a:defRPr>
            </a:lvl6pPr>
            <a:lvl7pPr lvl="6" algn="r">
              <a:lnSpc>
                <a:spcPct val="90000"/>
              </a:lnSpc>
              <a:spcBef>
                <a:spcPts val="2000"/>
              </a:spcBef>
              <a:spcAft>
                <a:spcPts val="0"/>
              </a:spcAft>
              <a:buSzPts val="2000"/>
              <a:buNone/>
              <a:defRPr b="1" sz="9700">
                <a:solidFill>
                  <a:srgbClr val="FFFFFF"/>
                </a:solidFill>
              </a:defRPr>
            </a:lvl7pPr>
            <a:lvl8pPr lvl="7" algn="r">
              <a:lnSpc>
                <a:spcPct val="90000"/>
              </a:lnSpc>
              <a:spcBef>
                <a:spcPts val="2000"/>
              </a:spcBef>
              <a:spcAft>
                <a:spcPts val="0"/>
              </a:spcAft>
              <a:buSzPts val="1600"/>
              <a:buNone/>
              <a:defRPr b="1" sz="9700">
                <a:solidFill>
                  <a:srgbClr val="FFFFFF"/>
                </a:solidFill>
              </a:defRPr>
            </a:lvl8pPr>
            <a:lvl9pPr lvl="8" algn="r">
              <a:lnSpc>
                <a:spcPct val="90000"/>
              </a:lnSpc>
              <a:spcBef>
                <a:spcPts val="2000"/>
              </a:spcBef>
              <a:spcAft>
                <a:spcPts val="0"/>
              </a:spcAft>
              <a:buSzPts val="1200"/>
              <a:buNone/>
              <a:defRPr b="1" sz="9700">
                <a:solidFill>
                  <a:srgbClr val="FFFFFF"/>
                </a:solidFill>
              </a:defRPr>
            </a:lvl9pPr>
          </a:lstStyle>
          <a:p/>
        </p:txBody>
      </p:sp>
      <p:sp>
        <p:nvSpPr>
          <p:cNvPr id="141" name="Google Shape;141;g133e68395f5_0_394"/>
          <p:cNvSpPr txBox="1"/>
          <p:nvPr>
            <p:ph type="title"/>
          </p:nvPr>
        </p:nvSpPr>
        <p:spPr>
          <a:xfrm>
            <a:off x="8780758" y="4102402"/>
            <a:ext cx="10761900" cy="4767600"/>
          </a:xfrm>
          <a:prstGeom prst="rect">
            <a:avLst/>
          </a:prstGeom>
          <a:noFill/>
          <a:ln>
            <a:noFill/>
          </a:ln>
        </p:spPr>
        <p:txBody>
          <a:bodyPr anchorCtr="0" anchor="b" bIns="92100" lIns="184250" spcFirstLastPara="1" rIns="184250" wrap="square" tIns="92100">
            <a:noAutofit/>
          </a:bodyPr>
          <a:lstStyle>
            <a:lvl1pPr lvl="0" algn="r">
              <a:lnSpc>
                <a:spcPct val="90000"/>
              </a:lnSpc>
              <a:spcBef>
                <a:spcPts val="0"/>
              </a:spcBef>
              <a:spcAft>
                <a:spcPts val="0"/>
              </a:spcAft>
              <a:buSzPts val="6000"/>
              <a:buNone/>
              <a:defRPr sz="13300">
                <a:latin typeface="Calibri"/>
                <a:ea typeface="Calibri"/>
                <a:cs typeface="Calibri"/>
                <a:sym typeface="Calibri"/>
              </a:defRPr>
            </a:lvl1pPr>
            <a:lvl2pPr lvl="1" algn="r">
              <a:lnSpc>
                <a:spcPct val="100000"/>
              </a:lnSpc>
              <a:spcBef>
                <a:spcPts val="0"/>
              </a:spcBef>
              <a:spcAft>
                <a:spcPts val="0"/>
              </a:spcAft>
              <a:buSzPts val="6000"/>
              <a:buNone/>
              <a:defRPr sz="11300"/>
            </a:lvl2pPr>
            <a:lvl3pPr lvl="2" algn="r">
              <a:lnSpc>
                <a:spcPct val="100000"/>
              </a:lnSpc>
              <a:spcBef>
                <a:spcPts val="0"/>
              </a:spcBef>
              <a:spcAft>
                <a:spcPts val="0"/>
              </a:spcAft>
              <a:buSzPts val="6000"/>
              <a:buNone/>
              <a:defRPr sz="11300"/>
            </a:lvl3pPr>
            <a:lvl4pPr lvl="3" algn="r">
              <a:lnSpc>
                <a:spcPct val="100000"/>
              </a:lnSpc>
              <a:spcBef>
                <a:spcPts val="0"/>
              </a:spcBef>
              <a:spcAft>
                <a:spcPts val="0"/>
              </a:spcAft>
              <a:buSzPts val="6000"/>
              <a:buNone/>
              <a:defRPr sz="11300"/>
            </a:lvl4pPr>
            <a:lvl5pPr lvl="4" algn="r">
              <a:lnSpc>
                <a:spcPct val="100000"/>
              </a:lnSpc>
              <a:spcBef>
                <a:spcPts val="0"/>
              </a:spcBef>
              <a:spcAft>
                <a:spcPts val="0"/>
              </a:spcAft>
              <a:buSzPts val="6000"/>
              <a:buNone/>
              <a:defRPr sz="11300"/>
            </a:lvl5pPr>
            <a:lvl6pPr lvl="5" algn="r">
              <a:lnSpc>
                <a:spcPct val="100000"/>
              </a:lnSpc>
              <a:spcBef>
                <a:spcPts val="0"/>
              </a:spcBef>
              <a:spcAft>
                <a:spcPts val="0"/>
              </a:spcAft>
              <a:buSzPts val="6000"/>
              <a:buNone/>
              <a:defRPr sz="11300"/>
            </a:lvl6pPr>
            <a:lvl7pPr lvl="6" algn="r">
              <a:lnSpc>
                <a:spcPct val="100000"/>
              </a:lnSpc>
              <a:spcBef>
                <a:spcPts val="0"/>
              </a:spcBef>
              <a:spcAft>
                <a:spcPts val="0"/>
              </a:spcAft>
              <a:buSzPts val="6000"/>
              <a:buNone/>
              <a:defRPr sz="11300"/>
            </a:lvl7pPr>
            <a:lvl8pPr lvl="7" algn="r">
              <a:lnSpc>
                <a:spcPct val="100000"/>
              </a:lnSpc>
              <a:spcBef>
                <a:spcPts val="0"/>
              </a:spcBef>
              <a:spcAft>
                <a:spcPts val="0"/>
              </a:spcAft>
              <a:buSzPts val="6000"/>
              <a:buNone/>
              <a:defRPr sz="11300"/>
            </a:lvl8pPr>
            <a:lvl9pPr lvl="8" algn="r">
              <a:lnSpc>
                <a:spcPct val="100000"/>
              </a:lnSpc>
              <a:spcBef>
                <a:spcPts val="0"/>
              </a:spcBef>
              <a:spcAft>
                <a:spcPts val="0"/>
              </a:spcAft>
              <a:buSzPts val="6000"/>
              <a:buNone/>
              <a:defRPr sz="113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0">
  <p:cSld name="TITLE_3_4_1">
    <p:bg>
      <p:bgPr>
        <a:solidFill>
          <a:srgbClr val="733814"/>
        </a:solidFill>
      </p:bgPr>
    </p:bg>
    <p:spTree>
      <p:nvGrpSpPr>
        <p:cNvPr id="142" name="Shape 142"/>
        <p:cNvGrpSpPr/>
        <p:nvPr/>
      </p:nvGrpSpPr>
      <p:grpSpPr>
        <a:xfrm>
          <a:off x="0" y="0"/>
          <a:ext cx="0" cy="0"/>
          <a:chOff x="0" y="0"/>
          <a:chExt cx="0" cy="0"/>
        </a:xfrm>
      </p:grpSpPr>
      <p:sp>
        <p:nvSpPr>
          <p:cNvPr id="143" name="Google Shape;143;g133e68395f5_0_430"/>
          <p:cNvSpPr/>
          <p:nvPr/>
        </p:nvSpPr>
        <p:spPr>
          <a:xfrm flipH="1" rot="10800000">
            <a:off x="0" y="-226"/>
            <a:ext cx="10671939" cy="9466184"/>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id="144" name="Google Shape;144;g133e68395f5_0_430"/>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pic>
        <p:nvPicPr>
          <p:cNvPr descr="Imagen que contiene persona, foto, hombre, mujer&#10;&#10;Descripción generada automáticamente" id="145" name="Google Shape;145;g133e68395f5_0_430"/>
          <p:cNvPicPr preferRelativeResize="0"/>
          <p:nvPr/>
        </p:nvPicPr>
        <p:blipFill rotWithShape="1">
          <a:blip r:embed="rId3">
            <a:alphaModFix/>
          </a:blip>
          <a:srcRect b="0" l="0" r="16349" t="0"/>
          <a:stretch/>
        </p:blipFill>
        <p:spPr>
          <a:xfrm>
            <a:off x="2" y="16"/>
            <a:ext cx="7773261" cy="9222784"/>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46" name="Google Shape;146;g133e68395f5_0_430"/>
          <p:cNvSpPr txBox="1"/>
          <p:nvPr>
            <p:ph type="title"/>
          </p:nvPr>
        </p:nvSpPr>
        <p:spPr>
          <a:xfrm>
            <a:off x="6605892" y="5732429"/>
            <a:ext cx="13182300" cy="2643900"/>
          </a:xfrm>
          <a:prstGeom prst="rect">
            <a:avLst/>
          </a:prstGeom>
          <a:solidFill>
            <a:srgbClr val="898B90">
              <a:alpha val="67450"/>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_1_1_1_4">
    <p:spTree>
      <p:nvGrpSpPr>
        <p:cNvPr id="147" name="Shape 147"/>
        <p:cNvGrpSpPr/>
        <p:nvPr/>
      </p:nvGrpSpPr>
      <p:grpSpPr>
        <a:xfrm>
          <a:off x="0" y="0"/>
          <a:ext cx="0" cy="0"/>
          <a:chOff x="0" y="0"/>
          <a:chExt cx="0" cy="0"/>
        </a:xfrm>
      </p:grpSpPr>
      <p:sp>
        <p:nvSpPr>
          <p:cNvPr id="148" name="Google Shape;148;g133e68395f5_0_435"/>
          <p:cNvSpPr/>
          <p:nvPr/>
        </p:nvSpPr>
        <p:spPr>
          <a:xfrm>
            <a:off x="1694799" y="350799"/>
            <a:ext cx="1986600" cy="1340700"/>
          </a:xfrm>
          <a:prstGeom prst="parallelogram">
            <a:avLst>
              <a:gd fmla="val 45310" name="adj"/>
            </a:avLst>
          </a:prstGeom>
          <a:solidFill>
            <a:srgbClr val="733814"/>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9" name="Google Shape;149;g133e68395f5_0_435"/>
          <p:cNvSpPr/>
          <p:nvPr/>
        </p:nvSpPr>
        <p:spPr>
          <a:xfrm>
            <a:off x="321925" y="350799"/>
            <a:ext cx="1986600" cy="1340700"/>
          </a:xfrm>
          <a:prstGeom prst="parallelogram">
            <a:avLst>
              <a:gd fmla="val 45310" name="adj"/>
            </a:avLst>
          </a:prstGeom>
          <a:gradFill>
            <a:gsLst>
              <a:gs pos="0">
                <a:srgbClr val="FFFFFF"/>
              </a:gs>
              <a:gs pos="65000">
                <a:srgbClr val="733814"/>
              </a:gs>
              <a:gs pos="100000">
                <a:srgbClr val="733814"/>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50" name="Google Shape;150;g133e68395f5_0_435"/>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51" name="Google Shape;151;g133e68395f5_0_435"/>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52" name="Google Shape;152;g133e68395f5_0_435"/>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53" name="Google Shape;153;g133e68395f5_0_435"/>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54" name="Google Shape;154;g133e68395f5_0_435"/>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5" name="Shape 155"/>
        <p:cNvGrpSpPr/>
        <p:nvPr/>
      </p:nvGrpSpPr>
      <p:grpSpPr>
        <a:xfrm>
          <a:off x="0" y="0"/>
          <a:ext cx="0" cy="0"/>
          <a:chOff x="0" y="0"/>
          <a:chExt cx="0" cy="0"/>
        </a:xfrm>
      </p:grpSpPr>
      <p:sp>
        <p:nvSpPr>
          <p:cNvPr id="156" name="Google Shape;156;g133e68395f5_0_443"/>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5" name="Shape 16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6" name="Shape 166"/>
        <p:cNvGrpSpPr/>
        <p:nvPr/>
      </p:nvGrpSpPr>
      <p:grpSpPr>
        <a:xfrm>
          <a:off x="0" y="0"/>
          <a:ext cx="0" cy="0"/>
          <a:chOff x="0" y="0"/>
          <a:chExt cx="0" cy="0"/>
        </a:xfrm>
      </p:grpSpPr>
      <p:sp>
        <p:nvSpPr>
          <p:cNvPr id="167" name="Google Shape;167;g13547584bed_0_431"/>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68" name="Google Shape;168;g13547584bed_0_431"/>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9" name="Shape 169"/>
        <p:cNvGrpSpPr/>
        <p:nvPr/>
      </p:nvGrpSpPr>
      <p:grpSpPr>
        <a:xfrm>
          <a:off x="0" y="0"/>
          <a:ext cx="0" cy="0"/>
          <a:chOff x="0" y="0"/>
          <a:chExt cx="0" cy="0"/>
        </a:xfrm>
      </p:grpSpPr>
      <p:sp>
        <p:nvSpPr>
          <p:cNvPr id="170" name="Google Shape;170;g13547584bed_0_434"/>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1" name="Google Shape;171;g13547584bed_0_434"/>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2" name="Shape 172"/>
        <p:cNvGrpSpPr/>
        <p:nvPr/>
      </p:nvGrpSpPr>
      <p:grpSpPr>
        <a:xfrm>
          <a:off x="0" y="0"/>
          <a:ext cx="0" cy="0"/>
          <a:chOff x="0" y="0"/>
          <a:chExt cx="0" cy="0"/>
        </a:xfrm>
      </p:grpSpPr>
      <p:sp>
        <p:nvSpPr>
          <p:cNvPr id="173" name="Google Shape;173;g13547584bed_0_437"/>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4" name="Google Shape;174;g13547584bed_0_437"/>
          <p:cNvSpPr txBox="1"/>
          <p:nvPr>
            <p:ph idx="1" type="body"/>
          </p:nvPr>
        </p:nvSpPr>
        <p:spPr>
          <a:xfrm>
            <a:off x="646655"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75" name="Google Shape;175;g13547584bed_0_437"/>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 name="Shape 176"/>
        <p:cNvGrpSpPr/>
        <p:nvPr/>
      </p:nvGrpSpPr>
      <p:grpSpPr>
        <a:xfrm>
          <a:off x="0" y="0"/>
          <a:ext cx="0" cy="0"/>
          <a:chOff x="0" y="0"/>
          <a:chExt cx="0" cy="0"/>
        </a:xfrm>
      </p:grpSpPr>
      <p:sp>
        <p:nvSpPr>
          <p:cNvPr id="177" name="Google Shape;177;g13547584bed_0_441"/>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78" name="Shape 178"/>
        <p:cNvGrpSpPr/>
        <p:nvPr/>
      </p:nvGrpSpPr>
      <p:grpSpPr>
        <a:xfrm>
          <a:off x="0" y="0"/>
          <a:ext cx="0" cy="0"/>
          <a:chOff x="0" y="0"/>
          <a:chExt cx="0" cy="0"/>
        </a:xfrm>
      </p:grpSpPr>
      <p:sp>
        <p:nvSpPr>
          <p:cNvPr id="179" name="Google Shape;179;g13547584bed_0_443"/>
          <p:cNvSpPr txBox="1"/>
          <p:nvPr>
            <p:ph idx="1" type="subTitle"/>
          </p:nvPr>
        </p:nvSpPr>
        <p:spPr>
          <a:xfrm>
            <a:off x="3877559"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0" name="Shape 180"/>
        <p:cNvGrpSpPr/>
        <p:nvPr/>
      </p:nvGrpSpPr>
      <p:grpSpPr>
        <a:xfrm>
          <a:off x="0" y="0"/>
          <a:ext cx="0" cy="0"/>
          <a:chOff x="0" y="0"/>
          <a:chExt cx="0" cy="0"/>
        </a:xfrm>
      </p:grpSpPr>
      <p:sp>
        <p:nvSpPr>
          <p:cNvPr id="181" name="Google Shape;181;g13547584bed_0_445"/>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2" name="Google Shape;182;g13547584bed_0_445"/>
          <p:cNvSpPr txBox="1"/>
          <p:nvPr>
            <p:ph idx="1" type="body"/>
          </p:nvPr>
        </p:nvSpPr>
        <p:spPr>
          <a:xfrm>
            <a:off x="646655"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3" name="Google Shape;183;g13547584bed_0_445"/>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4" name="Google Shape;184;g13547584bed_0_445"/>
          <p:cNvSpPr txBox="1"/>
          <p:nvPr>
            <p:ph idx="3" type="body"/>
          </p:nvPr>
        </p:nvSpPr>
        <p:spPr>
          <a:xfrm>
            <a:off x="646655"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85" name="Shape 185"/>
        <p:cNvGrpSpPr/>
        <p:nvPr/>
      </p:nvGrpSpPr>
      <p:grpSpPr>
        <a:xfrm>
          <a:off x="0" y="0"/>
          <a:ext cx="0" cy="0"/>
          <a:chOff x="0" y="0"/>
          <a:chExt cx="0" cy="0"/>
        </a:xfrm>
      </p:grpSpPr>
      <p:sp>
        <p:nvSpPr>
          <p:cNvPr id="186" name="Google Shape;186;g13547584bed_0_450"/>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7" name="Google Shape;187;g13547584bed_0_450"/>
          <p:cNvSpPr txBox="1"/>
          <p:nvPr>
            <p:ph idx="1" type="body"/>
          </p:nvPr>
        </p:nvSpPr>
        <p:spPr>
          <a:xfrm>
            <a:off x="646655"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8" name="Google Shape;188;g13547584bed_0_450"/>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9" name="Google Shape;189;g13547584bed_0_450"/>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0" name="Shape 190"/>
        <p:cNvGrpSpPr/>
        <p:nvPr/>
      </p:nvGrpSpPr>
      <p:grpSpPr>
        <a:xfrm>
          <a:off x="0" y="0"/>
          <a:ext cx="0" cy="0"/>
          <a:chOff x="0" y="0"/>
          <a:chExt cx="0" cy="0"/>
        </a:xfrm>
      </p:grpSpPr>
      <p:sp>
        <p:nvSpPr>
          <p:cNvPr id="191" name="Google Shape;191;g13547584bed_0_455"/>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92" name="Google Shape;192;g13547584bed_0_455"/>
          <p:cNvSpPr txBox="1"/>
          <p:nvPr>
            <p:ph idx="1" type="body"/>
          </p:nvPr>
        </p:nvSpPr>
        <p:spPr>
          <a:xfrm>
            <a:off x="646655"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3" name="Google Shape;193;g13547584bed_0_455"/>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4" name="Google Shape;194;g13547584bed_0_455"/>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95" name="Shape 195"/>
        <p:cNvGrpSpPr/>
        <p:nvPr/>
      </p:nvGrpSpPr>
      <p:grpSpPr>
        <a:xfrm>
          <a:off x="0" y="0"/>
          <a:ext cx="0" cy="0"/>
          <a:chOff x="0" y="0"/>
          <a:chExt cx="0" cy="0"/>
        </a:xfrm>
      </p:grpSpPr>
      <p:sp>
        <p:nvSpPr>
          <p:cNvPr id="196" name="Google Shape;196;g13547584bed_0_460"/>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97" name="Google Shape;197;g13547584bed_0_460"/>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8" name="Google Shape;198;g13547584bed_0_460"/>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99" name="Shape 199"/>
        <p:cNvGrpSpPr/>
        <p:nvPr/>
      </p:nvGrpSpPr>
      <p:grpSpPr>
        <a:xfrm>
          <a:off x="0" y="0"/>
          <a:ext cx="0" cy="0"/>
          <a:chOff x="0" y="0"/>
          <a:chExt cx="0" cy="0"/>
        </a:xfrm>
      </p:grpSpPr>
      <p:sp>
        <p:nvSpPr>
          <p:cNvPr id="200" name="Google Shape;200;g13547584bed_0_464"/>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1" name="Google Shape;201;g13547584bed_0_464"/>
          <p:cNvSpPr txBox="1"/>
          <p:nvPr>
            <p:ph idx="1" type="body"/>
          </p:nvPr>
        </p:nvSpPr>
        <p:spPr>
          <a:xfrm>
            <a:off x="646655"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2" name="Google Shape;202;g13547584bed_0_464"/>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3" name="Google Shape;203;g13547584bed_0_464"/>
          <p:cNvSpPr txBox="1"/>
          <p:nvPr>
            <p:ph idx="3" type="body"/>
          </p:nvPr>
        </p:nvSpPr>
        <p:spPr>
          <a:xfrm>
            <a:off x="646655"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4" name="Google Shape;204;g13547584bed_0_464"/>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05" name="Shape 205"/>
        <p:cNvGrpSpPr/>
        <p:nvPr/>
      </p:nvGrpSpPr>
      <p:grpSpPr>
        <a:xfrm>
          <a:off x="0" y="0"/>
          <a:ext cx="0" cy="0"/>
          <a:chOff x="0" y="0"/>
          <a:chExt cx="0" cy="0"/>
        </a:xfrm>
      </p:grpSpPr>
      <p:sp>
        <p:nvSpPr>
          <p:cNvPr id="206" name="Google Shape;206;g13547584bed_0_470"/>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7" name="Google Shape;207;g13547584bed_0_470"/>
          <p:cNvSpPr txBox="1"/>
          <p:nvPr>
            <p:ph idx="1" type="body"/>
          </p:nvPr>
        </p:nvSpPr>
        <p:spPr>
          <a:xfrm>
            <a:off x="646655"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8" name="Google Shape;208;g13547584bed_0_470"/>
          <p:cNvSpPr txBox="1"/>
          <p:nvPr>
            <p:ph idx="2" type="body"/>
          </p:nvPr>
        </p:nvSpPr>
        <p:spPr>
          <a:xfrm>
            <a:off x="7007150"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9" name="Google Shape;209;g13547584bed_0_470"/>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0" name="Google Shape;210;g13547584bed_0_470"/>
          <p:cNvSpPr txBox="1"/>
          <p:nvPr>
            <p:ph idx="4" type="body"/>
          </p:nvPr>
        </p:nvSpPr>
        <p:spPr>
          <a:xfrm>
            <a:off x="646655"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1" name="Google Shape;211;g13547584bed_0_470"/>
          <p:cNvSpPr txBox="1"/>
          <p:nvPr>
            <p:ph idx="5" type="body"/>
          </p:nvPr>
        </p:nvSpPr>
        <p:spPr>
          <a:xfrm>
            <a:off x="7007150"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2" name="Google Shape;212;g13547584bed_0_470"/>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theme" Target="../theme/theme2.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image" Target="../media/image24.jp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1.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g133e68395f5_0_390"/>
          <p:cNvSpPr txBox="1"/>
          <p:nvPr>
            <p:ph idx="1" type="body"/>
          </p:nvPr>
        </p:nvSpPr>
        <p:spPr>
          <a:xfrm>
            <a:off x="646721" y="2009562"/>
            <a:ext cx="18810600" cy="8472600"/>
          </a:xfrm>
          <a:prstGeom prst="rect">
            <a:avLst/>
          </a:prstGeom>
          <a:noFill/>
          <a:ln>
            <a:noFill/>
          </a:ln>
        </p:spPr>
        <p:txBody>
          <a:bodyPr anchorCtr="0" anchor="t" bIns="92100" lIns="181400" spcFirstLastPara="1" rIns="184250" wrap="square" tIns="92100">
            <a:noAutofit/>
          </a:bodyPr>
          <a:lstStyle>
            <a:lvl1pPr indent="-584200" lvl="0" marL="457200" marR="0" rtl="0" algn="l">
              <a:lnSpc>
                <a:spcPct val="90000"/>
              </a:lnSpc>
              <a:spcBef>
                <a:spcPts val="2000"/>
              </a:spcBef>
              <a:spcAft>
                <a:spcPts val="0"/>
              </a:spcAft>
              <a:buClr>
                <a:srgbClr val="DE3075"/>
              </a:buClr>
              <a:buSzPts val="5600"/>
              <a:buFont typeface="Franklin Gothic"/>
              <a:buChar char="»"/>
              <a:defRPr b="0" i="0" sz="4800" u="none" cap="none" strike="noStrike">
                <a:solidFill>
                  <a:srgbClr val="818990"/>
                </a:solidFill>
                <a:latin typeface="Franklin Gothic"/>
                <a:ea typeface="Franklin Gothic"/>
                <a:cs typeface="Franklin Gothic"/>
                <a:sym typeface="Franklin Gothic"/>
              </a:defRPr>
            </a:lvl1pPr>
            <a:lvl2pPr indent="-533400" lvl="1" marL="914400" marR="0" rtl="0" algn="l">
              <a:lnSpc>
                <a:spcPct val="90000"/>
              </a:lnSpc>
              <a:spcBef>
                <a:spcPts val="1000"/>
              </a:spcBef>
              <a:spcAft>
                <a:spcPts val="0"/>
              </a:spcAft>
              <a:buClr>
                <a:schemeClr val="accent2"/>
              </a:buClr>
              <a:buSzPts val="4800"/>
              <a:buFont typeface="Franklin Gothic"/>
              <a:buChar char="•"/>
              <a:defRPr b="0" i="0" sz="4000" u="none" cap="none" strike="noStrike">
                <a:solidFill>
                  <a:srgbClr val="818990"/>
                </a:solidFill>
                <a:latin typeface="Franklin Gothic"/>
                <a:ea typeface="Franklin Gothic"/>
                <a:cs typeface="Franklin Gothic"/>
                <a:sym typeface="Franklin Gothic"/>
              </a:defRPr>
            </a:lvl2pPr>
            <a:lvl3pPr indent="-457200" lvl="2" marL="1371600" marR="0" rtl="0" algn="l">
              <a:lnSpc>
                <a:spcPct val="90000"/>
              </a:lnSpc>
              <a:spcBef>
                <a:spcPts val="1000"/>
              </a:spcBef>
              <a:spcAft>
                <a:spcPts val="0"/>
              </a:spcAft>
              <a:buClr>
                <a:schemeClr val="dk2"/>
              </a:buClr>
              <a:buSzPts val="3600"/>
              <a:buFont typeface="Franklin Gothic"/>
              <a:buChar char="○"/>
              <a:defRPr b="0" i="0" sz="3600" u="none" cap="none" strike="noStrike">
                <a:solidFill>
                  <a:schemeClr val="dk2"/>
                </a:solidFill>
                <a:latin typeface="Franklin Gothic"/>
                <a:ea typeface="Franklin Gothic"/>
                <a:cs typeface="Franklin Gothic"/>
                <a:sym typeface="Franklin Gothic"/>
              </a:defRPr>
            </a:lvl3pPr>
            <a:lvl4pPr indent="-431800" lvl="3" marL="1828800" marR="0" rtl="0" algn="l">
              <a:lnSpc>
                <a:spcPct val="90000"/>
              </a:lnSpc>
              <a:spcBef>
                <a:spcPts val="1000"/>
              </a:spcBef>
              <a:spcAft>
                <a:spcPts val="0"/>
              </a:spcAft>
              <a:buClr>
                <a:schemeClr val="dk2"/>
              </a:buClr>
              <a:buSzPts val="3200"/>
              <a:buFont typeface="Franklin Gothic"/>
              <a:buChar char="•"/>
              <a:defRPr b="0" i="0" sz="3200" u="none" cap="none" strike="noStrike">
                <a:solidFill>
                  <a:schemeClr val="dk2"/>
                </a:solidFill>
                <a:latin typeface="Franklin Gothic"/>
                <a:ea typeface="Franklin Gothic"/>
                <a:cs typeface="Franklin Gothic"/>
                <a:sym typeface="Franklin Gothic"/>
              </a:defRPr>
            </a:lvl4pPr>
            <a:lvl5pPr indent="-406400" lvl="4" marL="2286000" marR="0" rtl="0" algn="l">
              <a:lnSpc>
                <a:spcPct val="90000"/>
              </a:lnSpc>
              <a:spcBef>
                <a:spcPts val="1000"/>
              </a:spcBef>
              <a:spcAft>
                <a:spcPts val="0"/>
              </a:spcAft>
              <a:buClr>
                <a:schemeClr val="dk2"/>
              </a:buClr>
              <a:buSzPts val="2800"/>
              <a:buFont typeface="Franklin Gothic"/>
              <a:buChar char="•"/>
              <a:defRPr b="0" i="0" sz="2800" u="none" cap="none" strike="noStrike">
                <a:solidFill>
                  <a:schemeClr val="dk2"/>
                </a:solidFill>
                <a:latin typeface="Franklin Gothic"/>
                <a:ea typeface="Franklin Gothic"/>
                <a:cs typeface="Franklin Gothic"/>
                <a:sym typeface="Franklin Gothic"/>
              </a:defRPr>
            </a:lvl5pPr>
            <a:lvl6pPr indent="-381000" lvl="5" marL="2743200" marR="0" rtl="0" algn="l">
              <a:lnSpc>
                <a:spcPct val="90000"/>
              </a:lnSpc>
              <a:spcBef>
                <a:spcPts val="1000"/>
              </a:spcBef>
              <a:spcAft>
                <a:spcPts val="0"/>
              </a:spcAft>
              <a:buClr>
                <a:schemeClr val="dk2"/>
              </a:buClr>
              <a:buSzPts val="2400"/>
              <a:buFont typeface="Franklin Gothic"/>
              <a:buChar char="•"/>
              <a:defRPr b="0" i="0" sz="2400" u="none" cap="none" strike="noStrike">
                <a:solidFill>
                  <a:schemeClr val="dk2"/>
                </a:solidFill>
                <a:latin typeface="Franklin Gothic"/>
                <a:ea typeface="Franklin Gothic"/>
                <a:cs typeface="Franklin Gothic"/>
                <a:sym typeface="Franklin Gothic"/>
              </a:defRPr>
            </a:lvl6pPr>
            <a:lvl7pPr indent="-355600" lvl="6" marL="3200400" marR="0" rtl="0" algn="l">
              <a:lnSpc>
                <a:spcPct val="90000"/>
              </a:lnSpc>
              <a:spcBef>
                <a:spcPts val="1000"/>
              </a:spcBef>
              <a:spcAft>
                <a:spcPts val="0"/>
              </a:spcAft>
              <a:buClr>
                <a:schemeClr val="dk2"/>
              </a:buClr>
              <a:buSzPts val="2000"/>
              <a:buFont typeface="Franklin Gothic"/>
              <a:buChar char="•"/>
              <a:defRPr b="0" i="0" sz="2000" u="none" cap="none" strike="noStrike">
                <a:solidFill>
                  <a:schemeClr val="dk2"/>
                </a:solidFill>
                <a:latin typeface="Franklin Gothic"/>
                <a:ea typeface="Franklin Gothic"/>
                <a:cs typeface="Franklin Gothic"/>
                <a:sym typeface="Franklin Gothic"/>
              </a:defRPr>
            </a:lvl7pPr>
            <a:lvl8pPr indent="-330200" lvl="7" marL="3657600" marR="0" rtl="0" algn="l">
              <a:lnSpc>
                <a:spcPct val="90000"/>
              </a:lnSpc>
              <a:spcBef>
                <a:spcPts val="1000"/>
              </a:spcBef>
              <a:spcAft>
                <a:spcPts val="0"/>
              </a:spcAft>
              <a:buClr>
                <a:schemeClr val="dk2"/>
              </a:buClr>
              <a:buSzPts val="1600"/>
              <a:buFont typeface="Franklin Gothic"/>
              <a:buChar char="•"/>
              <a:defRPr b="0" i="0" sz="1600" u="none" cap="none" strike="noStrike">
                <a:solidFill>
                  <a:schemeClr val="dk2"/>
                </a:solidFill>
                <a:latin typeface="Franklin Gothic"/>
                <a:ea typeface="Franklin Gothic"/>
                <a:cs typeface="Franklin Gothic"/>
                <a:sym typeface="Franklin Gothic"/>
              </a:defRPr>
            </a:lvl8pPr>
            <a:lvl9pPr indent="-304800" lvl="8" marL="4114800" marR="0" rtl="0" algn="l">
              <a:lnSpc>
                <a:spcPct val="90000"/>
              </a:lnSpc>
              <a:spcBef>
                <a:spcPts val="1000"/>
              </a:spcBef>
              <a:spcAft>
                <a:spcPts val="0"/>
              </a:spcAft>
              <a:buClr>
                <a:schemeClr val="dk2"/>
              </a:buClr>
              <a:buSzPts val="1200"/>
              <a:buFont typeface="Franklin Gothic"/>
              <a:buChar char="•"/>
              <a:defRPr b="0" i="0" sz="1200" u="none" cap="none" strike="noStrike">
                <a:solidFill>
                  <a:schemeClr val="dk2"/>
                </a:solidFill>
                <a:latin typeface="Franklin Gothic"/>
                <a:ea typeface="Franklin Gothic"/>
                <a:cs typeface="Franklin Gothic"/>
                <a:sym typeface="Franklin Gothic"/>
              </a:defRPr>
            </a:lvl9pPr>
          </a:lstStyle>
          <a:p/>
        </p:txBody>
      </p:sp>
      <p:sp>
        <p:nvSpPr>
          <p:cNvPr id="104" name="Google Shape;104;g133e68395f5_0_390"/>
          <p:cNvSpPr txBox="1"/>
          <p:nvPr>
            <p:ph idx="12" type="sldNum"/>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
        <p:nvSpPr>
          <p:cNvPr id="105" name="Google Shape;105;g133e68395f5_0_390"/>
          <p:cNvSpPr txBox="1"/>
          <p:nvPr>
            <p:ph type="title"/>
          </p:nvPr>
        </p:nvSpPr>
        <p:spPr>
          <a:xfrm>
            <a:off x="3877690" y="350799"/>
            <a:ext cx="14844600" cy="1340700"/>
          </a:xfrm>
          <a:prstGeom prst="rect">
            <a:avLst/>
          </a:prstGeom>
          <a:noFill/>
          <a:ln>
            <a:noFill/>
          </a:ln>
        </p:spPr>
        <p:txBody>
          <a:bodyPr anchorCtr="0" anchor="t" bIns="92100" lIns="184250" spcFirstLastPara="1" rIns="184250" wrap="square" tIns="92100">
            <a:noAutofit/>
          </a:bodyPr>
          <a:lstStyle>
            <a:lvl1pPr lvl="0" marR="0" rtl="0" algn="l">
              <a:lnSpc>
                <a:spcPct val="9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g13547584bed_0_422"/>
          <p:cNvSpPr/>
          <p:nvPr/>
        </p:nvSpPr>
        <p:spPr>
          <a:xfrm>
            <a:off x="1694602" y="350857"/>
            <a:ext cx="1986000" cy="1339800"/>
          </a:xfrm>
          <a:prstGeom prst="parallelogram">
            <a:avLst>
              <a:gd fmla="val 45310" name="adj"/>
            </a:avLst>
          </a:prstGeom>
          <a:solidFill>
            <a:srgbClr val="BED60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9" name="Google Shape;159;g13547584bed_0_422"/>
          <p:cNvSpPr/>
          <p:nvPr/>
        </p:nvSpPr>
        <p:spPr>
          <a:xfrm>
            <a:off x="322140" y="350857"/>
            <a:ext cx="1986000" cy="1339800"/>
          </a:xfrm>
          <a:prstGeom prst="parallelogram">
            <a:avLst>
              <a:gd fmla="val 45310" name="adj"/>
            </a:avLst>
          </a:prstGeom>
          <a:gradFill>
            <a:gsLst>
              <a:gs pos="0">
                <a:srgbClr val="BDD503"/>
              </a:gs>
              <a:gs pos="35000">
                <a:srgbClr val="BDD503"/>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60" name="Google Shape;160;g13547584bed_0_422"/>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161" name="Google Shape;161;g13547584bed_0_422"/>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62" name="Google Shape;162;g13547584bed_0_422"/>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3" name="Google Shape;163;g13547584bed_0_422"/>
          <p:cNvSpPr txBox="1"/>
          <p:nvPr>
            <p:ph type="title"/>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64" name="Google Shape;164;g13547584bed_0_422"/>
          <p:cNvSpPr/>
          <p:nvPr/>
        </p:nvSpPr>
        <p:spPr>
          <a:xfrm>
            <a:off x="15203923"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hyperlink" Target="http://www.youtube.com/watch?v=KeaeuUcw02Q" TargetMode="External"/><Relationship Id="rId4" Type="http://schemas.openxmlformats.org/officeDocument/2006/relationships/image" Target="../media/image2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jp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34.jpg"/><Relationship Id="rId4" Type="http://schemas.openxmlformats.org/officeDocument/2006/relationships/image" Target="../media/image37.png"/><Relationship Id="rId5" Type="http://schemas.openxmlformats.org/officeDocument/2006/relationships/image" Target="../media/image36.jpg"/><Relationship Id="rId6" Type="http://schemas.openxmlformats.org/officeDocument/2006/relationships/image" Target="../media/image35.jpg"/><Relationship Id="rId7" Type="http://schemas.openxmlformats.org/officeDocument/2006/relationships/image" Target="../media/image38.jpg"/><Relationship Id="rId8" Type="http://schemas.openxmlformats.org/officeDocument/2006/relationships/image" Target="../media/image3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45.png"/><Relationship Id="rId4" Type="http://schemas.openxmlformats.org/officeDocument/2006/relationships/image" Target="../media/image4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4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4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youtube.com/watch?v=mWSkOmAwJ0s" TargetMode="External"/><Relationship Id="rId4" Type="http://schemas.openxmlformats.org/officeDocument/2006/relationships/image" Target="../media/image5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
          <p:cNvSpPr txBox="1"/>
          <p:nvPr>
            <p:ph idx="1" type="body"/>
          </p:nvPr>
        </p:nvSpPr>
        <p:spPr>
          <a:xfrm>
            <a:off x="5138402" y="6401309"/>
            <a:ext cx="10649100" cy="49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SIY6122</a:t>
            </a:r>
            <a:endParaRPr/>
          </a:p>
        </p:txBody>
      </p:sp>
      <p:sp>
        <p:nvSpPr>
          <p:cNvPr id="218" name="Google Shape;218;p1"/>
          <p:cNvSpPr txBox="1"/>
          <p:nvPr>
            <p:ph idx="2" type="body"/>
          </p:nvPr>
        </p:nvSpPr>
        <p:spPr>
          <a:xfrm>
            <a:off x="4718050" y="2731839"/>
            <a:ext cx="11430000" cy="422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4800"/>
              <a:buFont typeface="Arial"/>
              <a:buNone/>
            </a:pPr>
            <a:r>
              <a:rPr lang="es-CL" sz="5700">
                <a:latin typeface="Calibri"/>
                <a:ea typeface="Calibri"/>
                <a:cs typeface="Calibri"/>
                <a:sym typeface="Calibri"/>
              </a:rPr>
              <a:t>2.2.1</a:t>
            </a:r>
            <a:r>
              <a:rPr lang="es-CL" sz="5700">
                <a:latin typeface="Calibri"/>
                <a:ea typeface="Calibri"/>
                <a:cs typeface="Calibri"/>
                <a:sym typeface="Calibri"/>
              </a:rPr>
              <a:t> </a:t>
            </a:r>
            <a:r>
              <a:rPr lang="es-CL" sz="5700">
                <a:latin typeface="Calibri"/>
                <a:ea typeface="Calibri"/>
                <a:cs typeface="Calibri"/>
                <a:sym typeface="Calibri"/>
              </a:rPr>
              <a:t>Interactuando con el medio implementando la comunicación de sensores y actuadores con una placa controlador, parte 1</a:t>
            </a:r>
            <a:endParaRPr sz="2050">
              <a:solidFill>
                <a:schemeClr val="dk1"/>
              </a:solidFill>
            </a:endParaRPr>
          </a:p>
          <a:p>
            <a:pPr indent="0" lvl="0" marL="0" rtl="0" algn="ctr">
              <a:lnSpc>
                <a:spcPct val="100000"/>
              </a:lnSpc>
              <a:spcBef>
                <a:spcPts val="0"/>
              </a:spcBef>
              <a:spcAft>
                <a:spcPts val="0"/>
              </a:spcAft>
              <a:buSzPts val="1400"/>
              <a:buNone/>
            </a:pPr>
            <a:r>
              <a:t/>
            </a:r>
            <a:endParaRPr sz="6900"/>
          </a:p>
        </p:txBody>
      </p:sp>
      <p:sp>
        <p:nvSpPr>
          <p:cNvPr id="219" name="Google Shape;219;p1"/>
          <p:cNvSpPr txBox="1"/>
          <p:nvPr>
            <p:ph idx="3" type="body"/>
          </p:nvPr>
        </p:nvSpPr>
        <p:spPr>
          <a:xfrm>
            <a:off x="5092767" y="7676832"/>
            <a:ext cx="10695000" cy="492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343706a5ce_0_1631"/>
          <p:cNvSpPr txBox="1"/>
          <p:nvPr>
            <p:ph type="title"/>
          </p:nvPr>
        </p:nvSpPr>
        <p:spPr>
          <a:xfrm>
            <a:off x="1560727" y="350800"/>
            <a:ext cx="11287800" cy="1340700"/>
          </a:xfrm>
          <a:prstGeom prst="rect">
            <a:avLst/>
          </a:prstGeom>
          <a:noFill/>
          <a:ln>
            <a:noFill/>
          </a:ln>
        </p:spPr>
        <p:txBody>
          <a:bodyPr anchorCtr="0" anchor="ctr" bIns="92100" lIns="184250" spcFirstLastPara="1" rIns="184250" wrap="square" tIns="92100">
            <a:noAutofit/>
          </a:bodyPr>
          <a:lstStyle/>
          <a:p>
            <a:pPr indent="0" lvl="0" marL="0" rtl="0" algn="ctr">
              <a:lnSpc>
                <a:spcPct val="90000"/>
              </a:lnSpc>
              <a:spcBef>
                <a:spcPts val="0"/>
              </a:spcBef>
              <a:spcAft>
                <a:spcPts val="0"/>
              </a:spcAft>
              <a:buSzPts val="3600"/>
              <a:buNone/>
            </a:pPr>
            <a:r>
              <a:rPr lang="es-CL"/>
              <a:t>Conexión de dispositivos IoT</a:t>
            </a:r>
            <a:endParaRPr/>
          </a:p>
        </p:txBody>
      </p:sp>
      <p:sp>
        <p:nvSpPr>
          <p:cNvPr id="225" name="Google Shape;225;g1343706a5ce_0_1631"/>
          <p:cNvSpPr/>
          <p:nvPr/>
        </p:nvSpPr>
        <p:spPr>
          <a:xfrm>
            <a:off x="1061050" y="2239975"/>
            <a:ext cx="17946000" cy="25878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2800"/>
              <a:buFont typeface="Arial"/>
              <a:buNone/>
            </a:pPr>
            <a:r>
              <a:rPr lang="es-CL" sz="2800"/>
              <a:t>La tecnología de IoT se despliega de muchas maneras, por lo que no existe una única solución de red adecuada. Depende de la situación y de dónde se encuentren los dispositivos. Algunos de los factores que afectan la selección del tipo de red son:</a:t>
            </a:r>
            <a:endParaRPr sz="2800"/>
          </a:p>
          <a:p>
            <a:pPr indent="0" lvl="0" marL="0" marR="0" rtl="0" algn="just">
              <a:lnSpc>
                <a:spcPct val="100000"/>
              </a:lnSpc>
              <a:spcBef>
                <a:spcPts val="0"/>
              </a:spcBef>
              <a:spcAft>
                <a:spcPts val="0"/>
              </a:spcAft>
              <a:buClr>
                <a:srgbClr val="000000"/>
              </a:buClr>
              <a:buSzPts val="2800"/>
              <a:buFont typeface="Arial"/>
              <a:buNone/>
            </a:pPr>
            <a:r>
              <a:t/>
            </a:r>
            <a:endParaRPr sz="2800"/>
          </a:p>
          <a:p>
            <a:pPr indent="0" lvl="0" marL="0" marR="0" rtl="0" algn="l">
              <a:lnSpc>
                <a:spcPct val="100000"/>
              </a:lnSpc>
              <a:spcBef>
                <a:spcPts val="0"/>
              </a:spcBef>
              <a:spcAft>
                <a:spcPts val="0"/>
              </a:spcAft>
              <a:buNone/>
            </a:pPr>
            <a:r>
              <a:t/>
            </a:r>
            <a:endParaRPr sz="2800"/>
          </a:p>
          <a:p>
            <a:pPr indent="-406400" lvl="0" marL="457200" marR="0" rtl="0" algn="l">
              <a:lnSpc>
                <a:spcPct val="100000"/>
              </a:lnSpc>
              <a:spcBef>
                <a:spcPts val="0"/>
              </a:spcBef>
              <a:spcAft>
                <a:spcPts val="0"/>
              </a:spcAft>
              <a:buSzPts val="2800"/>
              <a:buChar char="●"/>
            </a:pPr>
            <a:r>
              <a:rPr lang="es-CL" sz="2800"/>
              <a:t>el alcance de la red</a:t>
            </a:r>
            <a:endParaRPr sz="2800"/>
          </a:p>
          <a:p>
            <a:pPr indent="-406400" lvl="0" marL="457200" marR="0" rtl="0" algn="l">
              <a:lnSpc>
                <a:spcPct val="100000"/>
              </a:lnSpc>
              <a:spcBef>
                <a:spcPts val="0"/>
              </a:spcBef>
              <a:spcAft>
                <a:spcPts val="0"/>
              </a:spcAft>
              <a:buSzPts val="2800"/>
              <a:buChar char="●"/>
            </a:pPr>
            <a:r>
              <a:rPr lang="es-CL" sz="2800"/>
              <a:t>el ancho de banda de la red</a:t>
            </a:r>
            <a:endParaRPr sz="2800"/>
          </a:p>
          <a:p>
            <a:pPr indent="-406400" lvl="0" marL="457200" marR="0" rtl="0" algn="l">
              <a:lnSpc>
                <a:spcPct val="100000"/>
              </a:lnSpc>
              <a:spcBef>
                <a:spcPts val="0"/>
              </a:spcBef>
              <a:spcAft>
                <a:spcPts val="0"/>
              </a:spcAft>
              <a:buSzPts val="2800"/>
              <a:buChar char="●"/>
            </a:pPr>
            <a:r>
              <a:rPr lang="es-CL" sz="2800"/>
              <a:t>el uso de energía</a:t>
            </a:r>
            <a:endParaRPr sz="2800"/>
          </a:p>
          <a:p>
            <a:pPr indent="-406400" lvl="0" marL="457200" marR="0" rtl="0" algn="l">
              <a:lnSpc>
                <a:spcPct val="100000"/>
              </a:lnSpc>
              <a:spcBef>
                <a:spcPts val="0"/>
              </a:spcBef>
              <a:spcAft>
                <a:spcPts val="0"/>
              </a:spcAft>
              <a:buSzPts val="2800"/>
              <a:buChar char="●"/>
            </a:pPr>
            <a:r>
              <a:rPr lang="es-CL" sz="2800"/>
              <a:t>la interoperabilidad</a:t>
            </a:r>
            <a:endParaRPr sz="2800"/>
          </a:p>
          <a:p>
            <a:pPr indent="-406400" lvl="0" marL="457200" marR="0" rtl="0" algn="l">
              <a:lnSpc>
                <a:spcPct val="100000"/>
              </a:lnSpc>
              <a:spcBef>
                <a:spcPts val="0"/>
              </a:spcBef>
              <a:spcAft>
                <a:spcPts val="0"/>
              </a:spcAft>
              <a:buSzPts val="2800"/>
              <a:buChar char="●"/>
            </a:pPr>
            <a:r>
              <a:rPr lang="es-CL" sz="2800"/>
              <a:t>la conectividad intermitente</a:t>
            </a:r>
            <a:endParaRPr sz="2800"/>
          </a:p>
          <a:p>
            <a:pPr indent="-406400" lvl="0" marL="457200" marR="0" rtl="0" algn="l">
              <a:lnSpc>
                <a:spcPct val="100000"/>
              </a:lnSpc>
              <a:spcBef>
                <a:spcPts val="0"/>
              </a:spcBef>
              <a:spcAft>
                <a:spcPts val="0"/>
              </a:spcAft>
              <a:buSzPts val="2800"/>
              <a:buChar char="●"/>
            </a:pPr>
            <a:r>
              <a:rPr lang="es-CL" sz="2800"/>
              <a:t>la seguridad</a:t>
            </a:r>
            <a:endParaRPr sz="2800"/>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26" name="Google Shape;226;g1343706a5ce_0_1631"/>
          <p:cNvPicPr preferRelativeResize="0"/>
          <p:nvPr/>
        </p:nvPicPr>
        <p:blipFill>
          <a:blip r:embed="rId3">
            <a:alphaModFix/>
          </a:blip>
          <a:stretch>
            <a:fillRect/>
          </a:stretch>
        </p:blipFill>
        <p:spPr>
          <a:xfrm>
            <a:off x="8789700" y="4489075"/>
            <a:ext cx="8197200" cy="5479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f435cb8f30_0_0"/>
          <p:cNvSpPr txBox="1"/>
          <p:nvPr>
            <p:ph type="title"/>
          </p:nvPr>
        </p:nvSpPr>
        <p:spPr>
          <a:xfrm>
            <a:off x="1560727" y="350800"/>
            <a:ext cx="11287800" cy="1340700"/>
          </a:xfrm>
          <a:prstGeom prst="rect">
            <a:avLst/>
          </a:prstGeom>
          <a:noFill/>
          <a:ln>
            <a:noFill/>
          </a:ln>
        </p:spPr>
        <p:txBody>
          <a:bodyPr anchorCtr="0" anchor="ctr" bIns="92100" lIns="184250" spcFirstLastPara="1" rIns="184250" wrap="square" tIns="92100">
            <a:noAutofit/>
          </a:bodyPr>
          <a:lstStyle/>
          <a:p>
            <a:pPr indent="0" lvl="0" marL="0" rtl="0" algn="ctr">
              <a:lnSpc>
                <a:spcPct val="90000"/>
              </a:lnSpc>
              <a:spcBef>
                <a:spcPts val="0"/>
              </a:spcBef>
              <a:spcAft>
                <a:spcPts val="0"/>
              </a:spcAft>
              <a:buSzPts val="3600"/>
              <a:buNone/>
            </a:pPr>
            <a:r>
              <a:rPr lang="es-CL"/>
              <a:t>Conexión de dispositivos IoT</a:t>
            </a:r>
            <a:endParaRPr/>
          </a:p>
        </p:txBody>
      </p:sp>
      <p:sp>
        <p:nvSpPr>
          <p:cNvPr id="232" name="Google Shape;232;gf435cb8f30_0_0"/>
          <p:cNvSpPr/>
          <p:nvPr/>
        </p:nvSpPr>
        <p:spPr>
          <a:xfrm>
            <a:off x="1061050" y="2239975"/>
            <a:ext cx="17946000" cy="25878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2800"/>
              <a:buFont typeface="Arial"/>
              <a:buNone/>
            </a:pPr>
            <a:r>
              <a:rPr lang="es-CL" sz="2800"/>
              <a:t>Veamos un video que muestra las opciones de conexión disponibles y como desarrollarlas:</a:t>
            </a:r>
            <a:endParaRPr sz="2800"/>
          </a:p>
          <a:p>
            <a:pPr indent="0" lvl="0" marL="0" marR="0" rtl="0" algn="just">
              <a:lnSpc>
                <a:spcPct val="100000"/>
              </a:lnSpc>
              <a:spcBef>
                <a:spcPts val="0"/>
              </a:spcBef>
              <a:spcAft>
                <a:spcPts val="0"/>
              </a:spcAft>
              <a:buClr>
                <a:srgbClr val="000000"/>
              </a:buClr>
              <a:buSzPts val="2800"/>
              <a:buFont typeface="Arial"/>
              <a:buNone/>
            </a:pPr>
            <a:r>
              <a:t/>
            </a:r>
            <a:endParaRPr sz="2800"/>
          </a:p>
          <a:p>
            <a:pPr indent="0" lvl="0" marL="0" marR="0" rtl="0" algn="just">
              <a:lnSpc>
                <a:spcPct val="100000"/>
              </a:lnSpc>
              <a:spcBef>
                <a:spcPts val="0"/>
              </a:spcBef>
              <a:spcAft>
                <a:spcPts val="0"/>
              </a:spcAft>
              <a:buClr>
                <a:srgbClr val="000000"/>
              </a:buClr>
              <a:buSzPts val="2800"/>
              <a:buFont typeface="Arial"/>
              <a:buNone/>
            </a:pPr>
            <a:r>
              <a:t/>
            </a:r>
            <a:endParaRPr sz="2800"/>
          </a:p>
          <a:p>
            <a:pPr indent="0" lvl="0" marL="0" marR="0" rtl="0" algn="just">
              <a:lnSpc>
                <a:spcPct val="100000"/>
              </a:lnSpc>
              <a:spcBef>
                <a:spcPts val="0"/>
              </a:spcBef>
              <a:spcAft>
                <a:spcPts val="0"/>
              </a:spcAft>
              <a:buClr>
                <a:srgbClr val="000000"/>
              </a:buClr>
              <a:buSzPts val="2800"/>
              <a:buFont typeface="Arial"/>
              <a:buNone/>
            </a:pPr>
            <a:r>
              <a:t/>
            </a:r>
            <a:endParaRPr sz="2800"/>
          </a:p>
          <a:p>
            <a:pPr indent="0" lvl="0" marL="0" marR="0" rtl="0" algn="l">
              <a:lnSpc>
                <a:spcPct val="100000"/>
              </a:lnSpc>
              <a:spcBef>
                <a:spcPts val="0"/>
              </a:spcBef>
              <a:spcAft>
                <a:spcPts val="0"/>
              </a:spcAft>
              <a:buNone/>
            </a:pPr>
            <a:r>
              <a:t/>
            </a:r>
            <a:endParaRPr sz="2800"/>
          </a:p>
          <a:p>
            <a:pPr indent="0" lvl="0" marL="4572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pic>
        <p:nvPicPr>
          <p:cNvPr descr="IoT architecture determines the efficiency and working of an IoT set-up. The concept behind the Internet of Things is as powerful as it is complex, and in order for the elements in the IoT puzzle to mesh together perfectly, they all have to be part of a well-thought-out structure. This is where IoT architecture enters into play. In this video, we'll understand the complete IoT structure. &#10;Below topics are explained in this IoT architecture tutorial: &#10;1. IoT Architecture - 0:00&#10;2. IoT device architecture - 0:22&#10;3. IoT reference architecture - 1:22&#10;4. IoT standardization and design considerations - 4:04&#10;5. IoT in smart farming - 8:40&#10;&#10;🔥 Enrol for FREE IOT Course &amp; Get your Completion Certificate: https://www.simplilearn.com/learn-iot-basics-skillup?utm_campaign=IOT&amp;utm_medium=Description&amp;utm_source=youtube&#10;&#10;To learn more about IoT, subscribe to our YouTube channel: https://www.youtube.com/user/Simplilearn?sub_confirmation=1&#10;&#10;Watch more videos on IoT training: https://www.youtube.com/playlist?list=PLEiEAq2VkUUImmTXP_YC2j5qIGOV9NPLy&#10;&#10;#IoTArchitecture #InternetOfThingsArchitecture #IoTArchitectureExplained #IoTTutorial #IoTTutorialForBeginners #IoTTraining #IoTCourse #Simplilearn &#10;&#10;What is IoT?&#10;IoT is the interconnection of computing devices embedded in everyday objects, enabling them to send and receive data via the Internet.&#10;&#10;Introduction to IoT Training Course:&#10;If you’re new to the Internet of Things (IoT) and want to leverage it across business functions, then this introductory course is for you. You’ll get a glimpse into the ever-growing field of IoT, a technology that allows the intelligent exchange of data among a network of internet-connected objects.&#10;&#10;Course Overview:&#10;The primary objective of this Introduction to IoT Training Course is to give you insights into the bright and exciting future of the Internet of Things (IoT). The course will familiarize you with IoT concepts, their origin, impact, methodologies and tools, and how IoT is integrated into business applications to improve business results.&#10;&#10;Key Features:&#10;- 2 hours of in-depth eLearning&#10;- Lifetime access to self-paced learning&#10;- Industry-relevant course completion certificate&#10;- Comprehensive industry-relevant use cases and case studies&#10;&#10;Eligibility:&#10;This IoT course caters to CXO level and middle management professionals who want to enhance business value and ROI leveraging IoT. Simplilearn’s Introduction to IoT Training Course is ideal for anyone who wants to learn the fundamentals of IoT or pursue a career in this growing field.&#10;&#10;Learn more at: https://www.simplilearn.com/iot-certification-training-course?utm_campaign=IoT-Architecture-KeaeuUcw02Q&amp;utm_medium=Description&amp;utm_source=youtube&#10;&#10;For more information about Simplilearn courses, visit: &#10;- Facebook: https://www.facebook.com/Simplilearn &#10;- Twitter: https://twitter.com/simplilearn &#10;- LinkedIn: https://www.linkedin.com/company/simplilearn/&#10;- Website: https://www.simplilearn.com &#10;&#10;Get the Android app: http://bit.ly/1WlVo4u &#10;Get the iOS app: http://apple.co/1HIO5J0" id="233" name="Google Shape;233;gf435cb8f30_0_0" title="IoT Architecture | Internet Of Things Architecture For Beginners | IoT Tutorial | Simplilearn">
            <a:hlinkClick r:id="rId3"/>
          </p:cNvPr>
          <p:cNvPicPr preferRelativeResize="0"/>
          <p:nvPr/>
        </p:nvPicPr>
        <p:blipFill>
          <a:blip r:embed="rId4">
            <a:alphaModFix/>
          </a:blip>
          <a:stretch>
            <a:fillRect/>
          </a:stretch>
        </p:blipFill>
        <p:spPr>
          <a:xfrm>
            <a:off x="4915000" y="3521025"/>
            <a:ext cx="9645300" cy="7233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7"/>
          <p:cNvSpPr txBox="1"/>
          <p:nvPr>
            <p:ph type="title"/>
          </p:nvPr>
        </p:nvSpPr>
        <p:spPr>
          <a:xfrm>
            <a:off x="1093390" y="7778794"/>
            <a:ext cx="6048300" cy="332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 de comunicación para dispositivos IoT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133e68395f5_0_46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a:t>
            </a:r>
            <a:endParaRPr/>
          </a:p>
        </p:txBody>
      </p:sp>
      <p:pic>
        <p:nvPicPr>
          <p:cNvPr id="244" name="Google Shape;244;g133e68395f5_0_466"/>
          <p:cNvPicPr preferRelativeResize="0"/>
          <p:nvPr/>
        </p:nvPicPr>
        <p:blipFill>
          <a:blip r:embed="rId3">
            <a:alphaModFix/>
          </a:blip>
          <a:stretch>
            <a:fillRect/>
          </a:stretch>
        </p:blipFill>
        <p:spPr>
          <a:xfrm>
            <a:off x="6435375" y="1563211"/>
            <a:ext cx="12096750" cy="7848600"/>
          </a:xfrm>
          <a:prstGeom prst="rect">
            <a:avLst/>
          </a:prstGeom>
          <a:noFill/>
          <a:ln>
            <a:noFill/>
          </a:ln>
        </p:spPr>
      </p:pic>
      <p:sp>
        <p:nvSpPr>
          <p:cNvPr id="245" name="Google Shape;245;g133e68395f5_0_466"/>
          <p:cNvSpPr txBox="1"/>
          <p:nvPr/>
        </p:nvSpPr>
        <p:spPr>
          <a:xfrm>
            <a:off x="700100" y="2638850"/>
            <a:ext cx="5250000" cy="6095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t>No existe un consenso único o estándar sobre la arquitectura de Internet de las cosas (IoT) que esté universalmente definido. La arquitectura IoT se diferencia de su área funcional y sus soluciones. Sin embargo, la tecnología de la arquitectura IoT consta principalmente de 4 o 5 componentes</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13547584bed_0_4"/>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a:t>
            </a:r>
            <a:endParaRPr/>
          </a:p>
        </p:txBody>
      </p:sp>
      <p:sp>
        <p:nvSpPr>
          <p:cNvPr id="251" name="Google Shape;251;g13547584bed_0_4"/>
          <p:cNvSpPr txBox="1"/>
          <p:nvPr/>
        </p:nvSpPr>
        <p:spPr>
          <a:xfrm>
            <a:off x="933475" y="2926050"/>
            <a:ext cx="17474700" cy="324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CL" sz="3900"/>
              <a:t>Dispositivos/Sensores/Actuadores:</a:t>
            </a:r>
            <a:r>
              <a:rPr lang="es-CL" sz="3200"/>
              <a:t> Los sensores o actuadores son los dispositivos que pueden emitir, aceptar y procesar datos a través de la red. Estos sensores o actuadores se pueden conectar de forma cableada o inalámbrica. Este contiene GPS, electroquímico, giroscopio, RFID, etc. La mayoría de los sensores necesitan conectividad a través de puertas de enlace de sensores. La conexión de sensores o actuadores puede ser a través de una Red de Área Local (LAN) o Red de Área Personal.</a:t>
            </a:r>
            <a:endParaRPr sz="3200"/>
          </a:p>
        </p:txBody>
      </p:sp>
      <p:pic>
        <p:nvPicPr>
          <p:cNvPr id="252" name="Google Shape;252;g13547584bed_0_4"/>
          <p:cNvPicPr preferRelativeResize="0"/>
          <p:nvPr/>
        </p:nvPicPr>
        <p:blipFill>
          <a:blip r:embed="rId3">
            <a:alphaModFix/>
          </a:blip>
          <a:stretch>
            <a:fillRect/>
          </a:stretch>
        </p:blipFill>
        <p:spPr>
          <a:xfrm>
            <a:off x="5470563" y="6384400"/>
            <a:ext cx="8400525" cy="3821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13547584bed_0_12"/>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a:t>
            </a:r>
            <a:endParaRPr/>
          </a:p>
        </p:txBody>
      </p:sp>
      <p:sp>
        <p:nvSpPr>
          <p:cNvPr id="258" name="Google Shape;258;g13547584bed_0_12"/>
          <p:cNvSpPr txBox="1"/>
          <p:nvPr/>
        </p:nvSpPr>
        <p:spPr>
          <a:xfrm>
            <a:off x="933475" y="2926050"/>
            <a:ext cx="17474700" cy="232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CL" sz="4300"/>
              <a:t>Puertas de enlace y adquisición de datos:</a:t>
            </a:r>
            <a:r>
              <a:rPr lang="es-CL" sz="3200"/>
              <a:t> dado que estos sensores y actuadores producen una gran cantidad de datos, necesitan puertas de enlace y redes de alta velocidad para transferir los datos. Esta red puede ser de tipo Red de área local (LAN como WiFi, Ethernet, etc.), Red de área amplia (WAN como GSM, 5G, etc.).</a:t>
            </a:r>
            <a:endParaRPr sz="3200"/>
          </a:p>
        </p:txBody>
      </p:sp>
      <p:pic>
        <p:nvPicPr>
          <p:cNvPr id="259" name="Google Shape;259;g13547584bed_0_12"/>
          <p:cNvPicPr preferRelativeResize="0"/>
          <p:nvPr/>
        </p:nvPicPr>
        <p:blipFill>
          <a:blip r:embed="rId3">
            <a:alphaModFix/>
          </a:blip>
          <a:stretch>
            <a:fillRect/>
          </a:stretch>
        </p:blipFill>
        <p:spPr>
          <a:xfrm>
            <a:off x="6435375" y="5466525"/>
            <a:ext cx="6856701" cy="4631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13547584bed_0_22"/>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a:t>
            </a:r>
            <a:endParaRPr/>
          </a:p>
        </p:txBody>
      </p:sp>
      <p:sp>
        <p:nvSpPr>
          <p:cNvPr id="265" name="Google Shape;265;g13547584bed_0_22"/>
          <p:cNvSpPr txBox="1"/>
          <p:nvPr/>
        </p:nvSpPr>
        <p:spPr>
          <a:xfrm>
            <a:off x="933475" y="2468850"/>
            <a:ext cx="17474700" cy="280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CL" sz="4200"/>
              <a:t>Edge IT - Processamiento de eventos:</a:t>
            </a:r>
            <a:r>
              <a:rPr lang="es-CL" sz="3200"/>
              <a:t> Edge en la arquitectura IoT son las puertas de enlace de hardware y software que analizan y preprocesan los datos antes de transferirlos a la nube. Si los datos leídos de los sensores y las puertas de enlace no cambian de su valor de lectura anterior, entonces no se transfieren a la nube, esto guarda los datos utilizados.</a:t>
            </a:r>
            <a:endParaRPr sz="3200"/>
          </a:p>
        </p:txBody>
      </p:sp>
      <p:pic>
        <p:nvPicPr>
          <p:cNvPr id="266" name="Google Shape;266;g13547584bed_0_22"/>
          <p:cNvPicPr preferRelativeResize="0"/>
          <p:nvPr/>
        </p:nvPicPr>
        <p:blipFill>
          <a:blip r:embed="rId3">
            <a:alphaModFix/>
          </a:blip>
          <a:stretch>
            <a:fillRect/>
          </a:stretch>
        </p:blipFill>
        <p:spPr>
          <a:xfrm>
            <a:off x="5432200" y="5441100"/>
            <a:ext cx="8477250" cy="4743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13547584bed_0_30"/>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a:t>
            </a:r>
            <a:endParaRPr/>
          </a:p>
        </p:txBody>
      </p:sp>
      <p:sp>
        <p:nvSpPr>
          <p:cNvPr id="272" name="Google Shape;272;g13547584bed_0_30"/>
          <p:cNvSpPr txBox="1"/>
          <p:nvPr/>
        </p:nvSpPr>
        <p:spPr>
          <a:xfrm>
            <a:off x="933475" y="2468850"/>
            <a:ext cx="17474700" cy="284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CL" sz="4500"/>
              <a:t>Centro de datos/ Nube: </a:t>
            </a:r>
            <a:r>
              <a:rPr lang="es-CL" sz="3200"/>
              <a:t>El Centro de Datos o Nube se encuentra bajo los Servicios de Gestión que procesan la información a través de análisis, gestión de dispositivos y controles de seguridad. Además de estos controles de seguridad y gestión de dispositivos, la nube transfiere los datos a la aplicación de los usuarios finales, como Retail, Healthcare, Emergency, Environment y Energy, etc.</a:t>
            </a:r>
            <a:endParaRPr sz="3200"/>
          </a:p>
        </p:txBody>
      </p:sp>
      <p:pic>
        <p:nvPicPr>
          <p:cNvPr id="273" name="Google Shape;273;g13547584bed_0_30"/>
          <p:cNvPicPr preferRelativeResize="0"/>
          <p:nvPr/>
        </p:nvPicPr>
        <p:blipFill>
          <a:blip r:embed="rId3">
            <a:alphaModFix/>
          </a:blip>
          <a:stretch>
            <a:fillRect/>
          </a:stretch>
        </p:blipFill>
        <p:spPr>
          <a:xfrm>
            <a:off x="5156575" y="5316450"/>
            <a:ext cx="9028509" cy="5072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133e68395f5_0_451"/>
          <p:cNvSpPr txBox="1"/>
          <p:nvPr>
            <p:ph type="title"/>
          </p:nvPr>
        </p:nvSpPr>
        <p:spPr>
          <a:xfrm>
            <a:off x="1245790" y="7931194"/>
            <a:ext cx="6048300" cy="34911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7300"/>
              <a:buFont typeface="Arial"/>
              <a:buNone/>
            </a:pPr>
            <a:r>
              <a:rPr b="0" lang="es-CL" sz="6400">
                <a:latin typeface="Calibri"/>
                <a:ea typeface="Calibri"/>
                <a:cs typeface="Calibri"/>
                <a:sym typeface="Calibri"/>
              </a:rPr>
              <a:t>Comunicación entre dispositivos IoT</a:t>
            </a:r>
            <a:endParaRPr b="0" sz="6400"/>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33e68395f5_0_501"/>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Harwdare</a:t>
            </a:r>
            <a:endParaRPr/>
          </a:p>
        </p:txBody>
      </p:sp>
      <p:sp>
        <p:nvSpPr>
          <p:cNvPr id="284" name="Google Shape;284;g133e68395f5_0_501"/>
          <p:cNvSpPr/>
          <p:nvPr/>
        </p:nvSpPr>
        <p:spPr>
          <a:xfrm>
            <a:off x="5755115" y="750800"/>
            <a:ext cx="13090800" cy="5076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1" i="0" lang="es-CL" sz="3200" u="none" cap="none" strike="noStrike">
                <a:solidFill>
                  <a:srgbClr val="000000"/>
                </a:solidFill>
              </a:rPr>
              <a:t>Actualmente existen cuatro modelos para desplegar y hacer funcionar IoT, estos son:</a:t>
            </a:r>
            <a:endParaRPr b="1" i="0" sz="3200" u="none" cap="none" strike="noStrike">
              <a:solidFill>
                <a:srgbClr val="000000"/>
              </a:solidFill>
            </a:endParaRPr>
          </a:p>
        </p:txBody>
      </p:sp>
      <p:sp>
        <p:nvSpPr>
          <p:cNvPr id="285" name="Google Shape;285;g133e68395f5_0_501"/>
          <p:cNvSpPr/>
          <p:nvPr/>
        </p:nvSpPr>
        <p:spPr>
          <a:xfrm>
            <a:off x="2790948" y="3269749"/>
            <a:ext cx="5470500" cy="507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2800" u="none" cap="none" strike="noStrike">
                <a:solidFill>
                  <a:srgbClr val="000000"/>
                </a:solidFill>
                <a:latin typeface="Arial"/>
                <a:ea typeface="Arial"/>
                <a:cs typeface="Arial"/>
                <a:sym typeface="Arial"/>
              </a:rPr>
              <a:t>1. Dispositivo a dispositivo</a:t>
            </a:r>
            <a:endParaRPr sz="2800"/>
          </a:p>
        </p:txBody>
      </p:sp>
      <p:sp>
        <p:nvSpPr>
          <p:cNvPr id="286" name="Google Shape;286;g133e68395f5_0_501"/>
          <p:cNvSpPr/>
          <p:nvPr/>
        </p:nvSpPr>
        <p:spPr>
          <a:xfrm>
            <a:off x="2790948" y="5152139"/>
            <a:ext cx="4381500" cy="507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2800" u="none" cap="none" strike="noStrike">
                <a:solidFill>
                  <a:srgbClr val="000000"/>
                </a:solidFill>
                <a:latin typeface="Arial"/>
                <a:ea typeface="Arial"/>
                <a:cs typeface="Arial"/>
                <a:sym typeface="Arial"/>
              </a:rPr>
              <a:t>2. Dispositivo a Nube</a:t>
            </a:r>
            <a:endParaRPr sz="2800"/>
          </a:p>
        </p:txBody>
      </p:sp>
      <p:sp>
        <p:nvSpPr>
          <p:cNvPr id="287" name="Google Shape;287;g133e68395f5_0_501"/>
          <p:cNvSpPr/>
          <p:nvPr/>
        </p:nvSpPr>
        <p:spPr>
          <a:xfrm>
            <a:off x="2790948" y="7377766"/>
            <a:ext cx="6570000" cy="507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2800" u="none" cap="none" strike="noStrike">
                <a:solidFill>
                  <a:srgbClr val="000000"/>
                </a:solidFill>
                <a:latin typeface="Arial"/>
                <a:ea typeface="Arial"/>
                <a:cs typeface="Arial"/>
                <a:sym typeface="Arial"/>
              </a:rPr>
              <a:t>3. Dispositivo a Puerta de Enlace</a:t>
            </a:r>
            <a:endParaRPr sz="2800"/>
          </a:p>
        </p:txBody>
      </p:sp>
      <p:sp>
        <p:nvSpPr>
          <p:cNvPr id="288" name="Google Shape;288;g133e68395f5_0_501"/>
          <p:cNvSpPr/>
          <p:nvPr/>
        </p:nvSpPr>
        <p:spPr>
          <a:xfrm>
            <a:off x="2874275" y="9737509"/>
            <a:ext cx="5174400" cy="507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2800" u="none" cap="none" strike="noStrike">
                <a:solidFill>
                  <a:srgbClr val="000000"/>
                </a:solidFill>
                <a:latin typeface="Arial"/>
                <a:ea typeface="Arial"/>
                <a:cs typeface="Arial"/>
                <a:sym typeface="Arial"/>
              </a:rPr>
              <a:t>4. Back End Data Sharing</a:t>
            </a:r>
            <a:endParaRPr sz="2800"/>
          </a:p>
        </p:txBody>
      </p:sp>
      <p:pic>
        <p:nvPicPr>
          <p:cNvPr id="289" name="Google Shape;289;g133e68395f5_0_501"/>
          <p:cNvPicPr preferRelativeResize="0"/>
          <p:nvPr/>
        </p:nvPicPr>
        <p:blipFill rotWithShape="1">
          <a:blip r:embed="rId3">
            <a:alphaModFix/>
          </a:blip>
          <a:srcRect b="0" l="0" r="0" t="0"/>
          <a:stretch/>
        </p:blipFill>
        <p:spPr>
          <a:xfrm>
            <a:off x="9915797" y="2789179"/>
            <a:ext cx="4820751" cy="1409047"/>
          </a:xfrm>
          <a:prstGeom prst="rect">
            <a:avLst/>
          </a:prstGeom>
          <a:noFill/>
          <a:ln>
            <a:noFill/>
          </a:ln>
        </p:spPr>
      </p:pic>
      <p:pic>
        <p:nvPicPr>
          <p:cNvPr id="290" name="Google Shape;290;g133e68395f5_0_501"/>
          <p:cNvPicPr preferRelativeResize="0"/>
          <p:nvPr/>
        </p:nvPicPr>
        <p:blipFill rotWithShape="1">
          <a:blip r:embed="rId4">
            <a:alphaModFix/>
          </a:blip>
          <a:srcRect b="0" l="0" r="0" t="0"/>
          <a:stretch/>
        </p:blipFill>
        <p:spPr>
          <a:xfrm>
            <a:off x="9712085" y="4312532"/>
            <a:ext cx="5176862" cy="2186762"/>
          </a:xfrm>
          <a:prstGeom prst="rect">
            <a:avLst/>
          </a:prstGeom>
          <a:noFill/>
          <a:ln>
            <a:noFill/>
          </a:ln>
        </p:spPr>
      </p:pic>
      <p:pic>
        <p:nvPicPr>
          <p:cNvPr id="291" name="Google Shape;291;g133e68395f5_0_501"/>
          <p:cNvPicPr preferRelativeResize="0"/>
          <p:nvPr/>
        </p:nvPicPr>
        <p:blipFill rotWithShape="1">
          <a:blip r:embed="rId5">
            <a:alphaModFix/>
          </a:blip>
          <a:srcRect b="0" l="0" r="0" t="0"/>
          <a:stretch/>
        </p:blipFill>
        <p:spPr>
          <a:xfrm>
            <a:off x="9712085" y="6558544"/>
            <a:ext cx="5491819" cy="1971390"/>
          </a:xfrm>
          <a:prstGeom prst="rect">
            <a:avLst/>
          </a:prstGeom>
          <a:noFill/>
          <a:ln>
            <a:noFill/>
          </a:ln>
        </p:spPr>
      </p:pic>
      <p:pic>
        <p:nvPicPr>
          <p:cNvPr id="292" name="Google Shape;292;g133e68395f5_0_501"/>
          <p:cNvPicPr preferRelativeResize="0"/>
          <p:nvPr/>
        </p:nvPicPr>
        <p:blipFill rotWithShape="1">
          <a:blip r:embed="rId6">
            <a:alphaModFix/>
          </a:blip>
          <a:srcRect b="0" l="0" r="0" t="0"/>
          <a:stretch/>
        </p:blipFill>
        <p:spPr>
          <a:xfrm>
            <a:off x="9712085" y="8758658"/>
            <a:ext cx="4119153" cy="231783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13547584bed_0_276"/>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Dispositivo a dispositivo</a:t>
            </a:r>
            <a:endParaRPr sz="2800"/>
          </a:p>
        </p:txBody>
      </p:sp>
      <p:sp>
        <p:nvSpPr>
          <p:cNvPr id="298" name="Google Shape;298;g13547584bed_0_276"/>
          <p:cNvSpPr/>
          <p:nvPr/>
        </p:nvSpPr>
        <p:spPr>
          <a:xfrm>
            <a:off x="1340271" y="2286778"/>
            <a:ext cx="18033000" cy="17766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La comunicación de dispositivo a dispositivo representa dos o más dispositivos que se conectan directamente y se comunican entre sí. Se pueden comunicar a través de muchos tipos de redes, incluidas las redes IP o Internet, pero la mayoría de las veces utilizan protocolos como Bluetooth, Z-Wave y ZigBee.</a:t>
            </a:r>
            <a:endParaRPr sz="2800"/>
          </a:p>
        </p:txBody>
      </p:sp>
      <p:sp>
        <p:nvSpPr>
          <p:cNvPr id="299" name="Google Shape;299;g13547584bed_0_276"/>
          <p:cNvSpPr/>
          <p:nvPr/>
        </p:nvSpPr>
        <p:spPr>
          <a:xfrm>
            <a:off x="1340271" y="6969383"/>
            <a:ext cx="18033000" cy="1573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2800" u="none" cap="none" strike="noStrike">
                <a:solidFill>
                  <a:srgbClr val="000000"/>
                </a:solidFill>
                <a:latin typeface="Calibri"/>
                <a:ea typeface="Calibri"/>
                <a:cs typeface="Calibri"/>
                <a:sym typeface="Calibri"/>
              </a:rPr>
              <a:t>Este modelo se usa comúnmente en los sistemas de automatización del hogar para transferir pequeños paquetes de datos de información entre dispositivos a una velocidad de datos relativamente baja. Estos podrían ser focos, termostatos y cerraduras de puertas que se envían pequeñas cantidades de información entre sí.</a:t>
            </a:r>
            <a:endParaRPr sz="2800"/>
          </a:p>
        </p:txBody>
      </p:sp>
      <p:pic>
        <p:nvPicPr>
          <p:cNvPr id="300" name="Google Shape;300;g13547584bed_0_276"/>
          <p:cNvPicPr preferRelativeResize="0"/>
          <p:nvPr/>
        </p:nvPicPr>
        <p:blipFill rotWithShape="1">
          <a:blip r:embed="rId3">
            <a:alphaModFix/>
          </a:blip>
          <a:srcRect b="0" l="0" r="0" t="0"/>
          <a:stretch/>
        </p:blipFill>
        <p:spPr>
          <a:xfrm>
            <a:off x="1505844" y="4340963"/>
            <a:ext cx="3557820" cy="2051676"/>
          </a:xfrm>
          <a:prstGeom prst="rect">
            <a:avLst/>
          </a:prstGeom>
          <a:noFill/>
          <a:ln>
            <a:noFill/>
          </a:ln>
        </p:spPr>
      </p:pic>
      <p:pic>
        <p:nvPicPr>
          <p:cNvPr descr="zWave | TeneaLive" id="301" name="Google Shape;301;g13547584bed_0_276"/>
          <p:cNvPicPr preferRelativeResize="0"/>
          <p:nvPr/>
        </p:nvPicPr>
        <p:blipFill rotWithShape="1">
          <a:blip r:embed="rId4">
            <a:alphaModFix/>
          </a:blip>
          <a:srcRect b="0" l="0" r="0" t="0"/>
          <a:stretch/>
        </p:blipFill>
        <p:spPr>
          <a:xfrm>
            <a:off x="7680336" y="4270192"/>
            <a:ext cx="3557819" cy="1973940"/>
          </a:xfrm>
          <a:prstGeom prst="rect">
            <a:avLst/>
          </a:prstGeom>
          <a:noFill/>
          <a:ln>
            <a:noFill/>
          </a:ln>
        </p:spPr>
      </p:pic>
      <p:pic>
        <p:nvPicPr>
          <p:cNvPr id="302" name="Google Shape;302;g13547584bed_0_276"/>
          <p:cNvPicPr preferRelativeResize="0"/>
          <p:nvPr/>
        </p:nvPicPr>
        <p:blipFill rotWithShape="1">
          <a:blip r:embed="rId5">
            <a:alphaModFix/>
          </a:blip>
          <a:srcRect b="0" l="0" r="0" t="0"/>
          <a:stretch/>
        </p:blipFill>
        <p:spPr>
          <a:xfrm>
            <a:off x="13304983" y="4270192"/>
            <a:ext cx="3782480" cy="2127645"/>
          </a:xfrm>
          <a:prstGeom prst="rect">
            <a:avLst/>
          </a:prstGeom>
          <a:noFill/>
          <a:ln>
            <a:noFill/>
          </a:ln>
        </p:spPr>
      </p:pic>
      <p:pic>
        <p:nvPicPr>
          <p:cNvPr id="303" name="Google Shape;303;g13547584bed_0_276"/>
          <p:cNvPicPr preferRelativeResize="0"/>
          <p:nvPr/>
        </p:nvPicPr>
        <p:blipFill rotWithShape="1">
          <a:blip r:embed="rId6">
            <a:alphaModFix/>
          </a:blip>
          <a:srcRect b="0" l="0" r="0" t="0"/>
          <a:stretch/>
        </p:blipFill>
        <p:spPr>
          <a:xfrm>
            <a:off x="2382866" y="8748087"/>
            <a:ext cx="2242194" cy="1681646"/>
          </a:xfrm>
          <a:prstGeom prst="rect">
            <a:avLst/>
          </a:prstGeom>
          <a:noFill/>
          <a:ln>
            <a:noFill/>
          </a:ln>
        </p:spPr>
      </p:pic>
      <p:pic>
        <p:nvPicPr>
          <p:cNvPr id="304" name="Google Shape;304;g13547584bed_0_276"/>
          <p:cNvPicPr preferRelativeResize="0"/>
          <p:nvPr/>
        </p:nvPicPr>
        <p:blipFill rotWithShape="1">
          <a:blip r:embed="rId7">
            <a:alphaModFix/>
          </a:blip>
          <a:srcRect b="0" l="0" r="0" t="0"/>
          <a:stretch/>
        </p:blipFill>
        <p:spPr>
          <a:xfrm>
            <a:off x="6249271" y="8707623"/>
            <a:ext cx="2772868" cy="2072722"/>
          </a:xfrm>
          <a:prstGeom prst="rect">
            <a:avLst/>
          </a:prstGeom>
          <a:noFill/>
          <a:ln>
            <a:noFill/>
          </a:ln>
        </p:spPr>
      </p:pic>
      <p:pic>
        <p:nvPicPr>
          <p:cNvPr id="305" name="Google Shape;305;g13547584bed_0_276"/>
          <p:cNvPicPr preferRelativeResize="0"/>
          <p:nvPr/>
        </p:nvPicPr>
        <p:blipFill rotWithShape="1">
          <a:blip r:embed="rId8">
            <a:alphaModFix/>
          </a:blip>
          <a:srcRect b="0" l="0" r="0" t="0"/>
          <a:stretch/>
        </p:blipFill>
        <p:spPr>
          <a:xfrm>
            <a:off x="12092922" y="8542776"/>
            <a:ext cx="3518464" cy="234564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13547584bed_0_288"/>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Dispositivo a Nube</a:t>
            </a:r>
            <a:endParaRPr sz="2800"/>
          </a:p>
        </p:txBody>
      </p:sp>
      <p:sp>
        <p:nvSpPr>
          <p:cNvPr id="311" name="Google Shape;311;g13547584bed_0_288"/>
          <p:cNvSpPr/>
          <p:nvPr/>
        </p:nvSpPr>
        <p:spPr>
          <a:xfrm>
            <a:off x="791979" y="1848078"/>
            <a:ext cx="18855600" cy="2182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La comunicación de dispositivo a nube implica un dispositivo de IoT que se conecta directamente a un servicio en la nube de Internet, como un proveedor de servicios de aplicaciones para intercambiar datos y controlar el tráfico de mensajes. A menudo usa conexiones Ethernet o Wi-Fi cableadas tradicionales, pero también puede usar tecnología celular como la red 4.5G.</a:t>
            </a:r>
            <a:endParaRPr sz="2800"/>
          </a:p>
        </p:txBody>
      </p:sp>
      <p:sp>
        <p:nvSpPr>
          <p:cNvPr id="312" name="Google Shape;312;g13547584bed_0_288"/>
          <p:cNvSpPr/>
          <p:nvPr/>
        </p:nvSpPr>
        <p:spPr>
          <a:xfrm>
            <a:off x="791979" y="8295587"/>
            <a:ext cx="18855600" cy="2994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La conectividad en la nube permite al usuario (y una aplicación) obtener acceso remoto a un dispositivo. También es potencialmente compatible con impulsar actualizaciones de software para el dispositivo.</a:t>
            </a:r>
            <a:endParaRPr sz="2800"/>
          </a:p>
          <a:p>
            <a:pPr indent="0" lvl="0" marL="0" marR="0" rtl="0" algn="l">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Un caso de uso para Dispositivo-a-Nube basado en redes celulares son las etiquetas inteligentes que rastrea al perro o gato de la casa mientras el usuario no está, lo que requiere de una comunicación celular de área amplia porque no sabría dónde podría estar la mascota.</a:t>
            </a:r>
            <a:endParaRPr sz="2800"/>
          </a:p>
        </p:txBody>
      </p:sp>
      <p:pic>
        <p:nvPicPr>
          <p:cNvPr id="313" name="Google Shape;313;g13547584bed_0_288"/>
          <p:cNvPicPr preferRelativeResize="0"/>
          <p:nvPr/>
        </p:nvPicPr>
        <p:blipFill rotWithShape="1">
          <a:blip r:embed="rId3">
            <a:alphaModFix/>
          </a:blip>
          <a:srcRect b="0" l="0" r="0" t="0"/>
          <a:stretch/>
        </p:blipFill>
        <p:spPr>
          <a:xfrm>
            <a:off x="3137458" y="4234166"/>
            <a:ext cx="4623270" cy="3808090"/>
          </a:xfrm>
          <a:prstGeom prst="rect">
            <a:avLst/>
          </a:prstGeom>
          <a:noFill/>
          <a:ln>
            <a:noFill/>
          </a:ln>
        </p:spPr>
      </p:pic>
      <p:pic>
        <p:nvPicPr>
          <p:cNvPr id="314" name="Google Shape;314;g13547584bed_0_288"/>
          <p:cNvPicPr preferRelativeResize="0"/>
          <p:nvPr/>
        </p:nvPicPr>
        <p:blipFill rotWithShape="1">
          <a:blip r:embed="rId4">
            <a:alphaModFix/>
          </a:blip>
          <a:srcRect b="0" l="0" r="0" t="0"/>
          <a:stretch/>
        </p:blipFill>
        <p:spPr>
          <a:xfrm>
            <a:off x="11964030" y="3797938"/>
            <a:ext cx="4623269" cy="42653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13547584bed_0_296"/>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5200" u="none" cap="none" strike="noStrike">
                <a:solidFill>
                  <a:schemeClr val="lt1"/>
                </a:solidFill>
                <a:latin typeface="Calibri"/>
                <a:ea typeface="Calibri"/>
                <a:cs typeface="Calibri"/>
                <a:sym typeface="Calibri"/>
              </a:rPr>
              <a:t>Dispositivo de puerta de enlace</a:t>
            </a:r>
            <a:endParaRPr sz="2000"/>
          </a:p>
        </p:txBody>
      </p:sp>
      <p:sp>
        <p:nvSpPr>
          <p:cNvPr id="320" name="Google Shape;320;g13547584bed_0_296"/>
          <p:cNvSpPr/>
          <p:nvPr/>
        </p:nvSpPr>
        <p:spPr>
          <a:xfrm>
            <a:off x="852901" y="2154829"/>
            <a:ext cx="18611400" cy="21822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En el modelo de dispositivo a puerta de enlace, los dispositivos se conectan básicamente a un dispositivo intermediario para acceder a un servicio en la nube.</a:t>
            </a:r>
            <a:endParaRPr sz="2800"/>
          </a:p>
          <a:p>
            <a:pPr indent="0" lvl="0" marL="0" marR="0" rtl="0" algn="l">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Este modelo a menudo implica software o aplicaciones que operan en un dispositivo de puerta de enlace local (como un teléfono inteligente o un “concentrador”) el cual actúa como intermediario entre un dispositivo y un servicio en la nube.</a:t>
            </a:r>
            <a:endParaRPr sz="2800"/>
          </a:p>
        </p:txBody>
      </p:sp>
      <p:sp>
        <p:nvSpPr>
          <p:cNvPr id="321" name="Google Shape;321;g13547584bed_0_296"/>
          <p:cNvSpPr/>
          <p:nvPr/>
        </p:nvSpPr>
        <p:spPr>
          <a:xfrm>
            <a:off x="852901" y="9173529"/>
            <a:ext cx="18611400" cy="1776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Esta puerta de enlace podría proporcionar seguridad y otras funcionalidades, como la traducción de datos o protocolos. Si la puerta de enlace es un teléfono inteligente, este software podría adoptar la forma de una aplicación que se empareja con el dispositivo de IoT y se comunica con un servicio en la nube.</a:t>
            </a:r>
            <a:endParaRPr sz="2800"/>
          </a:p>
        </p:txBody>
      </p:sp>
      <p:pic>
        <p:nvPicPr>
          <p:cNvPr id="322" name="Google Shape;322;g13547584bed_0_296"/>
          <p:cNvPicPr preferRelativeResize="0"/>
          <p:nvPr/>
        </p:nvPicPr>
        <p:blipFill rotWithShape="1">
          <a:blip r:embed="rId3">
            <a:alphaModFix/>
          </a:blip>
          <a:srcRect b="0" l="0" r="0" t="0"/>
          <a:stretch/>
        </p:blipFill>
        <p:spPr>
          <a:xfrm>
            <a:off x="5699970" y="4367489"/>
            <a:ext cx="6528581" cy="442975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13547584bed_0_303"/>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328" name="Google Shape;328;g13547584bed_0_303"/>
          <p:cNvSpPr/>
          <p:nvPr/>
        </p:nvSpPr>
        <p:spPr>
          <a:xfrm>
            <a:off x="822441" y="2025719"/>
            <a:ext cx="18306600" cy="2182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Back-End Data-Sharing extiende esencialmente el modelo de comunicación de dispositivo a nube para que terceros autorizados puedan acceder a los dispositivos y los datos del sensor. Bajo este modelo, los usuarios pueden exportar y analizar datos de objetos inteligentes desde un servicio en la nube en combinación con datos de otras fuentes y enviarlos a otros servicios para su agregación y análisis.</a:t>
            </a:r>
            <a:endParaRPr sz="2800"/>
          </a:p>
        </p:txBody>
      </p:sp>
      <p:sp>
        <p:nvSpPr>
          <p:cNvPr id="329" name="Google Shape;329;g13547584bed_0_303"/>
          <p:cNvSpPr/>
          <p:nvPr/>
        </p:nvSpPr>
        <p:spPr>
          <a:xfrm>
            <a:off x="822437" y="9283631"/>
            <a:ext cx="18306600" cy="9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3200" u="none" cap="none" strike="noStrike">
                <a:solidFill>
                  <a:srgbClr val="000000"/>
                </a:solidFill>
                <a:latin typeface="Arial"/>
                <a:ea typeface="Arial"/>
                <a:cs typeface="Arial"/>
                <a:sym typeface="Arial"/>
              </a:rPr>
              <a:t>Estos son los cuatro modelos más utilizados al desplegar soluciones IoT, sin embargo, no hay un modelo cerrado para implementar, todo depende del caso de uso.</a:t>
            </a:r>
            <a:endParaRPr sz="2800"/>
          </a:p>
        </p:txBody>
      </p:sp>
      <p:pic>
        <p:nvPicPr>
          <p:cNvPr id="330" name="Google Shape;330;g13547584bed_0_303"/>
          <p:cNvPicPr preferRelativeResize="0"/>
          <p:nvPr/>
        </p:nvPicPr>
        <p:blipFill rotWithShape="1">
          <a:blip r:embed="rId3">
            <a:alphaModFix/>
          </a:blip>
          <a:srcRect b="0" l="0" r="0" t="0"/>
          <a:stretch/>
        </p:blipFill>
        <p:spPr>
          <a:xfrm>
            <a:off x="4644313" y="4609228"/>
            <a:ext cx="8112174" cy="405608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13547584bed_0_487"/>
          <p:cNvSpPr txBox="1"/>
          <p:nvPr>
            <p:ph type="title"/>
          </p:nvPr>
        </p:nvSpPr>
        <p:spPr>
          <a:xfrm>
            <a:off x="864790" y="7778794"/>
            <a:ext cx="6048300" cy="2604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7300"/>
              <a:buNone/>
            </a:pPr>
            <a:r>
              <a:rPr b="0" lang="es-CL" sz="6400">
                <a:latin typeface="Calibri"/>
                <a:ea typeface="Calibri"/>
                <a:cs typeface="Calibri"/>
                <a:sym typeface="Calibri"/>
              </a:rPr>
              <a:t>Protocolos de comunicación IoT</a:t>
            </a:r>
            <a:endParaRPr b="0" sz="6400"/>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13547584bed_0_314"/>
          <p:cNvSpPr txBox="1"/>
          <p:nvPr/>
        </p:nvSpPr>
        <p:spPr>
          <a:xfrm>
            <a:off x="883175" y="2054225"/>
            <a:ext cx="18672000" cy="5682600"/>
          </a:xfrm>
          <a:prstGeom prst="rect">
            <a:avLst/>
          </a:prstGeom>
          <a:noFill/>
          <a:ln>
            <a:noFill/>
          </a:ln>
        </p:spPr>
        <p:txBody>
          <a:bodyPr anchorCtr="0" anchor="ctr" bIns="92100" lIns="184250" spcFirstLastPara="1" rIns="184250" wrap="square" tIns="92100">
            <a:noAutofit/>
          </a:bodyPr>
          <a:lstStyle/>
          <a:p>
            <a:pPr indent="0" lvl="0" marL="0" marR="0" rtl="0" algn="just">
              <a:lnSpc>
                <a:spcPct val="100000"/>
              </a:lnSpc>
              <a:spcBef>
                <a:spcPts val="0"/>
              </a:spcBef>
              <a:spcAft>
                <a:spcPts val="0"/>
              </a:spcAft>
              <a:buNone/>
            </a:pPr>
            <a:r>
              <a:rPr i="0" lang="es-CL" sz="4100" u="none" cap="none" strike="noStrike">
                <a:solidFill>
                  <a:srgbClr val="000000"/>
                </a:solidFill>
                <a:latin typeface="Calibri"/>
                <a:ea typeface="Calibri"/>
                <a:cs typeface="Calibri"/>
                <a:sym typeface="Calibri"/>
              </a:rPr>
              <a:t>Los dispositivos IoT utilizados tanto en entornos industriales, como en el entorno doméstico, pueden compartir aspectos de kernel (Linux, FreeRTOS, Windows Embedded, siendo el primero de ellos el más utilizado) y servicios de bajo nivel (</a:t>
            </a:r>
            <a:r>
              <a:rPr i="1" lang="es-CL" sz="4100" u="none" cap="none" strike="noStrike">
                <a:solidFill>
                  <a:srgbClr val="000000"/>
                </a:solidFill>
                <a:latin typeface="Calibri"/>
                <a:ea typeface="Calibri"/>
                <a:cs typeface="Calibri"/>
                <a:sym typeface="Calibri"/>
              </a:rPr>
              <a:t>Real-Time Management, Context Discovery Management</a:t>
            </a:r>
            <a:r>
              <a:rPr i="0" lang="es-CL" sz="4100" u="none" cap="none" strike="noStrike">
                <a:solidFill>
                  <a:srgbClr val="000000"/>
                </a:solidFill>
                <a:latin typeface="Calibri"/>
                <a:ea typeface="Calibri"/>
                <a:cs typeface="Calibri"/>
                <a:sym typeface="Calibri"/>
              </a:rPr>
              <a:t>), pero en términos de comunicación son muy diferentes. A continuación se explican algunos de los protocolos utilizados a nivel doméstico e industrial.</a:t>
            </a:r>
            <a:endParaRPr i="0" sz="4100" u="none" cap="none" strike="noStrike">
              <a:solidFill>
                <a:schemeClr val="lt1"/>
              </a:solidFill>
              <a:latin typeface="Calibri"/>
              <a:ea typeface="Calibri"/>
              <a:cs typeface="Calibri"/>
              <a:sym typeface="Calibri"/>
            </a:endParaRPr>
          </a:p>
        </p:txBody>
      </p:sp>
      <p:sp>
        <p:nvSpPr>
          <p:cNvPr id="341" name="Google Shape;341;g13547584bed_0_314"/>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pic>
        <p:nvPicPr>
          <p:cNvPr id="342" name="Google Shape;342;g13547584bed_0_314"/>
          <p:cNvPicPr preferRelativeResize="0"/>
          <p:nvPr/>
        </p:nvPicPr>
        <p:blipFill rotWithShape="1">
          <a:blip r:embed="rId3">
            <a:alphaModFix/>
          </a:blip>
          <a:srcRect b="0" l="0" r="0" t="0"/>
          <a:stretch/>
        </p:blipFill>
        <p:spPr>
          <a:xfrm>
            <a:off x="6051413" y="8083466"/>
            <a:ext cx="5440559" cy="287502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13547584bed_0_320"/>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348" name="Google Shape;348;g13547584bed_0_320"/>
          <p:cNvSpPr/>
          <p:nvPr/>
        </p:nvSpPr>
        <p:spPr>
          <a:xfrm>
            <a:off x="761518" y="2586096"/>
            <a:ext cx="18581100" cy="25884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3200" u="sng" cap="none" strike="noStrike">
                <a:solidFill>
                  <a:srgbClr val="000000"/>
                </a:solidFill>
                <a:latin typeface="Calibri"/>
                <a:ea typeface="Calibri"/>
                <a:cs typeface="Calibri"/>
                <a:sym typeface="Calibri"/>
              </a:rPr>
              <a:t>Entorno doméstico:</a:t>
            </a:r>
            <a:endParaRPr sz="2800"/>
          </a:p>
          <a:p>
            <a:pPr indent="0" lvl="0" marL="0" marR="0" rtl="0" algn="l">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Cada día son más los hogares que disponen de uno o varios dispositivos IoT. Existen multitud de empresas que fabrican estos dispositivos. Cada uno tiene su propio protocolo de comunicación y aunque no es mucha la información que suelen facilitar, sobre todo si no son protocolos de código abierto, los más conocidos son:</a:t>
            </a:r>
            <a:endParaRPr sz="2800"/>
          </a:p>
        </p:txBody>
      </p:sp>
      <p:pic>
        <p:nvPicPr>
          <p:cNvPr id="349" name="Google Shape;349;g13547584bed_0_320"/>
          <p:cNvPicPr preferRelativeResize="0"/>
          <p:nvPr/>
        </p:nvPicPr>
        <p:blipFill rotWithShape="1">
          <a:blip r:embed="rId3">
            <a:alphaModFix/>
          </a:blip>
          <a:srcRect b="0" l="0" r="0" t="0"/>
          <a:stretch/>
        </p:blipFill>
        <p:spPr>
          <a:xfrm>
            <a:off x="5284940" y="5654675"/>
            <a:ext cx="7151166" cy="49164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13547584bed_0_326"/>
          <p:cNvSpPr/>
          <p:nvPr/>
        </p:nvSpPr>
        <p:spPr>
          <a:xfrm>
            <a:off x="639675" y="3555302"/>
            <a:ext cx="19038300" cy="61617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-AllJoyn fue lanzado por The AllSeen Alliance, compuesta por Haier, LG, Microsoft, Panasonic, Qualcomm, Sharp, Silicon Image, Technicolor y TP-Link. Es un estándar de código abierto, que facilita la comunicación entre dispositivos y aplicaciones, para todo tipo de protocolos de la capa de transporte.</a:t>
            </a:r>
            <a:endParaRPr sz="2800"/>
          </a:p>
          <a:p>
            <a:pPr indent="0" lvl="0" marL="0" marR="0" rtl="0" algn="ctr">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-HomePlug y HomeGrid son protocolos cuya comunicación se realiza a través de la red eléctrica. Esta tecnología de comunicación la implementan numerosas marcas. Dependiendo del producto adquirido, el tipo de cifrado es diferente, incluso algunos dispositivos transmiten la información sin cifrar.</a:t>
            </a:r>
            <a:endParaRPr sz="2800"/>
          </a:p>
          <a:p>
            <a:pPr indent="0" lvl="0" marL="0" marR="0" rtl="0" algn="ctr">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-MFi (Made For iPhone/iPod/iPad) es un protocolo de comunicaciones propio de Apple diseñado para interactuar con estos dispositivos. Los dispositivos y elementos de conexión de Apple incorporan un chip mediante el cual verifican que tanto los dispositivos, como los cables de conexión son originales.</a:t>
            </a:r>
            <a:endParaRPr sz="2800"/>
          </a:p>
        </p:txBody>
      </p:sp>
      <p:sp>
        <p:nvSpPr>
          <p:cNvPr id="355" name="Google Shape;355;g13547584bed_0_326"/>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13585c67efc_0_5"/>
          <p:cNvSpPr/>
          <p:nvPr/>
        </p:nvSpPr>
        <p:spPr>
          <a:xfrm>
            <a:off x="639675" y="2869503"/>
            <a:ext cx="19038300" cy="54834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t/>
            </a:r>
            <a:endParaRPr sz="2800"/>
          </a:p>
          <a:p>
            <a:pPr indent="0" lvl="0" marL="0" marR="0" rtl="0" algn="ctr">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-OCF (Open Connectivity Foundation) es un protocolo impulsado por Samsung, Intel, Microsoft, Qualcomm, Electrolux entre otras. Es un proyecto de código abierto que ofrece interconectividad con la filosofía just-works. Este protocolo pretende garantizar la interoperabilidad de millones de dispositivos, gracias a una implementación de referencia (IoTivity) y un programa de certificación.</a:t>
            </a:r>
            <a:endParaRPr sz="2800"/>
          </a:p>
          <a:p>
            <a:pPr indent="0" lvl="0" marL="0" marR="0" rtl="0" algn="ctr">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-Thread (network protocol) fue creado por el conjunto de empresas denominado Thread Group. Es una tecnología basada en las comunicaciones por red mediante IPv6 que utiliza cifrado AES. Por ello y por la flexibilidad que ofrece, es un protocolo muy seguro y está preparado para el futuro</a:t>
            </a:r>
            <a:endParaRPr sz="2800"/>
          </a:p>
        </p:txBody>
      </p:sp>
      <p:sp>
        <p:nvSpPr>
          <p:cNvPr id="361" name="Google Shape;361;g13585c67efc_0_5"/>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13547584bed_0_331"/>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367" name="Google Shape;367;g13547584bed_0_331"/>
          <p:cNvSpPr/>
          <p:nvPr/>
        </p:nvSpPr>
        <p:spPr>
          <a:xfrm>
            <a:off x="731058" y="2304490"/>
            <a:ext cx="18641700" cy="2994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3200" u="sng" cap="none" strike="noStrike">
                <a:solidFill>
                  <a:srgbClr val="000000"/>
                </a:solidFill>
                <a:latin typeface="Calibri"/>
                <a:ea typeface="Calibri"/>
                <a:cs typeface="Calibri"/>
                <a:sym typeface="Calibri"/>
              </a:rPr>
              <a:t>Entorno industrial:</a:t>
            </a:r>
            <a:endParaRPr sz="2800"/>
          </a:p>
          <a:p>
            <a:pPr indent="0" lvl="0" marL="0" marR="0" rtl="0" algn="l">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Con la aparición de los dispositivos IoT, surge el concepto de industria 4.0. Podemos definirla como la digitalización completa a través de la integración de tecnologías de procesamiento de datos, software inteligente y sensores, desde los proveedores hasta los clientes. Pero para que esto sea posible, los dispositivos deben poder comunicarse, tanto entre sí, como hacía el exterior. Por ello comentamos algunos de los protocolos de comunicación existentes en la industria.</a:t>
            </a:r>
            <a:endParaRPr sz="2800"/>
          </a:p>
        </p:txBody>
      </p:sp>
      <p:pic>
        <p:nvPicPr>
          <p:cNvPr id="368" name="Google Shape;368;g13547584bed_0_331"/>
          <p:cNvPicPr preferRelativeResize="0"/>
          <p:nvPr/>
        </p:nvPicPr>
        <p:blipFill rotWithShape="1">
          <a:blip r:embed="rId3">
            <a:alphaModFix/>
          </a:blip>
          <a:srcRect b="0" l="0" r="0" t="0"/>
          <a:stretch/>
        </p:blipFill>
        <p:spPr>
          <a:xfrm>
            <a:off x="10495925" y="5750726"/>
            <a:ext cx="4912675" cy="49581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13547584bed_0_337"/>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374" name="Google Shape;374;g13547584bed_0_337"/>
          <p:cNvSpPr/>
          <p:nvPr/>
        </p:nvSpPr>
        <p:spPr>
          <a:xfrm>
            <a:off x="654900" y="2947674"/>
            <a:ext cx="18794100" cy="60288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-AMQP (Advanced Message Queuing Protocol) es un protocolo del nivel 7 del modelo OSI para aplicaciones distribuidas que soporta comunicaciones punto-a-punto y de tipo publicación/suscripción. Proviene del sector de servicios financieros y tiene presencia en el ámbito de TI y en el sector industria, siendo bastante limitada en este último. Ofrece un modelo robusto de comunicaciones que soporta transacciones y puede </a:t>
            </a:r>
            <a:r>
              <a:rPr lang="es-CL" sz="3200">
                <a:latin typeface="Calibri"/>
                <a:ea typeface="Calibri"/>
                <a:cs typeface="Calibri"/>
                <a:sym typeface="Calibri"/>
              </a:rPr>
              <a:t>garantizarse</a:t>
            </a:r>
            <a:r>
              <a:rPr b="0" i="0" lang="es-CL" sz="3200" u="none" cap="none" strike="noStrike">
                <a:solidFill>
                  <a:srgbClr val="000000"/>
                </a:solidFill>
                <a:latin typeface="Calibri"/>
                <a:ea typeface="Calibri"/>
                <a:cs typeface="Calibri"/>
                <a:sym typeface="Calibri"/>
              </a:rPr>
              <a:t> de forma completa. Ofrece seguridad a través de la autenticación y cifrado mediante SASL o TLS.</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-CoAP (Constrained Application Protocol) fue creado por IETF (Internet Engineering Task Force) para proveer la compatibilidad de HTTP con una mínima carga. Es un protocolo cliente/servidor, es similar a HTTP pero usa UDP/multicast en lugar de TCP, además de simplificar el encabezado reduce el tamaño de cada requerimiento. Desde el punto de vista de la seguridad utiliza DTLS (Datagram Transport Layer Security), que básicamente consiste en aplicar seguridad en la capa de transporte para proteger las comunicaciones.</a:t>
            </a:r>
            <a:endParaRPr sz="2800"/>
          </a:p>
          <a:p>
            <a:pPr indent="0" lvl="0" marL="0" marR="0" rtl="0" algn="just">
              <a:lnSpc>
                <a:spcPct val="100000"/>
              </a:lnSpc>
              <a:spcBef>
                <a:spcPts val="0"/>
              </a:spcBef>
              <a:spcAft>
                <a:spcPts val="0"/>
              </a:spcAft>
              <a:buNone/>
            </a:pPr>
            <a:r>
              <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13585c67efc_0_10"/>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380" name="Google Shape;380;g13585c67efc_0_10"/>
          <p:cNvSpPr/>
          <p:nvPr/>
        </p:nvSpPr>
        <p:spPr>
          <a:xfrm>
            <a:off x="654900" y="2719073"/>
            <a:ext cx="18794100" cy="54903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-DDS (Data Distribution Service) es un protocolo de tipo publicación/suscripción concebido para sistemas de tiempo-real. Es un estándar abierto y descentralizado. Los nodos de DDS se comunican directamente punto a punto a través de UDP/multidifusión (multicast). DDS es una buena solución para aplicaciones que requieren intercambio de datos en tiempo real como el control del tráfico aéreo, gestión de redes inteligentes, vehículos autónomos, robótica, sistemas de transporte, generación de electricidad, etc. Ofrece seguridad a través de TLS, DTSL y DDS.</a:t>
            </a:r>
            <a:endParaRPr sz="2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13547584bed_0_342"/>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386" name="Google Shape;386;g13547584bed_0_342"/>
          <p:cNvSpPr/>
          <p:nvPr/>
        </p:nvSpPr>
        <p:spPr>
          <a:xfrm>
            <a:off x="898592" y="2211860"/>
            <a:ext cx="18306600" cy="7867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-HTTP (REST/JSON) (Hypertext Transfer Protocol) es un protocolo cliente/servidor sin conexión presente en las TIC y en la web. Es un protocolo muy accesible por ser de código abierto, además de poseer numerosas librerías. Es efectivo para enviar grandes cantidades de información, como por ejemplo lecturas de sensores minuto a minuto o cada hora; aunque no es adecuado ni para enviar actualizaciones en periodos de tiempo del orden de milisegundos ni para enviar información de video. </a:t>
            </a:r>
            <a:endParaRPr sz="3200">
              <a:latin typeface="Calibri"/>
              <a:ea typeface="Calibri"/>
              <a:cs typeface="Calibri"/>
              <a:sym typeface="Calibri"/>
            </a:endParaRPr>
          </a:p>
          <a:p>
            <a:pPr indent="0" lvl="0" marL="0" marR="0" rtl="0" algn="just">
              <a:lnSpc>
                <a:spcPct val="100000"/>
              </a:lnSpc>
              <a:spcBef>
                <a:spcPts val="0"/>
              </a:spcBef>
              <a:spcAft>
                <a:spcPts val="0"/>
              </a:spcAft>
              <a:buNone/>
            </a:pPr>
            <a:r>
              <a:t/>
            </a:r>
            <a:endParaRPr sz="3200">
              <a:latin typeface="Calibri"/>
              <a:ea typeface="Calibri"/>
              <a:cs typeface="Calibri"/>
              <a:sym typeface="Calibri"/>
            </a:endParaRPr>
          </a:p>
          <a:p>
            <a:pPr indent="0" lvl="0" marL="0" marR="0" rtl="0" algn="just">
              <a:lnSpc>
                <a:spcPct val="100000"/>
              </a:lnSpc>
              <a:spcBef>
                <a:spcPts val="0"/>
              </a:spcBef>
              <a:spcAft>
                <a:spcPts val="0"/>
              </a:spcAft>
              <a:buNone/>
            </a:pPr>
            <a:r>
              <a:t/>
            </a:r>
            <a:endParaRPr sz="3200">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-MQTT (Message Queuing Telemetry Transport) es un protocolo de tipo publicación/suscripción de nivel de aplicación con una versión para redes no basadas en TCP/IP (p. ej. Zigbee) denominada MQTT-SN. Este protocolo ha sido implementado en múltiples aplicaciones de IT, IoT y OT, como por ejemplo, el Messenger de Facebook, MS Azure IoT hub o para entornos de generación de electricidad mediante fuentes renovables. Puesto que MQTT envía credenciales de conexión en claro y no incluye en su diseño medidas de seguridad (p. ej.  autenticación o cifrado) es recomendable usarlo con TLS para asegurar las comunicaciones en su versión sobre TCP, así como los mecanismos propios compatibles de comunicaciones no basadas en TCP/IP.</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13585c67efc_0_22"/>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MQTT</a:t>
            </a:r>
            <a:endParaRPr>
              <a:solidFill>
                <a:schemeClr val="lt1"/>
              </a:solidFill>
            </a:endParaRPr>
          </a:p>
        </p:txBody>
      </p:sp>
      <p:sp>
        <p:nvSpPr>
          <p:cNvPr id="392" name="Google Shape;392;g13585c67efc_0_22"/>
          <p:cNvSpPr/>
          <p:nvPr/>
        </p:nvSpPr>
        <p:spPr>
          <a:xfrm>
            <a:off x="898600" y="2211858"/>
            <a:ext cx="18306600" cy="15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1" lang="es-CL" sz="3200">
                <a:latin typeface="Calibri"/>
                <a:ea typeface="Calibri"/>
                <a:cs typeface="Calibri"/>
                <a:sym typeface="Calibri"/>
              </a:rPr>
              <a:t>Descripción de protocolo MQTT y su importancia para el IoT</a:t>
            </a:r>
            <a:endParaRPr b="1" sz="2800"/>
          </a:p>
        </p:txBody>
      </p:sp>
      <p:pic>
        <p:nvPicPr>
          <p:cNvPr descr="Vídeo formativo en el que se desarrollan los conceptos básicos MQTT, para luego introducir el funcionamiento del protocolo" id="393" name="Google Shape;393;g13585c67efc_0_22" title="2   Conceptos básicos MQTT">
            <a:hlinkClick r:id="rId3"/>
          </p:cNvPr>
          <p:cNvPicPr preferRelativeResize="0"/>
          <p:nvPr/>
        </p:nvPicPr>
        <p:blipFill>
          <a:blip r:embed="rId4">
            <a:alphaModFix/>
          </a:blip>
          <a:stretch>
            <a:fillRect/>
          </a:stretch>
        </p:blipFill>
        <p:spPr>
          <a:xfrm>
            <a:off x="4996050" y="3158316"/>
            <a:ext cx="9427500" cy="7070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13547584bed_0_347"/>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399" name="Google Shape;399;g13547584bed_0_347"/>
          <p:cNvSpPr/>
          <p:nvPr/>
        </p:nvSpPr>
        <p:spPr>
          <a:xfrm>
            <a:off x="426450" y="2609974"/>
            <a:ext cx="18794100" cy="75783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-OPC UA (Unified Architecture) es un estándar de nueva generación que surge a partir del OPC, el cual es conocido por proveer una interfaz estándar para comunicarse con los PLC. OPC UA es un protocolo cliente/servidor multiplataforma, donde los clientes se conectan, navegan, leen y escriben al equipamiento industrial. Ofrece un modo binario y otro basado en SOAP (Web Service). Las tecnologías y metodologías innovadoras, como los nuevos protocolos de transporte, los algoritmos de seguridad, los estándares de codificación o los servicios de aplicación pueden incorporarse en OPC UA mientras se mantiene la compatibilidad retroactiva para los productos existentes. </a:t>
            </a:r>
            <a:endParaRPr sz="2800"/>
          </a:p>
          <a:p>
            <a:pPr indent="0" lvl="0" marL="0" marR="0" rtl="0" algn="just">
              <a:lnSpc>
                <a:spcPct val="100000"/>
              </a:lnSpc>
              <a:spcBef>
                <a:spcPts val="0"/>
              </a:spcBef>
              <a:spcAft>
                <a:spcPts val="0"/>
              </a:spcAft>
              <a:buNone/>
            </a:pPr>
            <a:r>
              <a:t/>
            </a:r>
            <a:endParaRPr sz="2800"/>
          </a:p>
          <a:p>
            <a:pPr indent="0" lvl="0" marL="0" marR="0" rtl="0" algn="just">
              <a:lnSpc>
                <a:spcPct val="100000"/>
              </a:lnSpc>
              <a:spcBef>
                <a:spcPts val="0"/>
              </a:spcBef>
              <a:spcAft>
                <a:spcPts val="0"/>
              </a:spcAft>
              <a:buNone/>
            </a:pPr>
            <a:r>
              <a:t/>
            </a:r>
            <a:endParaRPr sz="2800"/>
          </a:p>
          <a:p>
            <a:pPr indent="0" lvl="0" marL="0" marR="0" rtl="0" algn="just">
              <a:lnSpc>
                <a:spcPct val="100000"/>
              </a:lnSpc>
              <a:spcBef>
                <a:spcPts val="0"/>
              </a:spcBef>
              <a:spcAft>
                <a:spcPts val="0"/>
              </a:spcAft>
              <a:buNone/>
            </a:pPr>
            <a:r>
              <a:t/>
            </a:r>
            <a:endParaRPr sz="2800"/>
          </a:p>
          <a:p>
            <a:pPr indent="0" lvl="0" marL="0" marR="0" rtl="0" algn="just">
              <a:lnSpc>
                <a:spcPct val="100000"/>
              </a:lnSpc>
              <a:spcBef>
                <a:spcPts val="0"/>
              </a:spcBef>
              <a:spcAft>
                <a:spcPts val="0"/>
              </a:spcAft>
              <a:buNone/>
            </a:pPr>
            <a:r>
              <a:rPr b="0" i="0" lang="es-CL" sz="2800" u="none" cap="none" strike="noStrike">
                <a:solidFill>
                  <a:srgbClr val="000000"/>
                </a:solidFill>
                <a:latin typeface="Arial"/>
                <a:ea typeface="Arial"/>
                <a:cs typeface="Arial"/>
                <a:sym typeface="Arial"/>
              </a:rPr>
              <a:t>-XMPP (Extensible Messaging and Presence Protocol) es un protocolo abierto, escalable y descentralizado basado en XML, originalmente diseñado para mensajería instantánea. Las características de XML en cuanto a adaptabilidad y sencillez de XML han sido heredadas por el protocolo XMPP. Los servidores que utilizan este protocolo pueden estar aislados de la red pública XMPP, y poseen robustos sistemas de seguridad como SASL y TLS. Gran parte de los cortafuegos están configurados para permitir el trafico TCP del puerto utilizado por HTTP, pero bloquean el puerto utilizado por XMPP, para solucionarlo XMPP utiliza HTTP para permitir el acceso a los usuarios que se encuentran tras un cortafuegos.</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13547584bed_0_352"/>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405" name="Google Shape;405;g13547584bed_0_352"/>
          <p:cNvSpPr/>
          <p:nvPr/>
        </p:nvSpPr>
        <p:spPr>
          <a:xfrm>
            <a:off x="1035665" y="2253128"/>
            <a:ext cx="18033000" cy="5586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La tabla siguiente resume las características principales de algunos de estos protocolos:</a:t>
            </a:r>
            <a:endParaRPr sz="2800"/>
          </a:p>
        </p:txBody>
      </p:sp>
      <p:pic>
        <p:nvPicPr>
          <p:cNvPr id="406" name="Google Shape;406;g13547584bed_0_352"/>
          <p:cNvPicPr preferRelativeResize="0"/>
          <p:nvPr/>
        </p:nvPicPr>
        <p:blipFill rotWithShape="1">
          <a:blip r:embed="rId3">
            <a:alphaModFix/>
          </a:blip>
          <a:srcRect b="0" l="0" r="0" t="0"/>
          <a:stretch/>
        </p:blipFill>
        <p:spPr>
          <a:xfrm>
            <a:off x="2048752" y="3661148"/>
            <a:ext cx="15984925" cy="6492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13547584bed_0_358"/>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412" name="Google Shape;412;g13547584bed_0_358"/>
          <p:cNvSpPr/>
          <p:nvPr/>
        </p:nvSpPr>
        <p:spPr>
          <a:xfrm>
            <a:off x="868130" y="1873414"/>
            <a:ext cx="18368100" cy="9085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1" i="0" lang="es-CL" sz="3000" u="sng" cap="none" strike="noStrike">
                <a:solidFill>
                  <a:srgbClr val="000000"/>
                </a:solidFill>
                <a:latin typeface="Calibri"/>
                <a:ea typeface="Calibri"/>
                <a:cs typeface="Calibri"/>
                <a:sym typeface="Calibri"/>
              </a:rPr>
              <a:t>Ataques</a:t>
            </a:r>
            <a:endParaRPr sz="2600"/>
          </a:p>
          <a:p>
            <a:pPr indent="0" lvl="0" marL="0" marR="0" rtl="0" algn="just">
              <a:lnSpc>
                <a:spcPct val="100000"/>
              </a:lnSpc>
              <a:spcBef>
                <a:spcPts val="0"/>
              </a:spcBef>
              <a:spcAft>
                <a:spcPts val="0"/>
              </a:spcAft>
              <a:buNone/>
            </a:pPr>
            <a:r>
              <a:t/>
            </a:r>
            <a:endParaRPr b="0" i="0" sz="30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000" u="none" cap="none" strike="noStrike">
                <a:solidFill>
                  <a:srgbClr val="000000"/>
                </a:solidFill>
                <a:latin typeface="Calibri"/>
                <a:ea typeface="Calibri"/>
                <a:cs typeface="Calibri"/>
                <a:sym typeface="Calibri"/>
              </a:rPr>
              <a:t>El auge de los dispositivos IoT y su gran interconexión les convierte en el objetivo perfecto para los ciberdelincuentes. El número de amenazas de malware ha crecido en este ámbito, no sólo de forma cuantitativa sino también cualitativamente (GreyEnergy, fuga de información a través de termostato, GoAhead, ataques DoS a través de cámaras IP). Esto, unido a que los vectores de ataque pueden ser muy diferentes, hace que haya que tener en cuenta diferentes aspectos para protegerlos de manera adecuada y poder conectarlos a redes privadas. Algunos de estos vectores son:</a:t>
            </a:r>
            <a:endParaRPr sz="2600"/>
          </a:p>
          <a:p>
            <a:pPr indent="0" lvl="0" marL="0" marR="0" rtl="0" algn="just">
              <a:lnSpc>
                <a:spcPct val="100000"/>
              </a:lnSpc>
              <a:spcBef>
                <a:spcPts val="0"/>
              </a:spcBef>
              <a:spcAft>
                <a:spcPts val="0"/>
              </a:spcAft>
              <a:buNone/>
            </a:pPr>
            <a:r>
              <a:t/>
            </a:r>
            <a:endParaRPr b="0" i="0" sz="30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000" u="none" cap="none" strike="noStrike">
                <a:solidFill>
                  <a:srgbClr val="000000"/>
                </a:solidFill>
                <a:latin typeface="Calibri"/>
                <a:ea typeface="Calibri"/>
                <a:cs typeface="Calibri"/>
                <a:sym typeface="Calibri"/>
              </a:rPr>
              <a:t>-Ataque por fuerza bruta para «obtener» una clave, normalmente la utilizada por el protocolo Telnet. El cual es utilizado por algunos dispositivos de IoT para el acceso de forma remota.</a:t>
            </a:r>
            <a:endParaRPr sz="2600"/>
          </a:p>
          <a:p>
            <a:pPr indent="0" lvl="0" marL="0" marR="0" rtl="0" algn="just">
              <a:lnSpc>
                <a:spcPct val="100000"/>
              </a:lnSpc>
              <a:spcBef>
                <a:spcPts val="0"/>
              </a:spcBef>
              <a:spcAft>
                <a:spcPts val="0"/>
              </a:spcAft>
              <a:buNone/>
            </a:pPr>
            <a:r>
              <a:t/>
            </a:r>
            <a:endParaRPr b="0" i="0" sz="30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000" u="none" cap="none" strike="noStrike">
                <a:solidFill>
                  <a:srgbClr val="000000"/>
                </a:solidFill>
                <a:latin typeface="Calibri"/>
                <a:ea typeface="Calibri"/>
                <a:cs typeface="Calibri"/>
                <a:sym typeface="Calibri"/>
              </a:rPr>
              <a:t>-Ataques por denegación de servicio que producen indisponibilidad de los dispositivos por saturación.</a:t>
            </a:r>
            <a:endParaRPr sz="2600"/>
          </a:p>
          <a:p>
            <a:pPr indent="0" lvl="0" marL="0" marR="0" rtl="0" algn="just">
              <a:lnSpc>
                <a:spcPct val="100000"/>
              </a:lnSpc>
              <a:spcBef>
                <a:spcPts val="0"/>
              </a:spcBef>
              <a:spcAft>
                <a:spcPts val="0"/>
              </a:spcAft>
              <a:buNone/>
            </a:pPr>
            <a:r>
              <a:t/>
            </a:r>
            <a:endParaRPr b="0" i="0" sz="30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000" u="none" cap="none" strike="noStrike">
                <a:solidFill>
                  <a:srgbClr val="000000"/>
                </a:solidFill>
                <a:latin typeface="Calibri"/>
                <a:ea typeface="Calibri"/>
                <a:cs typeface="Calibri"/>
                <a:sym typeface="Calibri"/>
              </a:rPr>
              <a:t>-Utilización como plataforma de ataque hacia otros dispositivos del entorno, ya que por defecto suelen estar menos fortificados y son más accesibles desde el exterior de la red donde se encuentran.</a:t>
            </a:r>
            <a:endParaRPr sz="2600"/>
          </a:p>
          <a:p>
            <a:pPr indent="0" lvl="0" marL="0" marR="0" rtl="0" algn="just">
              <a:lnSpc>
                <a:spcPct val="100000"/>
              </a:lnSpc>
              <a:spcBef>
                <a:spcPts val="0"/>
              </a:spcBef>
              <a:spcAft>
                <a:spcPts val="0"/>
              </a:spcAft>
              <a:buNone/>
            </a:pPr>
            <a:r>
              <a:t/>
            </a:r>
            <a:endParaRPr b="0" i="0" sz="30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000" u="none" cap="none" strike="noStrike">
                <a:solidFill>
                  <a:srgbClr val="000000"/>
                </a:solidFill>
                <a:latin typeface="Calibri"/>
                <a:ea typeface="Calibri"/>
                <a:cs typeface="Calibri"/>
                <a:sym typeface="Calibri"/>
              </a:rPr>
              <a:t>-Obtención de datos de carácter personal de los usuarios como: hábitos de uso, contraseñas de acceso a servicios web e incluso datos de tarjetas de crédito.</a:t>
            </a:r>
            <a:endParaRPr sz="2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13547584bed_0_363"/>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418" name="Google Shape;418;g13547584bed_0_363"/>
          <p:cNvSpPr/>
          <p:nvPr/>
        </p:nvSpPr>
        <p:spPr>
          <a:xfrm>
            <a:off x="548300" y="2368826"/>
            <a:ext cx="18520500" cy="77745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1" i="0" lang="es-CL" sz="3200" u="sng" cap="none" strike="noStrike">
                <a:solidFill>
                  <a:srgbClr val="000000"/>
                </a:solidFill>
                <a:latin typeface="Calibri"/>
                <a:ea typeface="Calibri"/>
                <a:cs typeface="Calibri"/>
                <a:sym typeface="Calibri"/>
              </a:rPr>
              <a:t>Medidas de prevención</a:t>
            </a:r>
            <a:endParaRPr sz="2800"/>
          </a:p>
          <a:p>
            <a:pPr indent="0" lvl="0" marL="0" marR="0" rtl="0" algn="just">
              <a:lnSpc>
                <a:spcPct val="100000"/>
              </a:lnSpc>
              <a:spcBef>
                <a:spcPts val="0"/>
              </a:spcBef>
              <a:spcAft>
                <a:spcPts val="0"/>
              </a:spcAft>
              <a:buNone/>
            </a:pPr>
            <a:r>
              <a:t/>
            </a:r>
            <a:endParaRPr sz="3200">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Para poder reducir el riesgo de la materialización de algunas de las amenazas que hemos descrito, debemos de implantar al menos las siguientes medidas:</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-Actualizaciones y parches. Tener el dispositivo actualizado es importante para minimizar el riesgo de que éste sea vulnerable.</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-Autenticación, control de accesos y administración. Evitar las contraseñas predeterminadas. Una contraseña robusta para acceder a la configuración del dispositivo es una buena medida contra accesos no deseados, así como administrarlos (en caso de que ser posible) solo de forma local.</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-Protección de los datos almacenados. Se debe poder controlar qué datos almacenados dentro de nuestro dispositivo se envían a los fabricantes.</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sz="2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13585c67efc_0_0"/>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4600" u="none" cap="none" strike="noStrike">
                <a:solidFill>
                  <a:schemeClr val="lt1"/>
                </a:solidFill>
                <a:latin typeface="Calibri"/>
                <a:ea typeface="Calibri"/>
                <a:cs typeface="Calibri"/>
                <a:sym typeface="Calibri"/>
              </a:rPr>
              <a:t>Protocolos de comunicación IoT</a:t>
            </a:r>
            <a:endParaRPr sz="2800"/>
          </a:p>
        </p:txBody>
      </p:sp>
      <p:sp>
        <p:nvSpPr>
          <p:cNvPr id="424" name="Google Shape;424;g13585c67efc_0_0"/>
          <p:cNvSpPr/>
          <p:nvPr/>
        </p:nvSpPr>
        <p:spPr>
          <a:xfrm>
            <a:off x="548300" y="2467476"/>
            <a:ext cx="18520500" cy="74361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1" i="0" lang="es-CL" sz="3200" u="sng" cap="none" strike="noStrike">
                <a:solidFill>
                  <a:srgbClr val="000000"/>
                </a:solidFill>
                <a:latin typeface="Calibri"/>
                <a:ea typeface="Calibri"/>
                <a:cs typeface="Calibri"/>
                <a:sym typeface="Calibri"/>
              </a:rPr>
              <a:t>Medidas de prevención</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-Uso de protocolos seguros. Las comunicaciones con otros dispositivos y equipos deben hacerse a través de protocolos seguros.</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-Bloquear puertos. Siempre y cuando sea posible, es recomendable desactivar todos aquellos que no se vayan a utilizar, para evitar brechas de seguridad.</a:t>
            </a:r>
            <a:endParaRPr sz="2800"/>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s-CL" sz="3200" u="none" cap="none" strike="noStrike">
                <a:solidFill>
                  <a:srgbClr val="000000"/>
                </a:solidFill>
                <a:latin typeface="Calibri"/>
                <a:ea typeface="Calibri"/>
                <a:cs typeface="Calibri"/>
                <a:sym typeface="Calibri"/>
              </a:rPr>
              <a:t>-Plan de continuidad del servicio. Tener un dispositivo que pueda trabajar de forma autónoma, es decir, sin supervisión remota por si se produce un fallo en la red, es muy importante, así como que el dispositivo cuente con un sistema de logs que almacene datos en caso de producirse un fallo para investigar las causas del mismo.</a:t>
            </a:r>
            <a:endParaRPr sz="2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1343706a5ce_0_1667"/>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¿Qué</a:t>
            </a:r>
            <a:r>
              <a:rPr lang="es-CL"/>
              <a:t> hemos aprendido hoy?</a:t>
            </a:r>
            <a:endParaRPr/>
          </a:p>
        </p:txBody>
      </p:sp>
      <p:sp>
        <p:nvSpPr>
          <p:cNvPr id="430" name="Google Shape;430;g1343706a5ce_0_1667"/>
          <p:cNvSpPr txBox="1"/>
          <p:nvPr>
            <p:ph idx="1" type="body"/>
          </p:nvPr>
        </p:nvSpPr>
        <p:spPr>
          <a:xfrm>
            <a:off x="8314271" y="8170445"/>
            <a:ext cx="11193600" cy="1723800"/>
          </a:xfrm>
          <a:prstGeom prst="rect">
            <a:avLst/>
          </a:prstGeom>
          <a:noFill/>
          <a:ln>
            <a:noFill/>
          </a:ln>
        </p:spPr>
        <p:txBody>
          <a:bodyPr anchorCtr="0" anchor="t" bIns="0" lIns="0" spcFirstLastPara="1" rIns="0" wrap="square" tIns="0">
            <a:spAutoFit/>
          </a:bodyPr>
          <a:lstStyle/>
          <a:p>
            <a:pPr indent="-406400" lvl="0" marL="457200" rtl="0" algn="l">
              <a:lnSpc>
                <a:spcPct val="100000"/>
              </a:lnSpc>
              <a:spcBef>
                <a:spcPts val="0"/>
              </a:spcBef>
              <a:spcAft>
                <a:spcPts val="0"/>
              </a:spcAft>
              <a:buSzPts val="2800"/>
              <a:buChar char="●"/>
            </a:pPr>
            <a:r>
              <a:rPr lang="es-CL" sz="2800"/>
              <a:t>Como se define una arquitectura IoT</a:t>
            </a:r>
            <a:endParaRPr sz="2800"/>
          </a:p>
          <a:p>
            <a:pPr indent="-406400" lvl="0" marL="457200" rtl="0" algn="l">
              <a:lnSpc>
                <a:spcPct val="100000"/>
              </a:lnSpc>
              <a:spcBef>
                <a:spcPts val="0"/>
              </a:spcBef>
              <a:spcAft>
                <a:spcPts val="0"/>
              </a:spcAft>
              <a:buSzPts val="2800"/>
              <a:buChar char="●"/>
            </a:pPr>
            <a:r>
              <a:rPr lang="es-CL" sz="2800"/>
              <a:t>Componentes de la comunicación IoT</a:t>
            </a:r>
            <a:endParaRPr sz="2800"/>
          </a:p>
          <a:p>
            <a:pPr indent="-406400" lvl="0" marL="457200" rtl="0" algn="l">
              <a:lnSpc>
                <a:spcPct val="100000"/>
              </a:lnSpc>
              <a:spcBef>
                <a:spcPts val="0"/>
              </a:spcBef>
              <a:spcAft>
                <a:spcPts val="0"/>
              </a:spcAft>
              <a:buSzPts val="2800"/>
              <a:buChar char="●"/>
            </a:pPr>
            <a:r>
              <a:rPr lang="es-CL" sz="2800"/>
              <a:t>Protocolos de conexión inalámbricas</a:t>
            </a:r>
            <a:endParaRPr sz="2800"/>
          </a:p>
          <a:p>
            <a:pPr indent="-406400" lvl="0" marL="457200" rtl="0" algn="l">
              <a:lnSpc>
                <a:spcPct val="100000"/>
              </a:lnSpc>
              <a:spcBef>
                <a:spcPts val="0"/>
              </a:spcBef>
              <a:spcAft>
                <a:spcPts val="0"/>
              </a:spcAft>
              <a:buSzPts val="2800"/>
              <a:buChar char="●"/>
            </a:pPr>
            <a:r>
              <a:rPr lang="es-CL" sz="2800"/>
              <a:t>Conceptos de seguridad</a:t>
            </a:r>
            <a:endParaRPr sz="2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133e68395f5_0_513"/>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Bibliografía</a:t>
            </a:r>
            <a:endParaRPr/>
          </a:p>
        </p:txBody>
      </p:sp>
      <p:pic>
        <p:nvPicPr>
          <p:cNvPr id="436" name="Google Shape;436;g133e68395f5_0_513"/>
          <p:cNvPicPr preferRelativeResize="0"/>
          <p:nvPr/>
        </p:nvPicPr>
        <p:blipFill rotWithShape="1">
          <a:blip r:embed="rId3">
            <a:alphaModFix/>
          </a:blip>
          <a:srcRect b="0" l="0" r="0" t="0"/>
          <a:stretch/>
        </p:blipFill>
        <p:spPr>
          <a:xfrm>
            <a:off x="1427520" y="4845981"/>
            <a:ext cx="1031738" cy="562610"/>
          </a:xfrm>
          <a:prstGeom prst="rect">
            <a:avLst/>
          </a:prstGeom>
          <a:noFill/>
          <a:ln>
            <a:noFill/>
          </a:ln>
        </p:spPr>
      </p:pic>
      <p:sp>
        <p:nvSpPr>
          <p:cNvPr id="437" name="Google Shape;437;g133e68395f5_0_513"/>
          <p:cNvSpPr txBox="1"/>
          <p:nvPr/>
        </p:nvSpPr>
        <p:spPr>
          <a:xfrm>
            <a:off x="2984950" y="4273450"/>
            <a:ext cx="16257600" cy="4211700"/>
          </a:xfrm>
          <a:prstGeom prst="rect">
            <a:avLst/>
          </a:prstGeom>
          <a:noFill/>
          <a:ln>
            <a:noFill/>
          </a:ln>
        </p:spPr>
        <p:txBody>
          <a:bodyPr anchorCtr="0" anchor="t" bIns="0" lIns="0" spcFirstLastPara="1" rIns="0" wrap="square" tIns="91425">
            <a:spAutoFit/>
          </a:bodyPr>
          <a:lstStyle/>
          <a:p>
            <a:pPr indent="0" lvl="0" marL="0" marR="0" rtl="0" algn="l">
              <a:lnSpc>
                <a:spcPct val="90000"/>
              </a:lnSpc>
              <a:spcBef>
                <a:spcPts val="0"/>
              </a:spcBef>
              <a:spcAft>
                <a:spcPts val="0"/>
              </a:spcAft>
              <a:buClr>
                <a:schemeClr val="dk1"/>
              </a:buClr>
              <a:buSzPts val="1100"/>
              <a:buFont typeface="Arial"/>
              <a:buNone/>
            </a:pPr>
            <a:r>
              <a:rPr b="1" lang="es-CL" sz="2250">
                <a:solidFill>
                  <a:schemeClr val="dk1"/>
                </a:solidFill>
              </a:rPr>
              <a:t>2.2.1 Yáñez, F. (2017). Las 20 tecnologías clave de la industria 4.0: El camino hacia la fábrica del futuro. Leipzig: Amazon distribution.</a:t>
            </a:r>
            <a:endParaRPr b="1" sz="2250">
              <a:solidFill>
                <a:schemeClr val="dk1"/>
              </a:solidFill>
            </a:endParaRPr>
          </a:p>
          <a:p>
            <a:pPr indent="0" lvl="0" marL="0" marR="0" rtl="0" algn="l">
              <a:lnSpc>
                <a:spcPct val="90000"/>
              </a:lnSpc>
              <a:spcBef>
                <a:spcPts val="0"/>
              </a:spcBef>
              <a:spcAft>
                <a:spcPts val="0"/>
              </a:spcAft>
              <a:buClr>
                <a:schemeClr val="dk1"/>
              </a:buClr>
              <a:buSzPts val="1100"/>
              <a:buFont typeface="Arial"/>
              <a:buNone/>
            </a:pPr>
            <a:r>
              <a:t/>
            </a:r>
            <a:endParaRPr b="1" sz="2250">
              <a:solidFill>
                <a:schemeClr val="dk1"/>
              </a:solidFill>
            </a:endParaRPr>
          </a:p>
          <a:p>
            <a:pPr indent="0" lvl="0" marL="0" marR="0" rtl="0" algn="l">
              <a:lnSpc>
                <a:spcPct val="90000"/>
              </a:lnSpc>
              <a:spcBef>
                <a:spcPts val="0"/>
              </a:spcBef>
              <a:spcAft>
                <a:spcPts val="0"/>
              </a:spcAft>
              <a:buClr>
                <a:schemeClr val="dk1"/>
              </a:buClr>
              <a:buSzPts val="1100"/>
              <a:buFont typeface="Arial"/>
              <a:buNone/>
            </a:pPr>
            <a:r>
              <a:rPr b="1" lang="es-CL" sz="2250">
                <a:solidFill>
                  <a:schemeClr val="dk1"/>
                </a:solidFill>
              </a:rPr>
              <a:t>R. Weinstein, "RFID: a technical overview and its application to the enterprise," in IT Professional, vol. 7, no. 3, pp. 27-33, May-June 2005, doi: 10.1109/MITP.2005.69.</a:t>
            </a:r>
            <a:endParaRPr sz="1150">
              <a:solidFill>
                <a:schemeClr val="dk1"/>
              </a:solidFill>
            </a:endParaRPr>
          </a:p>
          <a:p>
            <a:pPr indent="0" lvl="0" marL="0" marR="0" rtl="0" algn="l">
              <a:lnSpc>
                <a:spcPct val="90000"/>
              </a:lnSpc>
              <a:spcBef>
                <a:spcPts val="0"/>
              </a:spcBef>
              <a:spcAft>
                <a:spcPts val="0"/>
              </a:spcAft>
              <a:buClr>
                <a:schemeClr val="dk1"/>
              </a:buClr>
              <a:buSzPts val="1100"/>
              <a:buFont typeface="Arial"/>
              <a:buNone/>
            </a:pPr>
            <a:r>
              <a:t/>
            </a:r>
            <a:endParaRPr b="1" sz="2250">
              <a:solidFill>
                <a:schemeClr val="dk1"/>
              </a:solidFill>
            </a:endParaRPr>
          </a:p>
          <a:p>
            <a:pPr indent="0" lvl="0" marL="0" marR="0" rtl="0" algn="l">
              <a:lnSpc>
                <a:spcPct val="90000"/>
              </a:lnSpc>
              <a:spcBef>
                <a:spcPts val="0"/>
              </a:spcBef>
              <a:spcAft>
                <a:spcPts val="0"/>
              </a:spcAft>
              <a:buClr>
                <a:schemeClr val="dk1"/>
              </a:buClr>
              <a:buSzPts val="3600"/>
              <a:buFont typeface="Arial"/>
              <a:buNone/>
            </a:pPr>
            <a:r>
              <a:t/>
            </a:r>
            <a:endParaRPr b="1" sz="2250">
              <a:solidFill>
                <a:schemeClr val="dk1"/>
              </a:solidFill>
            </a:endParaRPr>
          </a:p>
          <a:p>
            <a:pPr indent="0" lvl="0" marL="0" marR="0" rtl="0" algn="l">
              <a:lnSpc>
                <a:spcPct val="90000"/>
              </a:lnSpc>
              <a:spcBef>
                <a:spcPts val="0"/>
              </a:spcBef>
              <a:spcAft>
                <a:spcPts val="0"/>
              </a:spcAft>
              <a:buClr>
                <a:schemeClr val="dk1"/>
              </a:buClr>
              <a:buSzPts val="3600"/>
              <a:buFont typeface="Arial"/>
              <a:buNone/>
            </a:pPr>
            <a:r>
              <a:t/>
            </a:r>
            <a:endParaRPr b="1" i="0" sz="2250" u="sng"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0" i="0" sz="22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900"/>
              <a:buFont typeface="Arial"/>
              <a:buNone/>
            </a:pPr>
            <a:r>
              <a:t/>
            </a:r>
            <a:endParaRPr b="1" i="0" sz="4900" u="none" cap="none" strike="noStrike">
              <a:solidFill>
                <a:srgbClr val="9EA4A8"/>
              </a:solidFill>
              <a:latin typeface="Arial"/>
              <a:ea typeface="Arial"/>
              <a:cs typeface="Arial"/>
              <a:sym typeface="Arial"/>
            </a:endParaRPr>
          </a:p>
          <a:p>
            <a:pPr indent="0" lvl="0" marL="46355" marR="5080" rtl="0" algn="l">
              <a:lnSpc>
                <a:spcPct val="101499"/>
              </a:lnSpc>
              <a:spcBef>
                <a:spcPts val="345"/>
              </a:spcBef>
              <a:spcAft>
                <a:spcPts val="0"/>
              </a:spcAft>
              <a:buClr>
                <a:srgbClr val="000000"/>
              </a:buClr>
              <a:buSzPts val="3350"/>
              <a:buFont typeface="Arial"/>
              <a:buNone/>
            </a:pPr>
            <a:r>
              <a:t/>
            </a:r>
            <a:endParaRPr b="1" i="0" sz="33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