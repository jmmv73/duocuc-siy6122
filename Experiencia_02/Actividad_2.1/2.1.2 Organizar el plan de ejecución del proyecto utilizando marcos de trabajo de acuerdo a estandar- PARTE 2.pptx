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6" r:id="rId4"/>
    <p:sldMasterId id="2147483680" r:id="rId5"/>
    <p:sldMasterId id="214748368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y="6858000" cx="9144000"/>
  <p:notesSz cx="7772400" cy="10058400"/>
  <p:embeddedFontLst>
    <p:embeddedFont>
      <p:font typeface="Franklin Gothic"/>
      <p:bold r:id="rId65"/>
    </p:embeddedFont>
    <p:embeddedFont>
      <p:font typeface="Bebas Neue"/>
      <p:regular r:id="rId66"/>
    </p:embeddedFont>
    <p:embeddedFont>
      <p:font typeface="Roboto Mon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71" roundtripDataSignature="AMtx7mhvd5iwOHjrEMtKR/NVLjyzfC2Z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customschemas.google.com/relationships/presentationmetadata" Target="metadata"/><Relationship Id="rId70" Type="http://schemas.openxmlformats.org/officeDocument/2006/relationships/font" Target="fonts/RobotoMono-bold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font" Target="fonts/BebasNeue-regular.fntdata"/><Relationship Id="rId21" Type="http://schemas.openxmlformats.org/officeDocument/2006/relationships/slide" Target="slides/slide14.xml"/><Relationship Id="rId65" Type="http://schemas.openxmlformats.org/officeDocument/2006/relationships/font" Target="fonts/FranklinGothic-bold.fntdata"/><Relationship Id="rId24" Type="http://schemas.openxmlformats.org/officeDocument/2006/relationships/slide" Target="slides/slide17.xml"/><Relationship Id="rId68" Type="http://schemas.openxmlformats.org/officeDocument/2006/relationships/font" Target="fonts/RobotoMono-bold.fntdata"/><Relationship Id="rId23" Type="http://schemas.openxmlformats.org/officeDocument/2006/relationships/slide" Target="slides/slide16.xml"/><Relationship Id="rId67" Type="http://schemas.openxmlformats.org/officeDocument/2006/relationships/font" Target="fonts/RobotoMono-regular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RobotoMono-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issflow.com/project/five-phases-of-project-management/" TargetMode="Externa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issflow.com/project/five-phases-of-project-management/" TargetMode="Externa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350e5ad54e_0_19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1350e5ad54e_0_19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350e5ad54e_0_228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g1350e5ad54e_0_228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350e5ad54e_0_600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g1350e5ad54e_0_600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350e5ad54e_0_72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g1350e5ad54e_0_72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350e5ad54e_0_692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g1350e5ad54e_0_692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3503765b8d_0_13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13503765b8d_0_13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350e5ad54e_0_696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g1350e5ad54e_0_696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13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19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350e5ad54e_0_700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0" name="Google Shape;490;g1350e5ad54e_0_700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350e5ad54e_0_70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g1350e5ad54e_0_70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350e5ad54e_0_728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1350e5ad54e_0_728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19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0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p20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0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p20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0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20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350e5ad54e_0_732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g1350e5ad54e_0_732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0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p20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350e5ad54e_0_736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g1350e5ad54e_0_736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1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p21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p21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1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6" name="Google Shape;566;p21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21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350e5ad54e_0_74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9" name="Google Shape;579;g1350e5ad54e_0_74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2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4" name="Google Shape;584;p22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350e5ad54e_0_748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1" name="Google Shape;591;g1350e5ad54e_0_748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2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p22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3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3" name="Google Shape;603;p23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1350e5ad54e_0_756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0" name="Google Shape;610;g1350e5ad54e_0_756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4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5" name="Google Shape;615;p24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4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2" name="Google Shape;622;p24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350e5ad54e_0_76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g1350e5ad54e_0_76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4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p24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5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2" name="Google Shape;642;p25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5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0" name="Google Shape;650;p25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7" name="Google Shape;657;p25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5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4" name="Google Shape;664;p25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3503765b8d_0_380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72" name="Google Shape;672;g13503765b8d_0_380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3503765b8d_0_367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-ES"/>
              <a:t>https://www.itmplatform.com/en/blog/role-of-a-project-manager/</a:t>
            </a:r>
            <a:endParaRPr/>
          </a:p>
        </p:txBody>
      </p:sp>
      <p:sp>
        <p:nvSpPr>
          <p:cNvPr id="678" name="Google Shape;678;g13503765b8d_0_367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3503765b8d_0_37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-ES"/>
              <a:t>https://www.itmplatform.com/en/blog/role-of-a-project-manager/</a:t>
            </a:r>
            <a:endParaRPr/>
          </a:p>
        </p:txBody>
      </p:sp>
      <p:sp>
        <p:nvSpPr>
          <p:cNvPr id="686" name="Google Shape;686;g13503765b8d_0_37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13503765b8d_0_38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-ES" u="sng">
                <a:solidFill>
                  <a:schemeClr val="hlink"/>
                </a:solidFill>
                <a:hlinkClick r:id="rId2"/>
              </a:rPr>
              <a:t>https://kissflow.com/project/five-phases-of-project-management/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93" name="Google Shape;693;g13503765b8d_0_38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13503765b8d_0_389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-ES" u="sng">
                <a:solidFill>
                  <a:schemeClr val="hlink"/>
                </a:solidFill>
                <a:hlinkClick r:id="rId2"/>
              </a:rPr>
              <a:t>https://kissflow.com/project/five-phases-of-project-management/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99" name="Google Shape;699;g13503765b8d_0_389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3503765b8d_0_395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06" name="Google Shape;706;g13503765b8d_0_395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3503765b8d_0_400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12" name="Google Shape;712;g13503765b8d_0_400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13503765b8d_0_40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17" name="Google Shape;717;g13503765b8d_0_40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3503765b8d_0_409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23" name="Google Shape;723;g13503765b8d_0_409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13503765b8d_0_41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29" name="Google Shape;729;g13503765b8d_0_41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13503765b8d_0_419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35" name="Google Shape;735;g13503765b8d_0_419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3503765b8d_0_424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41" name="Google Shape;741;g13503765b8d_0_424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13503765b8d_0_429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47" name="Google Shape;747;g13503765b8d_0_429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3503765b8d_0_433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52" name="Google Shape;752;g13503765b8d_0_433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503765b8d_0_437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57" name="Google Shape;757;g13503765b8d_0_437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13503765b8d_0_441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62" name="Google Shape;762;g13503765b8d_0_441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13503765b8d_0_445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https://rvdownloads.s3.amazonaws.com/uploads/downloads/pmbok-6ed/es/ricardo_vargas_pmbok_flow_6ed_color_ES-A0.pdf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67" name="Google Shape;767;g13503765b8d_0_445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350e5ad54e_0_470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76" name="Google Shape;776;g1350e5ad54e_0_470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350e5ad54e_0_475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82" name="Google Shape;782;g1350e5ad54e_0_475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350e5ad54e_0_485:notes"/>
          <p:cNvSpPr txBox="1"/>
          <p:nvPr>
            <p:ph idx="1" type="body"/>
          </p:nvPr>
        </p:nvSpPr>
        <p:spPr>
          <a:xfrm>
            <a:off x="777236" y="4777726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675" lIns="50675" spcFirstLastPara="1" rIns="50675" wrap="square" tIns="50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93" name="Google Shape;793;g1350e5ad54e_0_485:notes"/>
          <p:cNvSpPr/>
          <p:nvPr>
            <p:ph idx="2" type="sldImg"/>
          </p:nvPr>
        </p:nvSpPr>
        <p:spPr>
          <a:xfrm>
            <a:off x="1943254" y="754379"/>
            <a:ext cx="38868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g1350e5ad54e_0_2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0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1350e5ad54e_0_239"/>
          <p:cNvSpPr/>
          <p:nvPr/>
        </p:nvSpPr>
        <p:spPr>
          <a:xfrm>
            <a:off x="2316356" y="4468096"/>
            <a:ext cx="4866074" cy="32404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1350e5ad54e_0_239"/>
          <p:cNvSpPr/>
          <p:nvPr/>
        </p:nvSpPr>
        <p:spPr>
          <a:xfrm>
            <a:off x="2316356" y="3834001"/>
            <a:ext cx="4866074" cy="633262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g1350e5ad54e_0_239"/>
          <p:cNvSpPr txBox="1"/>
          <p:nvPr>
            <p:ph idx="1" type="body"/>
          </p:nvPr>
        </p:nvSpPr>
        <p:spPr>
          <a:xfrm>
            <a:off x="2337113" y="3881760"/>
            <a:ext cx="4843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" name="Google Shape;16;g1350e5ad54e_0_239"/>
          <p:cNvSpPr txBox="1"/>
          <p:nvPr>
            <p:ph idx="2" type="body"/>
          </p:nvPr>
        </p:nvSpPr>
        <p:spPr>
          <a:xfrm>
            <a:off x="2145923" y="3181445"/>
            <a:ext cx="51987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g1350e5ad54e_0_239"/>
          <p:cNvSpPr txBox="1"/>
          <p:nvPr>
            <p:ph idx="3" type="body"/>
          </p:nvPr>
        </p:nvSpPr>
        <p:spPr>
          <a:xfrm>
            <a:off x="2316356" y="4655238"/>
            <a:ext cx="4864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pic>
        <p:nvPicPr>
          <p:cNvPr id="18" name="Google Shape;18;g1350e5ad54e_0_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545" y="5145301"/>
            <a:ext cx="2829421" cy="93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1350e5ad54e_0_2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4609" y="6235425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g1350e5ad54e_0_2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47418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g1350e5ad54e_0_286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1350e5ad54e_0_286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g1350e5ad54e_0_286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25" name="Google Shape;25;g1350e5ad54e_0_286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" name="Google Shape;26;g1350e5ad54e_0_2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" name="Google Shape;27;g1350e5ad54e_0_2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1350e5ad54e_0_286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29" name="Google Shape;29;g1350e5ad54e_0_286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g1350e5ad54e_0_286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350e5ad54e_0_275"/>
          <p:cNvSpPr/>
          <p:nvPr/>
        </p:nvSpPr>
        <p:spPr>
          <a:xfrm>
            <a:off x="0" y="502542"/>
            <a:ext cx="2250000" cy="708300"/>
          </a:xfrm>
          <a:prstGeom prst="rect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23100" lIns="46200" spcFirstLastPara="1" rIns="46200" wrap="square" tIns="2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1350e5ad54e_0_275"/>
          <p:cNvSpPr/>
          <p:nvPr/>
        </p:nvSpPr>
        <p:spPr>
          <a:xfrm>
            <a:off x="2273513" y="502542"/>
            <a:ext cx="69341" cy="699821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1350e5ad54e_0_275"/>
          <p:cNvSpPr txBox="1"/>
          <p:nvPr>
            <p:ph idx="1" type="body"/>
          </p:nvPr>
        </p:nvSpPr>
        <p:spPr>
          <a:xfrm>
            <a:off x="261092" y="763102"/>
            <a:ext cx="1975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g1350e5ad54e_0_275"/>
          <p:cNvSpPr txBox="1"/>
          <p:nvPr>
            <p:ph idx="2" type="body"/>
          </p:nvPr>
        </p:nvSpPr>
        <p:spPr>
          <a:xfrm>
            <a:off x="261381" y="1765521"/>
            <a:ext cx="1975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" name="Google Shape;36;g1350e5ad54e_0_275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1350e5ad54e_0_275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38;g1350e5ad54e_0_275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39" name="Google Shape;39;g1350e5ad54e_0_275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" name="Google Shape;40;g1350e5ad54e_0_27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" name="Google Shape;41;g1350e5ad54e_0_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350e5ad54e_0_248"/>
          <p:cNvSpPr/>
          <p:nvPr/>
        </p:nvSpPr>
        <p:spPr>
          <a:xfrm>
            <a:off x="6641923" y="1072405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1350e5ad54e_0_248"/>
          <p:cNvSpPr/>
          <p:nvPr/>
        </p:nvSpPr>
        <p:spPr>
          <a:xfrm>
            <a:off x="4737235" y="1072405"/>
            <a:ext cx="1543726" cy="4614501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1350e5ad54e_0_248"/>
          <p:cNvSpPr/>
          <p:nvPr/>
        </p:nvSpPr>
        <p:spPr>
          <a:xfrm>
            <a:off x="2886920" y="1099589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1350e5ad54e_0_248"/>
          <p:cNvSpPr/>
          <p:nvPr/>
        </p:nvSpPr>
        <p:spPr>
          <a:xfrm>
            <a:off x="1016851" y="1103824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1350e5ad54e_0_248"/>
          <p:cNvSpPr txBox="1"/>
          <p:nvPr>
            <p:ph idx="1" type="body"/>
          </p:nvPr>
        </p:nvSpPr>
        <p:spPr>
          <a:xfrm>
            <a:off x="1106176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8" name="Google Shape;48;g1350e5ad54e_0_248"/>
          <p:cNvSpPr txBox="1"/>
          <p:nvPr>
            <p:ph idx="2" type="body"/>
          </p:nvPr>
        </p:nvSpPr>
        <p:spPr>
          <a:xfrm>
            <a:off x="1106176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9" name="Google Shape;49;g1350e5ad54e_0_248"/>
          <p:cNvSpPr txBox="1"/>
          <p:nvPr>
            <p:ph idx="3" type="body"/>
          </p:nvPr>
        </p:nvSpPr>
        <p:spPr>
          <a:xfrm>
            <a:off x="1146591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0" name="Google Shape;50;g1350e5ad54e_0_248"/>
          <p:cNvSpPr txBox="1"/>
          <p:nvPr>
            <p:ph idx="4" type="body"/>
          </p:nvPr>
        </p:nvSpPr>
        <p:spPr>
          <a:xfrm>
            <a:off x="2988192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1" name="Google Shape;51;g1350e5ad54e_0_248"/>
          <p:cNvSpPr txBox="1"/>
          <p:nvPr>
            <p:ph idx="5" type="body"/>
          </p:nvPr>
        </p:nvSpPr>
        <p:spPr>
          <a:xfrm>
            <a:off x="2988192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g1350e5ad54e_0_248"/>
          <p:cNvSpPr txBox="1"/>
          <p:nvPr>
            <p:ph idx="6" type="body"/>
          </p:nvPr>
        </p:nvSpPr>
        <p:spPr>
          <a:xfrm>
            <a:off x="3028607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g1350e5ad54e_0_248"/>
          <p:cNvSpPr txBox="1"/>
          <p:nvPr>
            <p:ph idx="7" type="body"/>
          </p:nvPr>
        </p:nvSpPr>
        <p:spPr>
          <a:xfrm>
            <a:off x="4840661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4" name="Google Shape;54;g1350e5ad54e_0_248"/>
          <p:cNvSpPr txBox="1"/>
          <p:nvPr>
            <p:ph idx="8" type="body"/>
          </p:nvPr>
        </p:nvSpPr>
        <p:spPr>
          <a:xfrm>
            <a:off x="4840661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5" name="Google Shape;55;g1350e5ad54e_0_248"/>
          <p:cNvSpPr txBox="1"/>
          <p:nvPr>
            <p:ph idx="9" type="body"/>
          </p:nvPr>
        </p:nvSpPr>
        <p:spPr>
          <a:xfrm>
            <a:off x="4881076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g1350e5ad54e_0_248"/>
          <p:cNvSpPr txBox="1"/>
          <p:nvPr>
            <p:ph idx="13" type="body"/>
          </p:nvPr>
        </p:nvSpPr>
        <p:spPr>
          <a:xfrm>
            <a:off x="6751582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7" name="Google Shape;57;g1350e5ad54e_0_248"/>
          <p:cNvSpPr txBox="1"/>
          <p:nvPr>
            <p:ph idx="14" type="body"/>
          </p:nvPr>
        </p:nvSpPr>
        <p:spPr>
          <a:xfrm>
            <a:off x="6751582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g1350e5ad54e_0_248"/>
          <p:cNvSpPr txBox="1"/>
          <p:nvPr>
            <p:ph idx="15" type="body"/>
          </p:nvPr>
        </p:nvSpPr>
        <p:spPr>
          <a:xfrm>
            <a:off x="6791997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g1350e5ad54e_0_248"/>
          <p:cNvSpPr/>
          <p:nvPr/>
        </p:nvSpPr>
        <p:spPr>
          <a:xfrm>
            <a:off x="1627955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350e5ad54e_0_248"/>
          <p:cNvSpPr/>
          <p:nvPr/>
        </p:nvSpPr>
        <p:spPr>
          <a:xfrm>
            <a:off x="3487518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1350e5ad54e_0_248"/>
          <p:cNvSpPr/>
          <p:nvPr/>
        </p:nvSpPr>
        <p:spPr>
          <a:xfrm>
            <a:off x="7275343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1350e5ad54e_0_248"/>
          <p:cNvSpPr/>
          <p:nvPr/>
        </p:nvSpPr>
        <p:spPr>
          <a:xfrm>
            <a:off x="5334481" y="3468543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1350e5ad54e_0_248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1350e5ad54e_0_248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g1350e5ad54e_0_248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66" name="Google Shape;66;g1350e5ad54e_0_248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7" name="Google Shape;67;g1350e5ad54e_0_24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g1350e5ad54e_0_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1350e5ad54e_0_2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49177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1350e5ad54e_0_297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350e5ad54e_0_297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g1350e5ad54e_0_297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74" name="Google Shape;74;g1350e5ad54e_0_297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g1350e5ad54e_0_2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g1350e5ad54e_0_2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1350e5ad54e_0_297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78" name="Google Shape;78;g1350e5ad54e_0_297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g1350e5ad54e_0_297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1350e5ad54e_0_3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1652"/>
            <a:ext cx="9144000" cy="456044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1350e5ad54e_0_308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1350e5ad54e_0_308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g1350e5ad54e_0_308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85" name="Google Shape;85;g1350e5ad54e_0_308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6" name="Google Shape;86;g1350e5ad54e_0_30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" name="Google Shape;87;g1350e5ad54e_0_3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1350e5ad54e_0_308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89" name="Google Shape;89;g1350e5ad54e_0_308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g1350e5ad54e_0_308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1350e5ad54e_0_3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477"/>
            <a:ext cx="9147648" cy="4569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1350e5ad54e_0_319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1350e5ad54e_0_319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g1350e5ad54e_0_319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96" name="Google Shape;96;g1350e5ad54e_0_319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" name="Google Shape;97;g1350e5ad54e_0_3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g1350e5ad54e_0_3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1350e5ad54e_0_319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100" name="Google Shape;100;g1350e5ad54e_0_319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g1350e5ad54e_0_319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7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2" name="Google Shape;112;p257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57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5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15" name="Google Shape;115;p2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5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17" name="Google Shape;117;p257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Título y objetos 3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6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23" name="Google Shape;123;p26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4" name="Google Shape;124;p26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" name="Google Shape;125;p26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">
  <p:cSld name="Título y objetos 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6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2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31" name="Google Shape;131;p26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2" name="Google Shape;132;p26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" name="Google Shape;133;p262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4">
  <p:cSld name="Título y objetos 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4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BE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4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4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39" name="Google Shape;139;p264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0" name="Google Shape;140;p264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264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5">
  <p:cSld name="Título y objetos 5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6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00A0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6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6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47" name="Google Shape;147;p266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8" name="Google Shape;148;p266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266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Encabezado de sección 1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258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53" name="Google Shape;153;p258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54" name="Google Shape;154;p258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155" name="Google Shape;155;p25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313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Encabezado de sección 3">
    <p:bg>
      <p:bgPr>
        <a:solidFill>
          <a:schemeClr val="accen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9"/>
          <p:cNvSpPr/>
          <p:nvPr/>
        </p:nvSpPr>
        <p:spPr>
          <a:xfrm flipH="1" rot="10800000">
            <a:off x="0" y="3085"/>
            <a:ext cx="4850881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159" name="Google Shape;159;p259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10"/>
            <a:ext cx="4711067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0" name="Google Shape;160;p25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Encabezado de sección 2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61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63" name="Google Shape;163;p261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n que contiene persona, foto, hombre, mujer&#10;&#10;Descripción generada automáticamente" id="164" name="Google Shape;164;p261"/>
            <p:cNvPicPr preferRelativeResize="0"/>
            <p:nvPr/>
          </p:nvPicPr>
          <p:blipFill rotWithShape="1">
            <a:blip r:embed="rId2">
              <a:alphaModFix/>
            </a:blip>
            <a:srcRect b="0" l="0" r="16349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165" name="Google Shape;165;p261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9pPr>
          </a:lstStyle>
          <a:p/>
        </p:txBody>
      </p:sp>
      <p:pic>
        <p:nvPicPr>
          <p:cNvPr id="166" name="Google Shape;166;p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Encabezado de sección 4">
    <p:bg>
      <p:bgPr>
        <a:solidFill>
          <a:schemeClr val="accent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3"/>
          <p:cNvSpPr/>
          <p:nvPr/>
        </p:nvSpPr>
        <p:spPr>
          <a:xfrm flipH="1" rot="10800000">
            <a:off x="0" y="3085"/>
            <a:ext cx="4850881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foto, hombre, mujer&#10;&#10;Descripción generada automáticamente" id="170" name="Google Shape;170;p263"/>
          <p:cNvPicPr preferRelativeResize="0"/>
          <p:nvPr/>
        </p:nvPicPr>
        <p:blipFill rotWithShape="1">
          <a:blip r:embed="rId3">
            <a:alphaModFix/>
          </a:blip>
          <a:srcRect b="0" l="0" r="16349" t="0"/>
          <a:stretch/>
        </p:blipFill>
        <p:spPr>
          <a:xfrm>
            <a:off x="1" y="10"/>
            <a:ext cx="4711067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71" name="Google Shape;171;p263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5">
  <p:cSld name="Encabezado de sección 5">
    <p:bg>
      <p:bgPr>
        <a:solidFill>
          <a:schemeClr val="accent4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5"/>
          <p:cNvSpPr/>
          <p:nvPr/>
        </p:nvSpPr>
        <p:spPr>
          <a:xfrm flipH="1" rot="10800000">
            <a:off x="0" y="3085"/>
            <a:ext cx="4850881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175" name="Google Shape;175;p265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10"/>
            <a:ext cx="4711067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76" name="Google Shape;176;p265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6">
  <p:cSld name="Encabezado de sección 6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7"/>
          <p:cNvSpPr/>
          <p:nvPr/>
        </p:nvSpPr>
        <p:spPr>
          <a:xfrm flipH="1" rot="10800000">
            <a:off x="0" y="3085"/>
            <a:ext cx="4850881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foto, hombre, mujer&#10;&#10;Descripción generada automáticamente" id="180" name="Google Shape;180;p267"/>
          <p:cNvPicPr preferRelativeResize="0"/>
          <p:nvPr/>
        </p:nvPicPr>
        <p:blipFill rotWithShape="1">
          <a:blip r:embed="rId3">
            <a:alphaModFix/>
          </a:blip>
          <a:srcRect b="0" l="0" r="16349" t="0"/>
          <a:stretch/>
        </p:blipFill>
        <p:spPr>
          <a:xfrm>
            <a:off x="1" y="10"/>
            <a:ext cx="4711067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1" name="Google Shape;181;p267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0">
  <p:cSld name="Encabezado de sección 10">
    <p:bg>
      <p:bgPr>
        <a:solidFill>
          <a:srgbClr val="73381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8"/>
          <p:cNvSpPr/>
          <p:nvPr/>
        </p:nvSpPr>
        <p:spPr>
          <a:xfrm flipH="1" rot="10800000">
            <a:off x="0" y="3085"/>
            <a:ext cx="4850881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foto, hombre, mujer&#10;&#10;Descripción generada automáticamente" id="185" name="Google Shape;185;p268"/>
          <p:cNvPicPr preferRelativeResize="0"/>
          <p:nvPr/>
        </p:nvPicPr>
        <p:blipFill rotWithShape="1">
          <a:blip r:embed="rId3">
            <a:alphaModFix/>
          </a:blip>
          <a:srcRect b="0" l="0" r="16349" t="0"/>
          <a:stretch/>
        </p:blipFill>
        <p:spPr>
          <a:xfrm>
            <a:off x="1" y="10"/>
            <a:ext cx="4711067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6" name="Google Shape;186;p26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92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93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94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94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6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97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97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97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9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8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98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99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9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99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00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00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0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0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0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01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02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02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02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02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02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02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13503765b8d_0_4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49177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13503765b8d_0_479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13503765b8d_0_479"/>
          <p:cNvSpPr/>
          <p:nvPr/>
        </p:nvSpPr>
        <p:spPr>
          <a:xfrm>
            <a:off x="8500487" y="6349282"/>
            <a:ext cx="176822" cy="29318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g13503765b8d_0_479"/>
          <p:cNvGrpSpPr/>
          <p:nvPr/>
        </p:nvGrpSpPr>
        <p:grpSpPr>
          <a:xfrm>
            <a:off x="8700930" y="6279499"/>
            <a:ext cx="202706" cy="362724"/>
            <a:chOff x="18406073" y="10234089"/>
            <a:chExt cx="445704" cy="598160"/>
          </a:xfrm>
        </p:grpSpPr>
        <p:sp>
          <p:nvSpPr>
            <p:cNvPr id="245" name="Google Shape;245;g13503765b8d_0_479"/>
            <p:cNvSpPr/>
            <p:nvPr/>
          </p:nvSpPr>
          <p:spPr>
            <a:xfrm>
              <a:off x="18406073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6" name="Google Shape;246;g13503765b8d_0_4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7" name="Google Shape;247;g13503765b8d_0_4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13503765b8d_0_479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249" name="Google Shape;249;g13503765b8d_0_479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g13503765b8d_0_479"/>
          <p:cNvSpPr txBox="1"/>
          <p:nvPr>
            <p:ph idx="1" type="body"/>
          </p:nvPr>
        </p:nvSpPr>
        <p:spPr>
          <a:xfrm>
            <a:off x="3781602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503765b8d_0_468"/>
          <p:cNvSpPr/>
          <p:nvPr/>
        </p:nvSpPr>
        <p:spPr>
          <a:xfrm>
            <a:off x="0" y="502542"/>
            <a:ext cx="2250000" cy="708300"/>
          </a:xfrm>
          <a:prstGeom prst="rect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23100" lIns="46200" spcFirstLastPara="1" rIns="46200" wrap="square" tIns="2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13503765b8d_0_468"/>
          <p:cNvSpPr/>
          <p:nvPr/>
        </p:nvSpPr>
        <p:spPr>
          <a:xfrm>
            <a:off x="2273513" y="502542"/>
            <a:ext cx="69341" cy="699821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13503765b8d_0_468"/>
          <p:cNvSpPr txBox="1"/>
          <p:nvPr>
            <p:ph idx="1" type="body"/>
          </p:nvPr>
        </p:nvSpPr>
        <p:spPr>
          <a:xfrm>
            <a:off x="261092" y="763102"/>
            <a:ext cx="1975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5" name="Google Shape;255;g13503765b8d_0_468"/>
          <p:cNvSpPr txBox="1"/>
          <p:nvPr>
            <p:ph idx="2" type="body"/>
          </p:nvPr>
        </p:nvSpPr>
        <p:spPr>
          <a:xfrm>
            <a:off x="261381" y="1765521"/>
            <a:ext cx="1975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6" name="Google Shape;256;g13503765b8d_0_468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3503765b8d_0_468"/>
          <p:cNvSpPr/>
          <p:nvPr/>
        </p:nvSpPr>
        <p:spPr>
          <a:xfrm>
            <a:off x="8500487" y="6349282"/>
            <a:ext cx="176822" cy="29318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g13503765b8d_0_468"/>
          <p:cNvGrpSpPr/>
          <p:nvPr/>
        </p:nvGrpSpPr>
        <p:grpSpPr>
          <a:xfrm>
            <a:off x="8700930" y="6279499"/>
            <a:ext cx="202706" cy="362724"/>
            <a:chOff x="18406073" y="10234089"/>
            <a:chExt cx="445704" cy="598160"/>
          </a:xfrm>
        </p:grpSpPr>
        <p:sp>
          <p:nvSpPr>
            <p:cNvPr id="259" name="Google Shape;259;g13503765b8d_0_468"/>
            <p:cNvSpPr/>
            <p:nvPr/>
          </p:nvSpPr>
          <p:spPr>
            <a:xfrm>
              <a:off x="18406073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0" name="Google Shape;260;g13503765b8d_0_46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1" name="Google Shape;261;g13503765b8d_0_4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g13503765b8d_0_4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47418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13503765b8d_0_490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13503765b8d_0_490"/>
          <p:cNvSpPr/>
          <p:nvPr/>
        </p:nvSpPr>
        <p:spPr>
          <a:xfrm>
            <a:off x="8500487" y="6349282"/>
            <a:ext cx="176822" cy="29318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6" name="Google Shape;266;g13503765b8d_0_490"/>
          <p:cNvGrpSpPr/>
          <p:nvPr/>
        </p:nvGrpSpPr>
        <p:grpSpPr>
          <a:xfrm>
            <a:off x="8700930" y="6279499"/>
            <a:ext cx="202706" cy="362724"/>
            <a:chOff x="18406073" y="10234089"/>
            <a:chExt cx="445704" cy="598160"/>
          </a:xfrm>
        </p:grpSpPr>
        <p:sp>
          <p:nvSpPr>
            <p:cNvPr id="267" name="Google Shape;267;g13503765b8d_0_490"/>
            <p:cNvSpPr/>
            <p:nvPr/>
          </p:nvSpPr>
          <p:spPr>
            <a:xfrm>
              <a:off x="18406073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8" name="Google Shape;268;g13503765b8d_0_4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9" name="Google Shape;269;g13503765b8d_0_4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13503765b8d_0_490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271" name="Google Shape;271;g13503765b8d_0_490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g13503765b8d_0_490"/>
          <p:cNvSpPr txBox="1"/>
          <p:nvPr>
            <p:ph idx="1" type="body"/>
          </p:nvPr>
        </p:nvSpPr>
        <p:spPr>
          <a:xfrm>
            <a:off x="3781602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13503765b8d_0_4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0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13503765b8d_0_459"/>
          <p:cNvSpPr/>
          <p:nvPr/>
        </p:nvSpPr>
        <p:spPr>
          <a:xfrm>
            <a:off x="2316357" y="4468096"/>
            <a:ext cx="4866074" cy="32404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13503765b8d_0_459"/>
          <p:cNvSpPr/>
          <p:nvPr/>
        </p:nvSpPr>
        <p:spPr>
          <a:xfrm>
            <a:off x="2316357" y="3834001"/>
            <a:ext cx="4866074" cy="633262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3503765b8d_0_459"/>
          <p:cNvSpPr txBox="1"/>
          <p:nvPr>
            <p:ph idx="1" type="body"/>
          </p:nvPr>
        </p:nvSpPr>
        <p:spPr>
          <a:xfrm>
            <a:off x="2337113" y="3881760"/>
            <a:ext cx="4843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8" name="Google Shape;278;g13503765b8d_0_459"/>
          <p:cNvSpPr txBox="1"/>
          <p:nvPr>
            <p:ph idx="2" type="body"/>
          </p:nvPr>
        </p:nvSpPr>
        <p:spPr>
          <a:xfrm>
            <a:off x="2145923" y="3181445"/>
            <a:ext cx="51987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9" name="Google Shape;279;g13503765b8d_0_459"/>
          <p:cNvSpPr txBox="1"/>
          <p:nvPr>
            <p:ph idx="3" type="body"/>
          </p:nvPr>
        </p:nvSpPr>
        <p:spPr>
          <a:xfrm>
            <a:off x="2316357" y="4655238"/>
            <a:ext cx="4864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pic>
        <p:nvPicPr>
          <p:cNvPr id="280" name="Google Shape;280;g13503765b8d_0_4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545" y="5145301"/>
            <a:ext cx="2829421" cy="93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13503765b8d_0_4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4609" y="6235425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3503765b8d_0_501"/>
          <p:cNvSpPr/>
          <p:nvPr/>
        </p:nvSpPr>
        <p:spPr>
          <a:xfrm>
            <a:off x="6641923" y="1072405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3503765b8d_0_501"/>
          <p:cNvSpPr/>
          <p:nvPr/>
        </p:nvSpPr>
        <p:spPr>
          <a:xfrm>
            <a:off x="4737235" y="1072405"/>
            <a:ext cx="1543726" cy="4614501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3503765b8d_0_501"/>
          <p:cNvSpPr/>
          <p:nvPr/>
        </p:nvSpPr>
        <p:spPr>
          <a:xfrm>
            <a:off x="2886920" y="1099589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13503765b8d_0_501"/>
          <p:cNvSpPr/>
          <p:nvPr/>
        </p:nvSpPr>
        <p:spPr>
          <a:xfrm>
            <a:off x="1016851" y="1103824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13503765b8d_0_501"/>
          <p:cNvSpPr txBox="1"/>
          <p:nvPr>
            <p:ph idx="1" type="body"/>
          </p:nvPr>
        </p:nvSpPr>
        <p:spPr>
          <a:xfrm>
            <a:off x="1106176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8" name="Google Shape;288;g13503765b8d_0_501"/>
          <p:cNvSpPr txBox="1"/>
          <p:nvPr>
            <p:ph idx="2" type="body"/>
          </p:nvPr>
        </p:nvSpPr>
        <p:spPr>
          <a:xfrm>
            <a:off x="1106176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9" name="Google Shape;289;g13503765b8d_0_501"/>
          <p:cNvSpPr txBox="1"/>
          <p:nvPr>
            <p:ph idx="3" type="body"/>
          </p:nvPr>
        </p:nvSpPr>
        <p:spPr>
          <a:xfrm>
            <a:off x="1146591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0" name="Google Shape;290;g13503765b8d_0_501"/>
          <p:cNvSpPr txBox="1"/>
          <p:nvPr>
            <p:ph idx="4" type="body"/>
          </p:nvPr>
        </p:nvSpPr>
        <p:spPr>
          <a:xfrm>
            <a:off x="2988192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1" name="Google Shape;291;g13503765b8d_0_501"/>
          <p:cNvSpPr txBox="1"/>
          <p:nvPr>
            <p:ph idx="5" type="body"/>
          </p:nvPr>
        </p:nvSpPr>
        <p:spPr>
          <a:xfrm>
            <a:off x="2988192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2" name="Google Shape;292;g13503765b8d_0_501"/>
          <p:cNvSpPr txBox="1"/>
          <p:nvPr>
            <p:ph idx="6" type="body"/>
          </p:nvPr>
        </p:nvSpPr>
        <p:spPr>
          <a:xfrm>
            <a:off x="3028607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3" name="Google Shape;293;g13503765b8d_0_501"/>
          <p:cNvSpPr txBox="1"/>
          <p:nvPr>
            <p:ph idx="7" type="body"/>
          </p:nvPr>
        </p:nvSpPr>
        <p:spPr>
          <a:xfrm>
            <a:off x="4840660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4" name="Google Shape;294;g13503765b8d_0_501"/>
          <p:cNvSpPr txBox="1"/>
          <p:nvPr>
            <p:ph idx="8" type="body"/>
          </p:nvPr>
        </p:nvSpPr>
        <p:spPr>
          <a:xfrm>
            <a:off x="4840660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5" name="Google Shape;295;g13503765b8d_0_501"/>
          <p:cNvSpPr txBox="1"/>
          <p:nvPr>
            <p:ph idx="9" type="body"/>
          </p:nvPr>
        </p:nvSpPr>
        <p:spPr>
          <a:xfrm>
            <a:off x="4881075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6" name="Google Shape;296;g13503765b8d_0_501"/>
          <p:cNvSpPr txBox="1"/>
          <p:nvPr>
            <p:ph idx="13" type="body"/>
          </p:nvPr>
        </p:nvSpPr>
        <p:spPr>
          <a:xfrm>
            <a:off x="6751583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7" name="Google Shape;297;g13503765b8d_0_501"/>
          <p:cNvSpPr txBox="1"/>
          <p:nvPr>
            <p:ph idx="14" type="body"/>
          </p:nvPr>
        </p:nvSpPr>
        <p:spPr>
          <a:xfrm>
            <a:off x="6751583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8" name="Google Shape;298;g13503765b8d_0_501"/>
          <p:cNvSpPr txBox="1"/>
          <p:nvPr>
            <p:ph idx="15" type="body"/>
          </p:nvPr>
        </p:nvSpPr>
        <p:spPr>
          <a:xfrm>
            <a:off x="6791997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9" name="Google Shape;299;g13503765b8d_0_501"/>
          <p:cNvSpPr/>
          <p:nvPr/>
        </p:nvSpPr>
        <p:spPr>
          <a:xfrm>
            <a:off x="1627955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13503765b8d_0_501"/>
          <p:cNvSpPr/>
          <p:nvPr/>
        </p:nvSpPr>
        <p:spPr>
          <a:xfrm>
            <a:off x="3487518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3503765b8d_0_501"/>
          <p:cNvSpPr/>
          <p:nvPr/>
        </p:nvSpPr>
        <p:spPr>
          <a:xfrm>
            <a:off x="7275343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13503765b8d_0_501"/>
          <p:cNvSpPr/>
          <p:nvPr/>
        </p:nvSpPr>
        <p:spPr>
          <a:xfrm>
            <a:off x="5334481" y="3468543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13503765b8d_0_501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13503765b8d_0_501"/>
          <p:cNvSpPr/>
          <p:nvPr/>
        </p:nvSpPr>
        <p:spPr>
          <a:xfrm>
            <a:off x="8500487" y="6349282"/>
            <a:ext cx="176822" cy="29318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g13503765b8d_0_501"/>
          <p:cNvGrpSpPr/>
          <p:nvPr/>
        </p:nvGrpSpPr>
        <p:grpSpPr>
          <a:xfrm>
            <a:off x="8700930" y="6279499"/>
            <a:ext cx="202706" cy="362724"/>
            <a:chOff x="18406073" y="10234089"/>
            <a:chExt cx="445704" cy="598160"/>
          </a:xfrm>
        </p:grpSpPr>
        <p:sp>
          <p:nvSpPr>
            <p:cNvPr id="306" name="Google Shape;306;g13503765b8d_0_501"/>
            <p:cNvSpPr/>
            <p:nvPr/>
          </p:nvSpPr>
          <p:spPr>
            <a:xfrm>
              <a:off x="18406073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7" name="Google Shape;307;g13503765b8d_0_50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8" name="Google Shape;308;g13503765b8d_0_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13503765b8d_0_5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1652"/>
            <a:ext cx="9144000" cy="456044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13503765b8d_0_528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13503765b8d_0_528"/>
          <p:cNvSpPr/>
          <p:nvPr/>
        </p:nvSpPr>
        <p:spPr>
          <a:xfrm>
            <a:off x="8500487" y="6349282"/>
            <a:ext cx="176822" cy="29318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g13503765b8d_0_528"/>
          <p:cNvGrpSpPr/>
          <p:nvPr/>
        </p:nvGrpSpPr>
        <p:grpSpPr>
          <a:xfrm>
            <a:off x="8700930" y="6279499"/>
            <a:ext cx="202706" cy="362724"/>
            <a:chOff x="18406073" y="10234089"/>
            <a:chExt cx="445704" cy="598160"/>
          </a:xfrm>
        </p:grpSpPr>
        <p:sp>
          <p:nvSpPr>
            <p:cNvPr id="314" name="Google Shape;314;g13503765b8d_0_528"/>
            <p:cNvSpPr/>
            <p:nvPr/>
          </p:nvSpPr>
          <p:spPr>
            <a:xfrm>
              <a:off x="18406073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5" name="Google Shape;315;g13503765b8d_0_5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6" name="Google Shape;316;g13503765b8d_0_5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13503765b8d_0_528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318" name="Google Shape;318;g13503765b8d_0_528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g13503765b8d_0_528"/>
          <p:cNvSpPr txBox="1"/>
          <p:nvPr>
            <p:ph idx="1" type="body"/>
          </p:nvPr>
        </p:nvSpPr>
        <p:spPr>
          <a:xfrm>
            <a:off x="3781602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13503765b8d_0_5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477"/>
            <a:ext cx="9147648" cy="4569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13503765b8d_0_539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13503765b8d_0_539"/>
          <p:cNvSpPr/>
          <p:nvPr/>
        </p:nvSpPr>
        <p:spPr>
          <a:xfrm>
            <a:off x="8500487" y="6349282"/>
            <a:ext cx="176822" cy="29318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" name="Google Shape;324;g13503765b8d_0_539"/>
          <p:cNvGrpSpPr/>
          <p:nvPr/>
        </p:nvGrpSpPr>
        <p:grpSpPr>
          <a:xfrm>
            <a:off x="8700930" y="6279499"/>
            <a:ext cx="202706" cy="362724"/>
            <a:chOff x="18406073" y="10234089"/>
            <a:chExt cx="445704" cy="598160"/>
          </a:xfrm>
        </p:grpSpPr>
        <p:sp>
          <p:nvSpPr>
            <p:cNvPr id="325" name="Google Shape;325;g13503765b8d_0_539"/>
            <p:cNvSpPr/>
            <p:nvPr/>
          </p:nvSpPr>
          <p:spPr>
            <a:xfrm>
              <a:off x="18406073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6" name="Google Shape;326;g13503765b8d_0_5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7" name="Google Shape;327;g13503765b8d_0_5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13503765b8d_0_539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329" name="Google Shape;329;g13503765b8d_0_539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g13503765b8d_0_539"/>
          <p:cNvSpPr txBox="1"/>
          <p:nvPr>
            <p:ph idx="1" type="body"/>
          </p:nvPr>
        </p:nvSpPr>
        <p:spPr>
          <a:xfrm>
            <a:off x="3781602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1350e5ad54e_0_5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49177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1350e5ad54e_0_555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1350e5ad54e_0_555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" name="Google Shape;341;g1350e5ad54e_0_555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342" name="Google Shape;342;g1350e5ad54e_0_555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3" name="Google Shape;343;g1350e5ad54e_0_5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4" name="Google Shape;344;g1350e5ad54e_0_5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1350e5ad54e_0_555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346" name="Google Shape;346;g1350e5ad54e_0_555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g1350e5ad54e_0_555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350e5ad54e_0_544"/>
          <p:cNvSpPr/>
          <p:nvPr/>
        </p:nvSpPr>
        <p:spPr>
          <a:xfrm>
            <a:off x="0" y="502542"/>
            <a:ext cx="2250000" cy="708300"/>
          </a:xfrm>
          <a:prstGeom prst="rect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23100" lIns="46200" spcFirstLastPara="1" rIns="46200" wrap="square" tIns="2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1350e5ad54e_0_544"/>
          <p:cNvSpPr/>
          <p:nvPr/>
        </p:nvSpPr>
        <p:spPr>
          <a:xfrm>
            <a:off x="2273513" y="502542"/>
            <a:ext cx="69341" cy="699821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1350e5ad54e_0_544"/>
          <p:cNvSpPr txBox="1"/>
          <p:nvPr>
            <p:ph idx="1" type="body"/>
          </p:nvPr>
        </p:nvSpPr>
        <p:spPr>
          <a:xfrm>
            <a:off x="261092" y="763102"/>
            <a:ext cx="1975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2" name="Google Shape;352;g1350e5ad54e_0_544"/>
          <p:cNvSpPr txBox="1"/>
          <p:nvPr>
            <p:ph idx="2" type="body"/>
          </p:nvPr>
        </p:nvSpPr>
        <p:spPr>
          <a:xfrm>
            <a:off x="261381" y="1765521"/>
            <a:ext cx="1975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3" name="Google Shape;353;g1350e5ad54e_0_544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1350e5ad54e_0_544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" name="Google Shape;355;g1350e5ad54e_0_544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356" name="Google Shape;356;g1350e5ad54e_0_544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7" name="Google Shape;357;g1350e5ad54e_0_54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8" name="Google Shape;358;g1350e5ad54e_0_5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1350e5ad54e_0_4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0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1350e5ad54e_0_497"/>
          <p:cNvSpPr/>
          <p:nvPr/>
        </p:nvSpPr>
        <p:spPr>
          <a:xfrm>
            <a:off x="2316356" y="4468096"/>
            <a:ext cx="4866074" cy="32404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1350e5ad54e_0_497"/>
          <p:cNvSpPr/>
          <p:nvPr/>
        </p:nvSpPr>
        <p:spPr>
          <a:xfrm>
            <a:off x="2316356" y="3834001"/>
            <a:ext cx="4866074" cy="633262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1350e5ad54e_0_497"/>
          <p:cNvSpPr txBox="1"/>
          <p:nvPr>
            <p:ph idx="1" type="body"/>
          </p:nvPr>
        </p:nvSpPr>
        <p:spPr>
          <a:xfrm>
            <a:off x="2337113" y="3881760"/>
            <a:ext cx="4843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4" name="Google Shape;364;g1350e5ad54e_0_497"/>
          <p:cNvSpPr txBox="1"/>
          <p:nvPr>
            <p:ph idx="2" type="body"/>
          </p:nvPr>
        </p:nvSpPr>
        <p:spPr>
          <a:xfrm>
            <a:off x="2145923" y="3181445"/>
            <a:ext cx="51987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5" name="Google Shape;365;g1350e5ad54e_0_497"/>
          <p:cNvSpPr txBox="1"/>
          <p:nvPr>
            <p:ph idx="3" type="body"/>
          </p:nvPr>
        </p:nvSpPr>
        <p:spPr>
          <a:xfrm>
            <a:off x="2316356" y="4655238"/>
            <a:ext cx="4864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pic>
        <p:nvPicPr>
          <p:cNvPr id="366" name="Google Shape;366;g1350e5ad54e_0_4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545" y="5145301"/>
            <a:ext cx="2829421" cy="93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1350e5ad54e_0_4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4609" y="6235425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350e5ad54e_0_506"/>
          <p:cNvSpPr/>
          <p:nvPr/>
        </p:nvSpPr>
        <p:spPr>
          <a:xfrm>
            <a:off x="6641923" y="1072405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1350e5ad54e_0_506"/>
          <p:cNvSpPr/>
          <p:nvPr/>
        </p:nvSpPr>
        <p:spPr>
          <a:xfrm>
            <a:off x="4737235" y="1072405"/>
            <a:ext cx="1543726" cy="4614501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1350e5ad54e_0_506"/>
          <p:cNvSpPr/>
          <p:nvPr/>
        </p:nvSpPr>
        <p:spPr>
          <a:xfrm>
            <a:off x="2886920" y="1099589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1350e5ad54e_0_506"/>
          <p:cNvSpPr/>
          <p:nvPr/>
        </p:nvSpPr>
        <p:spPr>
          <a:xfrm>
            <a:off x="1016851" y="1103824"/>
            <a:ext cx="1543726" cy="4595589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1350e5ad54e_0_506"/>
          <p:cNvSpPr txBox="1"/>
          <p:nvPr>
            <p:ph idx="1" type="body"/>
          </p:nvPr>
        </p:nvSpPr>
        <p:spPr>
          <a:xfrm>
            <a:off x="1106176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4" name="Google Shape;374;g1350e5ad54e_0_506"/>
          <p:cNvSpPr txBox="1"/>
          <p:nvPr>
            <p:ph idx="2" type="body"/>
          </p:nvPr>
        </p:nvSpPr>
        <p:spPr>
          <a:xfrm>
            <a:off x="1106176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5" name="Google Shape;375;g1350e5ad54e_0_506"/>
          <p:cNvSpPr txBox="1"/>
          <p:nvPr>
            <p:ph idx="3" type="body"/>
          </p:nvPr>
        </p:nvSpPr>
        <p:spPr>
          <a:xfrm>
            <a:off x="1146591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6" name="Google Shape;376;g1350e5ad54e_0_506"/>
          <p:cNvSpPr txBox="1"/>
          <p:nvPr>
            <p:ph idx="4" type="body"/>
          </p:nvPr>
        </p:nvSpPr>
        <p:spPr>
          <a:xfrm>
            <a:off x="2988192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7" name="Google Shape;377;g1350e5ad54e_0_506"/>
          <p:cNvSpPr txBox="1"/>
          <p:nvPr>
            <p:ph idx="5" type="body"/>
          </p:nvPr>
        </p:nvSpPr>
        <p:spPr>
          <a:xfrm>
            <a:off x="2988192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8" name="Google Shape;378;g1350e5ad54e_0_506"/>
          <p:cNvSpPr txBox="1"/>
          <p:nvPr>
            <p:ph idx="6" type="body"/>
          </p:nvPr>
        </p:nvSpPr>
        <p:spPr>
          <a:xfrm>
            <a:off x="3028607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9" name="Google Shape;379;g1350e5ad54e_0_506"/>
          <p:cNvSpPr txBox="1"/>
          <p:nvPr>
            <p:ph idx="7" type="body"/>
          </p:nvPr>
        </p:nvSpPr>
        <p:spPr>
          <a:xfrm>
            <a:off x="4840661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0" name="Google Shape;380;g1350e5ad54e_0_506"/>
          <p:cNvSpPr txBox="1"/>
          <p:nvPr>
            <p:ph idx="8" type="body"/>
          </p:nvPr>
        </p:nvSpPr>
        <p:spPr>
          <a:xfrm>
            <a:off x="4840661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1" name="Google Shape;381;g1350e5ad54e_0_506"/>
          <p:cNvSpPr txBox="1"/>
          <p:nvPr>
            <p:ph idx="9" type="body"/>
          </p:nvPr>
        </p:nvSpPr>
        <p:spPr>
          <a:xfrm>
            <a:off x="4881076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2" name="Google Shape;382;g1350e5ad54e_0_506"/>
          <p:cNvSpPr txBox="1"/>
          <p:nvPr>
            <p:ph idx="13" type="body"/>
          </p:nvPr>
        </p:nvSpPr>
        <p:spPr>
          <a:xfrm>
            <a:off x="6751582" y="3013130"/>
            <a:ext cx="1367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3" name="Google Shape;383;g1350e5ad54e_0_506"/>
          <p:cNvSpPr txBox="1"/>
          <p:nvPr>
            <p:ph idx="14" type="body"/>
          </p:nvPr>
        </p:nvSpPr>
        <p:spPr>
          <a:xfrm>
            <a:off x="6751582" y="1334322"/>
            <a:ext cx="1344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sz="7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4" name="Google Shape;384;g1350e5ad54e_0_506"/>
          <p:cNvSpPr txBox="1"/>
          <p:nvPr>
            <p:ph idx="15" type="body"/>
          </p:nvPr>
        </p:nvSpPr>
        <p:spPr>
          <a:xfrm>
            <a:off x="6791997" y="3582948"/>
            <a:ext cx="132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5" name="Google Shape;385;g1350e5ad54e_0_506"/>
          <p:cNvSpPr/>
          <p:nvPr/>
        </p:nvSpPr>
        <p:spPr>
          <a:xfrm>
            <a:off x="1627955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1350e5ad54e_0_506"/>
          <p:cNvSpPr/>
          <p:nvPr/>
        </p:nvSpPr>
        <p:spPr>
          <a:xfrm>
            <a:off x="3487518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1350e5ad54e_0_506"/>
          <p:cNvSpPr/>
          <p:nvPr/>
        </p:nvSpPr>
        <p:spPr>
          <a:xfrm>
            <a:off x="7275343" y="3475208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1350e5ad54e_0_506"/>
          <p:cNvSpPr/>
          <p:nvPr/>
        </p:nvSpPr>
        <p:spPr>
          <a:xfrm>
            <a:off x="5334481" y="3468543"/>
            <a:ext cx="342087" cy="36647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1350e5ad54e_0_506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1350e5ad54e_0_506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" name="Google Shape;391;g1350e5ad54e_0_506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392" name="Google Shape;392;g1350e5ad54e_0_506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3" name="Google Shape;393;g1350e5ad54e_0_50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4" name="Google Shape;394;g1350e5ad54e_0_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g1350e5ad54e_0_5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47418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1350e5ad54e_0_533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1350e5ad54e_0_533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" name="Google Shape;399;g1350e5ad54e_0_533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400" name="Google Shape;400;g1350e5ad54e_0_533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1" name="Google Shape;401;g1350e5ad54e_0_5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2" name="Google Shape;402;g1350e5ad54e_0_5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1350e5ad54e_0_533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404" name="Google Shape;404;g1350e5ad54e_0_533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g1350e5ad54e_0_533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g1350e5ad54e_0_5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1652"/>
            <a:ext cx="9144000" cy="456044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1350e5ad54e_0_566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1350e5ad54e_0_566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" name="Google Shape;410;g1350e5ad54e_0_566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411" name="Google Shape;411;g1350e5ad54e_0_566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12" name="Google Shape;412;g1350e5ad54e_0_5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3" name="Google Shape;413;g1350e5ad54e_0_5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1350e5ad54e_0_566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415" name="Google Shape;415;g1350e5ad54e_0_566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g1350e5ad54e_0_566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g1350e5ad54e_0_5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477"/>
            <a:ext cx="9147648" cy="456904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1350e5ad54e_0_577"/>
          <p:cNvSpPr/>
          <p:nvPr/>
        </p:nvSpPr>
        <p:spPr>
          <a:xfrm>
            <a:off x="7713335" y="6322510"/>
            <a:ext cx="736470" cy="319026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1350e5ad54e_0_577"/>
          <p:cNvSpPr/>
          <p:nvPr/>
        </p:nvSpPr>
        <p:spPr>
          <a:xfrm>
            <a:off x="8500487" y="6349282"/>
            <a:ext cx="176822" cy="293179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1" name="Google Shape;421;g1350e5ad54e_0_577"/>
          <p:cNvGrpSpPr/>
          <p:nvPr/>
        </p:nvGrpSpPr>
        <p:grpSpPr>
          <a:xfrm>
            <a:off x="8700930" y="6279499"/>
            <a:ext cx="202706" cy="362724"/>
            <a:chOff x="18406074" y="10234089"/>
            <a:chExt cx="445703" cy="598160"/>
          </a:xfrm>
        </p:grpSpPr>
        <p:sp>
          <p:nvSpPr>
            <p:cNvPr id="422" name="Google Shape;422;g1350e5ad54e_0_577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3" name="Google Shape;423;g1350e5ad54e_0_5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4" name="Google Shape;424;g1350e5ad54e_0_5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6277351"/>
            <a:ext cx="1921388" cy="37910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1350e5ad54e_0_577"/>
          <p:cNvSpPr txBox="1"/>
          <p:nvPr>
            <p:ph type="title"/>
          </p:nvPr>
        </p:nvSpPr>
        <p:spPr>
          <a:xfrm>
            <a:off x="601284" y="4994314"/>
            <a:ext cx="275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cxnSp>
        <p:nvCxnSpPr>
          <p:cNvPr id="426" name="Google Shape;426;g1350e5ad54e_0_577"/>
          <p:cNvCxnSpPr/>
          <p:nvPr/>
        </p:nvCxnSpPr>
        <p:spPr>
          <a:xfrm>
            <a:off x="3566911" y="4769025"/>
            <a:ext cx="0" cy="163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g1350e5ad54e_0_577"/>
          <p:cNvSpPr txBox="1"/>
          <p:nvPr>
            <p:ph idx="1" type="body"/>
          </p:nvPr>
        </p:nvSpPr>
        <p:spPr>
          <a:xfrm>
            <a:off x="3781601" y="4954565"/>
            <a:ext cx="5091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29.xml"/><Relationship Id="rId1" Type="http://schemas.openxmlformats.org/officeDocument/2006/relationships/image" Target="../media/image15.jpg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25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350e5ad54e_0_233"/>
          <p:cNvSpPr txBox="1"/>
          <p:nvPr>
            <p:ph type="title"/>
          </p:nvPr>
        </p:nvSpPr>
        <p:spPr>
          <a:xfrm>
            <a:off x="400431" y="1462579"/>
            <a:ext cx="1799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350e5ad54e_0_233"/>
          <p:cNvSpPr txBox="1"/>
          <p:nvPr>
            <p:ph idx="1" type="body"/>
          </p:nvPr>
        </p:nvSpPr>
        <p:spPr>
          <a:xfrm>
            <a:off x="457200" y="157734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1350e5ad54e_0_233"/>
          <p:cNvSpPr txBox="1"/>
          <p:nvPr>
            <p:ph idx="11" type="ftr"/>
          </p:nvPr>
        </p:nvSpPr>
        <p:spPr>
          <a:xfrm>
            <a:off x="3108960" y="6377940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1350e5ad54e_0_233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1350e5ad54e_0_233"/>
          <p:cNvSpPr txBox="1"/>
          <p:nvPr>
            <p:ph idx="12" type="sldNum"/>
          </p:nvPr>
        </p:nvSpPr>
        <p:spPr>
          <a:xfrm>
            <a:off x="6583680" y="6377940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/>
          <p:nvPr/>
        </p:nvSpPr>
        <p:spPr>
          <a:xfrm>
            <a:off x="1373040" y="212760"/>
            <a:ext cx="4805640" cy="81216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0"/>
          <p:cNvSpPr/>
          <p:nvPr/>
        </p:nvSpPr>
        <p:spPr>
          <a:xfrm>
            <a:off x="770760" y="212760"/>
            <a:ext cx="902880" cy="81216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0"/>
          <p:cNvSpPr/>
          <p:nvPr/>
        </p:nvSpPr>
        <p:spPr>
          <a:xfrm>
            <a:off x="146520" y="212760"/>
            <a:ext cx="902880" cy="81216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81888F"/>
              </a:gs>
              <a:gs pos="35000">
                <a:srgbClr val="81888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179400" y="389520"/>
            <a:ext cx="2746080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0"/>
          <p:cNvSpPr/>
          <p:nvPr/>
        </p:nvSpPr>
        <p:spPr>
          <a:xfrm>
            <a:off x="69152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3503765b8d_0_453"/>
          <p:cNvSpPr txBox="1"/>
          <p:nvPr>
            <p:ph type="title"/>
          </p:nvPr>
        </p:nvSpPr>
        <p:spPr>
          <a:xfrm>
            <a:off x="400431" y="1462579"/>
            <a:ext cx="1799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g13503765b8d_0_453"/>
          <p:cNvSpPr txBox="1"/>
          <p:nvPr>
            <p:ph idx="1" type="body"/>
          </p:nvPr>
        </p:nvSpPr>
        <p:spPr>
          <a:xfrm>
            <a:off x="457200" y="157734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g13503765b8d_0_453"/>
          <p:cNvSpPr txBox="1"/>
          <p:nvPr>
            <p:ph idx="11" type="ftr"/>
          </p:nvPr>
        </p:nvSpPr>
        <p:spPr>
          <a:xfrm>
            <a:off x="3108960" y="6377940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g13503765b8d_0_453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g13503765b8d_0_453"/>
          <p:cNvSpPr txBox="1"/>
          <p:nvPr>
            <p:ph idx="12" type="sldNum"/>
          </p:nvPr>
        </p:nvSpPr>
        <p:spPr>
          <a:xfrm>
            <a:off x="6583681" y="6377940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350e5ad54e_0_491"/>
          <p:cNvSpPr txBox="1"/>
          <p:nvPr>
            <p:ph type="title"/>
          </p:nvPr>
        </p:nvSpPr>
        <p:spPr>
          <a:xfrm>
            <a:off x="400431" y="1462579"/>
            <a:ext cx="1799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g1350e5ad54e_0_491"/>
          <p:cNvSpPr txBox="1"/>
          <p:nvPr>
            <p:ph idx="1" type="body"/>
          </p:nvPr>
        </p:nvSpPr>
        <p:spPr>
          <a:xfrm>
            <a:off x="457200" y="157734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g1350e5ad54e_0_491"/>
          <p:cNvSpPr txBox="1"/>
          <p:nvPr>
            <p:ph idx="11" type="ftr"/>
          </p:nvPr>
        </p:nvSpPr>
        <p:spPr>
          <a:xfrm>
            <a:off x="3108960" y="6377940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g1350e5ad54e_0_491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6" name="Google Shape;336;g1350e5ad54e_0_491"/>
          <p:cNvSpPr txBox="1"/>
          <p:nvPr>
            <p:ph idx="12" type="sldNum"/>
          </p:nvPr>
        </p:nvSpPr>
        <p:spPr>
          <a:xfrm>
            <a:off x="6583680" y="6377940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7.png"/><Relationship Id="rId4" Type="http://schemas.openxmlformats.org/officeDocument/2006/relationships/image" Target="../media/image6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350e5ad54e_0_194"/>
          <p:cNvSpPr txBox="1"/>
          <p:nvPr>
            <p:ph idx="1" type="body"/>
          </p:nvPr>
        </p:nvSpPr>
        <p:spPr>
          <a:xfrm>
            <a:off x="2337113" y="3881760"/>
            <a:ext cx="484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SIY6122</a:t>
            </a:r>
            <a:endParaRPr/>
          </a:p>
        </p:txBody>
      </p:sp>
      <p:sp>
        <p:nvSpPr>
          <p:cNvPr id="433" name="Google Shape;433;g1350e5ad54e_0_194"/>
          <p:cNvSpPr txBox="1"/>
          <p:nvPr>
            <p:ph idx="2" type="body"/>
          </p:nvPr>
        </p:nvSpPr>
        <p:spPr>
          <a:xfrm>
            <a:off x="2145923" y="1428845"/>
            <a:ext cx="5198700" cy="24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s-ES" sz="4800">
                <a:latin typeface="Calibri"/>
                <a:ea typeface="Calibri"/>
                <a:cs typeface="Calibri"/>
                <a:sym typeface="Calibri"/>
              </a:rPr>
              <a:t>Organizar el plan de trabajo de manera Ágil - PARTE 2</a:t>
            </a:r>
            <a:endParaRPr b="0" sz="4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34" name="Google Shape;434;g1350e5ad54e_0_194"/>
          <p:cNvSpPr txBox="1"/>
          <p:nvPr>
            <p:ph idx="3" type="body"/>
          </p:nvPr>
        </p:nvSpPr>
        <p:spPr>
          <a:xfrm>
            <a:off x="2316356" y="4655238"/>
            <a:ext cx="486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Profesor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350e5ad54e_0_228"/>
          <p:cNvSpPr txBox="1"/>
          <p:nvPr>
            <p:ph type="title"/>
          </p:nvPr>
        </p:nvSpPr>
        <p:spPr>
          <a:xfrm>
            <a:off x="372684" y="4537114"/>
            <a:ext cx="27510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Prepara el plan de trabajo mediante Agilidad y Scrum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50e5ad54e_0_600"/>
          <p:cNvSpPr txBox="1"/>
          <p:nvPr>
            <p:ph idx="1" type="body"/>
          </p:nvPr>
        </p:nvSpPr>
        <p:spPr>
          <a:xfrm>
            <a:off x="261092" y="6107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Agilidad</a:t>
            </a:r>
            <a:endParaRPr/>
          </a:p>
        </p:txBody>
      </p:sp>
      <p:sp>
        <p:nvSpPr>
          <p:cNvPr id="445" name="Google Shape;445;g1350e5ad54e_0_60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b="0" lang="es-ES"/>
              <a:t>En presentaciones anteriores se comentó el concepto de agilidad y planificación con un enfoque ágil, en esta actividad abordaremos la metodología Scrum y por que es necesario ser ágil en el mundo del prototipado y soluciones globales.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g1350e5ad54e_0_6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1525" y="3609473"/>
            <a:ext cx="3380949" cy="223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350e5ad54e_0_724"/>
          <p:cNvSpPr txBox="1"/>
          <p:nvPr>
            <p:ph type="title"/>
          </p:nvPr>
        </p:nvSpPr>
        <p:spPr>
          <a:xfrm>
            <a:off x="372684" y="45371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Backlog del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350e5ad54e_0_692"/>
          <p:cNvSpPr txBox="1"/>
          <p:nvPr>
            <p:ph idx="1" type="body"/>
          </p:nvPr>
        </p:nvSpPr>
        <p:spPr>
          <a:xfrm>
            <a:off x="261092" y="6107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>
                <a:solidFill>
                  <a:schemeClr val="lt1"/>
                </a:solidFill>
              </a:rPr>
              <a:t>SCRUM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7" name="Google Shape;457;g1350e5ad54e_0_692"/>
          <p:cNvSpPr txBox="1"/>
          <p:nvPr>
            <p:ph idx="4294967295" type="title"/>
          </p:nvPr>
        </p:nvSpPr>
        <p:spPr>
          <a:xfrm>
            <a:off x="2449500" y="441325"/>
            <a:ext cx="5774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400"/>
              <a:t>Backlog de producto nivel épicas</a:t>
            </a:r>
            <a:endParaRPr sz="2400"/>
          </a:p>
        </p:txBody>
      </p:sp>
      <p:sp>
        <p:nvSpPr>
          <p:cNvPr id="458" name="Google Shape;458;g1350e5ad54e_0_692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lang="es-ES"/>
              <a:t>El Backlog de producto a nivel de épicas </a:t>
            </a:r>
            <a:r>
              <a:rPr b="1" lang="es-ES"/>
              <a:t>representa el alcance del proyecto</a:t>
            </a:r>
            <a:r>
              <a:rPr lang="es-ES"/>
              <a:t>.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lang="es-ES"/>
              <a:t>Es una lista de las funcionalidades del producto y otras características, por ejemplo, de operación, seguridad u otros.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lang="es-ES"/>
              <a:t>Es dinámico, en un contexto ágil,  </a:t>
            </a:r>
            <a:r>
              <a:rPr b="1" lang="es-ES"/>
              <a:t>se puede modificar conforme avanzamos en desarrollo de la solución</a:t>
            </a:r>
            <a:r>
              <a:rPr lang="es-ES"/>
              <a:t>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pic>
        <p:nvPicPr>
          <p:cNvPr id="459" name="Google Shape;459;g1350e5ad54e_0_6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6994" y="4371975"/>
            <a:ext cx="32575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3503765b8d_0_134"/>
          <p:cNvSpPr txBox="1"/>
          <p:nvPr>
            <p:ph idx="1" type="body"/>
          </p:nvPr>
        </p:nvSpPr>
        <p:spPr>
          <a:xfrm>
            <a:off x="261092" y="6107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>
                <a:solidFill>
                  <a:schemeClr val="lt1"/>
                </a:solidFill>
              </a:rPr>
              <a:t>SCRUM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5" name="Google Shape;465;g13503765b8d_0_134"/>
          <p:cNvSpPr txBox="1"/>
          <p:nvPr>
            <p:ph idx="4294967295" type="title"/>
          </p:nvPr>
        </p:nvSpPr>
        <p:spPr>
          <a:xfrm>
            <a:off x="2449500" y="441325"/>
            <a:ext cx="5774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400"/>
              <a:t>Backlog de producto nivel épicas</a:t>
            </a:r>
            <a:endParaRPr sz="2400"/>
          </a:p>
        </p:txBody>
      </p:sp>
      <p:sp>
        <p:nvSpPr>
          <p:cNvPr id="466" name="Google Shape;466;g13503765b8d_0_134"/>
          <p:cNvSpPr txBox="1"/>
          <p:nvPr>
            <p:ph idx="1" type="body"/>
          </p:nvPr>
        </p:nvSpPr>
        <p:spPr>
          <a:xfrm>
            <a:off x="294150" y="1353650"/>
            <a:ext cx="8555700" cy="4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»"/>
            </a:pPr>
            <a:r>
              <a:rPr b="0" lang="es-ES" sz="2200"/>
              <a:t>Esta lista es priorizada y mantenida por el product owner, según el valor de negocio que se busque.</a:t>
            </a:r>
            <a:endParaRPr b="0" sz="2200"/>
          </a:p>
          <a:p>
            <a:pPr indent="-3937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»"/>
            </a:pPr>
            <a:r>
              <a:rPr b="0" lang="es-ES" sz="2200"/>
              <a:t>Con esta lista inicial a alto nivel priorizada, procedemos a la posterior creación de definiciones más específicas como las historias de usuario. </a:t>
            </a:r>
            <a:endParaRPr b="0" sz="2200"/>
          </a:p>
          <a:p>
            <a:pPr indent="-3937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»"/>
            </a:pPr>
            <a:r>
              <a:rPr b="0" lang="es-ES" sz="2200"/>
              <a:t>Además del valor de negocio, se puede priorizar según el nivel de incertidumbre de la implementación de una funcionalidad o el riesgos que presenta dicha implementación.</a:t>
            </a:r>
            <a:endParaRPr b="0" sz="22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 sz="2200"/>
          </a:p>
        </p:txBody>
      </p:sp>
      <p:pic>
        <p:nvPicPr>
          <p:cNvPr id="467" name="Google Shape;467;g13503765b8d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0900" y="4820713"/>
            <a:ext cx="1975500" cy="172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350e5ad54e_0_696"/>
          <p:cNvSpPr txBox="1"/>
          <p:nvPr>
            <p:ph idx="1" type="body"/>
          </p:nvPr>
        </p:nvSpPr>
        <p:spPr>
          <a:xfrm>
            <a:off x="261092" y="6107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>
                <a:solidFill>
                  <a:schemeClr val="lt1"/>
                </a:solidFill>
              </a:rPr>
              <a:t>SCRUM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3" name="Google Shape;473;g1350e5ad54e_0_696"/>
          <p:cNvSpPr txBox="1"/>
          <p:nvPr>
            <p:ph idx="4294967295" type="title"/>
          </p:nvPr>
        </p:nvSpPr>
        <p:spPr>
          <a:xfrm>
            <a:off x="2373300" y="441325"/>
            <a:ext cx="57525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/>
              <a:t>¿Cómo priorizar?</a:t>
            </a:r>
            <a:endParaRPr/>
          </a:p>
        </p:txBody>
      </p:sp>
      <p:sp>
        <p:nvSpPr>
          <p:cNvPr id="474" name="Google Shape;474;g1350e5ad54e_0_696"/>
          <p:cNvSpPr txBox="1"/>
          <p:nvPr>
            <p:ph idx="1" type="body"/>
          </p:nvPr>
        </p:nvSpPr>
        <p:spPr>
          <a:xfrm>
            <a:off x="294150" y="14472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500"/>
              <a:buChar char="»"/>
            </a:pPr>
            <a:r>
              <a:rPr lang="es-ES" sz="1700"/>
              <a:t>El backlog priorizado lo define el product owner de acuerdo a diversos criterios y técnicas de priorización.</a:t>
            </a:r>
            <a:endParaRPr sz="2100"/>
          </a:p>
          <a:p>
            <a:pPr indent="-3873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500"/>
              <a:buChar char="»"/>
            </a:pPr>
            <a:r>
              <a:rPr lang="es-ES" sz="1700"/>
              <a:t>Algunas técnicas son:</a:t>
            </a:r>
            <a:endParaRPr sz="2100"/>
          </a:p>
          <a:p>
            <a:pPr indent="-4191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Char char="•"/>
            </a:pPr>
            <a:r>
              <a:rPr b="1" lang="es-ES" sz="1500">
                <a:latin typeface="Arial"/>
                <a:ea typeface="Arial"/>
                <a:cs typeface="Arial"/>
                <a:sym typeface="Arial"/>
              </a:rPr>
              <a:t>Análisis de Kano</a:t>
            </a:r>
            <a:r>
              <a:rPr lang="es-ES" sz="1500">
                <a:latin typeface="Arial"/>
                <a:ea typeface="Arial"/>
                <a:cs typeface="Arial"/>
                <a:sym typeface="Arial"/>
              </a:rPr>
              <a:t>: las épicas se clasifican en Entusiasmantes, Satisfactorias con su implementación o mínimas que se debe cumplir.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Char char="•"/>
            </a:pPr>
            <a:r>
              <a:rPr b="1" lang="es-ES" sz="1500">
                <a:latin typeface="Arial"/>
                <a:ea typeface="Arial"/>
                <a:cs typeface="Arial"/>
                <a:sym typeface="Arial"/>
              </a:rPr>
              <a:t>Comparación de pares</a:t>
            </a:r>
            <a:r>
              <a:rPr lang="es-ES" sz="1500">
                <a:latin typeface="Arial"/>
                <a:ea typeface="Arial"/>
                <a:cs typeface="Arial"/>
                <a:sym typeface="Arial"/>
              </a:rPr>
              <a:t>: los requerimientos son comparados en pares y se prioriza uno sobre otro.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Char char="•"/>
            </a:pPr>
            <a:r>
              <a:rPr b="1" lang="es-ES" sz="1500">
                <a:latin typeface="Arial"/>
                <a:ea typeface="Arial"/>
                <a:cs typeface="Arial"/>
                <a:sym typeface="Arial"/>
              </a:rPr>
              <a:t>Análisis MoSCoW</a:t>
            </a:r>
            <a:r>
              <a:rPr lang="es-ES" sz="1500">
                <a:latin typeface="Arial"/>
                <a:ea typeface="Arial"/>
                <a:cs typeface="Arial"/>
                <a:sym typeface="Arial"/>
              </a:rPr>
              <a:t>: se analizan las épicas considerando los siguientes criterios “Must have”, “Should have”, “Could have” y “Will not have”.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Char char="•"/>
            </a:pPr>
            <a:r>
              <a:rPr b="1" lang="es-ES" sz="1500">
                <a:latin typeface="Arial"/>
                <a:ea typeface="Arial"/>
                <a:cs typeface="Arial"/>
                <a:sym typeface="Arial"/>
              </a:rPr>
              <a:t>Los 100 Puntos</a:t>
            </a:r>
            <a:r>
              <a:rPr lang="es-ES" sz="1500">
                <a:latin typeface="Arial"/>
                <a:ea typeface="Arial"/>
                <a:cs typeface="Arial"/>
                <a:sym typeface="Arial"/>
              </a:rPr>
              <a:t>: el equipo de análisis asigna puntos a las épicas, se otorga más puntos a las más importantes priorizando al final de la sesión de trabajo las épicas con más puntos.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Por ejemplo…..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0" name="Google Shape;480;p135"/>
          <p:cNvSpPr txBox="1"/>
          <p:nvPr>
            <p:ph idx="1" type="body"/>
          </p:nvPr>
        </p:nvSpPr>
        <p:spPr>
          <a:xfrm>
            <a:off x="294150" y="1635325"/>
            <a:ext cx="8673300" cy="3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400"/>
              <a:buFont typeface="Franklin Gothic"/>
              <a:buChar char="»"/>
            </a:pPr>
            <a:r>
              <a:rPr lang="es-ES"/>
              <a:t>Si tomamos las épicas anteriores, podríamos utilizar la técnica de 100 puntos y otorgar puntaje a las épicas:</a:t>
            </a:r>
            <a:endParaRPr sz="2800"/>
          </a:p>
          <a:p>
            <a:pPr indent="-431800" lvl="1" marL="990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AutoNum type="alphaUcPeriod"/>
            </a:pPr>
            <a:r>
              <a:rPr lang="es-ES"/>
              <a:t>Se requiere que el vendedor pueda mantener un registro de ventas.</a:t>
            </a:r>
            <a:endParaRPr sz="1600"/>
          </a:p>
          <a:p>
            <a:pPr indent="-431800" lvl="1" marL="990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AutoNum type="alphaUcPeriod"/>
            </a:pPr>
            <a:r>
              <a:rPr lang="es-ES"/>
              <a:t>Se necesita que el administrador pueda publicar ofertas online a los clientes para compras presenciales en tiendas y online.</a:t>
            </a:r>
            <a:endParaRPr sz="1600"/>
          </a:p>
          <a:p>
            <a:pPr indent="-431800" lvl="1" marL="990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AutoNum type="alphaUcPeriod"/>
            </a:pPr>
            <a:r>
              <a:rPr lang="es-ES"/>
              <a:t>Se necesita que los cliente puedan realizar sus pedidos on line.</a:t>
            </a:r>
            <a:endParaRPr sz="1600"/>
          </a:p>
          <a:p>
            <a:pPr indent="-431800" lvl="1" marL="990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AutoNum type="alphaUcPeriod"/>
            </a:pPr>
            <a:r>
              <a:rPr lang="es-ES"/>
              <a:t>Se requiere que el administrador pueda revisar las ventas diarias.</a:t>
            </a:r>
            <a:endParaRPr sz="2400"/>
          </a:p>
        </p:txBody>
      </p:sp>
      <p:pic>
        <p:nvPicPr>
          <p:cNvPr id="481" name="Google Shape;481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7791" y="5168900"/>
            <a:ext cx="3095625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700">
                <a:solidFill>
                  <a:schemeClr val="lt1"/>
                </a:solidFill>
              </a:rPr>
              <a:t>¿A qué le damos más puntos?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87" name="Google Shape;487;p191"/>
          <p:cNvSpPr txBox="1"/>
          <p:nvPr>
            <p:ph idx="1" type="body"/>
          </p:nvPr>
        </p:nvSpPr>
        <p:spPr>
          <a:xfrm>
            <a:off x="294149" y="1711525"/>
            <a:ext cx="86733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400"/>
              <a:buFont typeface="Franklin Gothic"/>
              <a:buChar char="»"/>
            </a:pPr>
            <a:r>
              <a:rPr lang="es-ES"/>
              <a:t>A las épicas que el equipo de análisis define como relevantes de implementar al inicio, según el valor de negocio, por ejemplo:</a:t>
            </a:r>
            <a:endParaRPr sz="2000"/>
          </a:p>
          <a:p>
            <a: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400"/>
              <a:buFont typeface="Franklin Gothic"/>
              <a:buChar char="»"/>
            </a:pPr>
            <a:r>
              <a:rPr b="1" i="1" lang="es-ES"/>
              <a:t>Si la empresa necesita ofrecer sus productos en internet para aumentar ventas presenciales en tiendas, en forma urgente y después ofrecer el servicio de ventas online, la priorización quedaría: </a:t>
            </a:r>
            <a:endParaRPr sz="2000"/>
          </a:p>
          <a:p>
            <a:pPr indent="-3048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</a:pPr>
            <a:r>
              <a:rPr b="1" i="1" lang="es-ES" sz="2800"/>
              <a:t>B: 100 puntos</a:t>
            </a:r>
            <a:endParaRPr sz="800"/>
          </a:p>
          <a:p>
            <a:pPr indent="-3048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</a:pPr>
            <a:r>
              <a:rPr b="1" i="1" lang="es-ES" sz="2800"/>
              <a:t>A: 80 puntos</a:t>
            </a:r>
            <a:endParaRPr sz="800"/>
          </a:p>
          <a:p>
            <a:pPr indent="-3048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</a:pPr>
            <a:r>
              <a:rPr b="1" i="1" lang="es-ES" sz="2800"/>
              <a:t>D: 50 puntos</a:t>
            </a:r>
            <a:endParaRPr sz="800"/>
          </a:p>
          <a:p>
            <a:pPr indent="-3048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</a:pPr>
            <a:r>
              <a:rPr b="1" i="1" lang="es-ES" sz="2800"/>
              <a:t>C: 30 puntos</a:t>
            </a:r>
            <a:endParaRPr sz="800"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350e5ad54e_0_700"/>
          <p:cNvSpPr txBox="1"/>
          <p:nvPr>
            <p:ph idx="1" type="body"/>
          </p:nvPr>
        </p:nvSpPr>
        <p:spPr>
          <a:xfrm>
            <a:off x="261092" y="6107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>
                <a:solidFill>
                  <a:schemeClr val="lt1"/>
                </a:solidFill>
              </a:rPr>
              <a:t>SCRUM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3" name="Google Shape;493;g1350e5ad54e_0_700"/>
          <p:cNvSpPr txBox="1"/>
          <p:nvPr>
            <p:ph idx="4294967295" type="title"/>
          </p:nvPr>
        </p:nvSpPr>
        <p:spPr>
          <a:xfrm>
            <a:off x="2480522" y="461000"/>
            <a:ext cx="55473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/>
              <a:t>¿Cómo priorizar?</a:t>
            </a:r>
            <a:endParaRPr/>
          </a:p>
        </p:txBody>
      </p:sp>
      <p:sp>
        <p:nvSpPr>
          <p:cNvPr id="494" name="Google Shape;494;g1350e5ad54e_0_700"/>
          <p:cNvSpPr txBox="1"/>
          <p:nvPr>
            <p:ph idx="1" type="body"/>
          </p:nvPr>
        </p:nvSpPr>
        <p:spPr>
          <a:xfrm>
            <a:off x="364125" y="1508898"/>
            <a:ext cx="7993500" cy="46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 sz="2800"/>
              <a:t>El equipo define que primero se necesita:</a:t>
            </a:r>
            <a:endParaRPr sz="3200"/>
          </a:p>
          <a:p>
            <a:pPr indent="0" lvl="1" marL="533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b="0" lang="es-ES" sz="2400"/>
              <a:t>Que el administrador pueda publicar ofertas online a los clientes para compras presenciales en tiendas.</a:t>
            </a:r>
            <a:endParaRPr b="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s-ES" sz="2400"/>
              <a:t>Que el vendedor pueda mantener un registro de ventas.</a:t>
            </a:r>
            <a:endParaRPr b="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s-ES" sz="2400"/>
              <a:t>Que el administrador pueda revisar las ventas diarias.</a:t>
            </a:r>
            <a:endParaRPr b="0" sz="28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s-ES" sz="2400"/>
              <a:t>Que los clientes puedan realizar sus pedidos on line.</a:t>
            </a:r>
            <a:endParaRPr b="0"/>
          </a:p>
          <a:p>
            <a:pPr indent="-304800" lvl="1" marL="990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79400" lvl="0" marL="533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495" name="Google Shape;495;g1350e5ad54e_0_7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850" y="4565050"/>
            <a:ext cx="2760500" cy="175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350e5ad54e_0_704"/>
          <p:cNvSpPr txBox="1"/>
          <p:nvPr>
            <p:ph idx="1" type="body"/>
          </p:nvPr>
        </p:nvSpPr>
        <p:spPr>
          <a:xfrm>
            <a:off x="108692" y="6869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>
                <a:solidFill>
                  <a:schemeClr val="lt1"/>
                </a:solidFill>
              </a:rPr>
              <a:t>Resumiendo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01" name="Google Shape;501;g1350e5ad54e_0_7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568" y="1407423"/>
            <a:ext cx="6541605" cy="472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350e5ad54e_0_728"/>
          <p:cNvSpPr txBox="1"/>
          <p:nvPr>
            <p:ph type="title"/>
          </p:nvPr>
        </p:nvSpPr>
        <p:spPr>
          <a:xfrm>
            <a:off x="372684" y="46895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Planificación y estimación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9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Planificación en Scrum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512" name="Google Shape;512;p199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 Scrum la planificación posee el comportamiento de las planificaciones ágiles y está presente en: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Planificación de entregas (releases).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Planificación del Sprint.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Planificación del día.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Planificación de las mejoras.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pic>
        <p:nvPicPr>
          <p:cNvPr id="513" name="Google Shape;513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2244" y="3673642"/>
            <a:ext cx="2259280" cy="232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A partir del product backlog (lista priorizada de lo que se espera desarrollar) correspondiente a requerimientos de alto nivel o épicas, debemos revisar cada una de ellas para descomponer esta gran funcionalidad o capacidad en funcionalidades más pequeñas y manejables, es decir, historias de usuario.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Las metodologías ágiles como Scrum utilizan las historias de usuario como el instrumento principal para identificar los requerimientos de usuario.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No solo son requerimientos funcionales, además pueden estar presentes requerimientos no funcionales.</a:t>
            </a:r>
            <a:endParaRPr/>
          </a:p>
        </p:txBody>
      </p:sp>
      <p:sp>
        <p:nvSpPr>
          <p:cNvPr id="519" name="Google Shape;519;p20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Planificación del Sprint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520" name="Google Shape;520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952" y="5114684"/>
            <a:ext cx="3550057" cy="153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Las historias de usuario y necesidades serán analizadas y estimadas en esfuerzo por parte del team, generando una lista de historias de usuarios priorizada y con estimaciones.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Durante el sprint planning, el equipo analiza y extrae algunos elementos de la parte superior de esta lista, conformando un sprint backlog y decide cómo implementar los elementos.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sp>
        <p:nvSpPr>
          <p:cNvPr id="526" name="Google Shape;526;p20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Planificación del Sprint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527" name="Google Shape;527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2694" y="3996575"/>
            <a:ext cx="4138612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02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El equipo tiene cierta cantidad de tiempo (un sprint, que dura usualmente de 2 a 4 semanas) para completar el trabajo seleccionado, pero se reúne todos los días para coordinar el trabajo y al final del día para evaluar el progreso (daily Scrum).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 el camino, el ScrumMaster mantiene al equipo concentrado en los objetivos.</a:t>
            </a:r>
            <a:endParaRPr/>
          </a:p>
        </p:txBody>
      </p:sp>
      <p:sp>
        <p:nvSpPr>
          <p:cNvPr id="533" name="Google Shape;533;p20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Planificación del día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534" name="Google Shape;534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9089" y="3775125"/>
            <a:ext cx="571500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350e5ad54e_0_732"/>
          <p:cNvSpPr txBox="1"/>
          <p:nvPr>
            <p:ph type="title"/>
          </p:nvPr>
        </p:nvSpPr>
        <p:spPr>
          <a:xfrm>
            <a:off x="372684" y="45371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Crear entregables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0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Ciclo del Sprint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545" name="Google Shape;545;p209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Durante la implementación de un Sprint existen eventos o ceremonias: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1" lang="es-ES"/>
              <a:t>Una planificación del Sprint (</a:t>
            </a:r>
            <a:r>
              <a:rPr lang="es-ES"/>
              <a:t>sprint planning</a:t>
            </a:r>
            <a:r>
              <a:rPr b="1" lang="es-ES"/>
              <a:t>) </a:t>
            </a:r>
            <a:r>
              <a:rPr lang="es-ES"/>
              <a:t>al inicio del Sprint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1" lang="es-ES"/>
              <a:t>Reuniones diarias (</a:t>
            </a:r>
            <a:r>
              <a:rPr lang="es-ES"/>
              <a:t>Daily Scrums</a:t>
            </a:r>
            <a:r>
              <a:rPr b="1" lang="es-ES"/>
              <a:t>)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Una </a:t>
            </a:r>
            <a:r>
              <a:rPr b="1" lang="es-ES"/>
              <a:t>revisión del Sprint (</a:t>
            </a:r>
            <a:r>
              <a:rPr lang="es-ES"/>
              <a:t>sprint review</a:t>
            </a:r>
            <a:r>
              <a:rPr b="1" lang="es-ES"/>
              <a:t>) </a:t>
            </a:r>
            <a:r>
              <a:rPr lang="es-ES"/>
              <a:t>al final del Sprint para inspeccionar el incremento realizado.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Una </a:t>
            </a:r>
            <a:r>
              <a:rPr b="1" lang="es-ES"/>
              <a:t>Retrospectiva </a:t>
            </a:r>
            <a:r>
              <a:rPr lang="es-ES"/>
              <a:t>para inspeccionar el equipo y el proceso  para levantar mejoras que se apliquen en el siguiente Sprint.</a:t>
            </a:r>
            <a:endParaRPr/>
          </a:p>
        </p:txBody>
      </p:sp>
      <p:pic>
        <p:nvPicPr>
          <p:cNvPr id="546" name="Google Shape;546;p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189" y="4229647"/>
            <a:ext cx="7475621" cy="161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350e5ad54e_0_736"/>
          <p:cNvSpPr txBox="1"/>
          <p:nvPr>
            <p:ph type="title"/>
          </p:nvPr>
        </p:nvSpPr>
        <p:spPr>
          <a:xfrm>
            <a:off x="372684" y="45371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Reunión Daily Scrum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13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Este proceso se refiere a la necesidad de, todos los días, llevar a cabo una reunión de coordinación.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Esta reunión es con tiempos definidos y específica para que el team scrum pueda compartir sus progresos y los obstáculos que se pudieron generar el día anterior y planificar el trabajo del día actual.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»"/>
            </a:pPr>
            <a:r>
              <a:rPr lang="es-ES"/>
              <a:t>La reunión es con un time-boxing de 15 minutos y se mantienen las personas de pie, promoviendo que las reunión sea corta.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»"/>
            </a:pPr>
            <a:r>
              <a:rPr lang="es-ES"/>
              <a:t>La idea es que  todos los miembros del team participen y no se cancela o se retrasa si uno o más miembros no pueden asistir.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7" name="Google Shape;557;p2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Proceso de Revisión </a:t>
            </a:r>
            <a:br>
              <a:rPr lang="es-ES" sz="3200">
                <a:solidFill>
                  <a:schemeClr val="lt1"/>
                </a:solidFill>
              </a:rPr>
            </a:br>
            <a:r>
              <a:rPr lang="es-ES" sz="3200">
                <a:solidFill>
                  <a:schemeClr val="lt1"/>
                </a:solidFill>
              </a:rPr>
              <a:t>Diaria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15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La reunión diaria debe ser gestionada por el Scrum Master, manteniendo la estructura y formalidad en un ambiente grato.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Cada miembro del team scrum responde tres preguntas específicas: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¿Qué terminé ayer?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¿Qué voy a terminar hoy?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¿Qué impedimentos u obstáculos (si los hay) estoy enfrentando en la actualidad?</a:t>
            </a:r>
            <a:endParaRPr/>
          </a:p>
        </p:txBody>
      </p:sp>
      <p:sp>
        <p:nvSpPr>
          <p:cNvPr id="563" name="Google Shape;563;p2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Reunión Diaria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16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Al centrarse en estas tres preguntas, todo el equipo puede tener una comprensión clara de la situación del sprint.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Si es estrictamente necesario, se pueden coordinar reuniones complementarias para revisión de temas específicos o que necesiten un análisis adicional.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Al final de la reunión, el scrum master actualiza el gráfico burndown de tareas pendientes.</a:t>
            </a:r>
            <a:endParaRPr/>
          </a:p>
        </p:txBody>
      </p:sp>
      <p:sp>
        <p:nvSpPr>
          <p:cNvPr id="569" name="Google Shape;569;p216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Reunión Diaria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 la reunión diaria se puede registrar brevemente el estado de cada participante.</a:t>
            </a:r>
            <a:endParaRPr/>
          </a:p>
        </p:txBody>
      </p:sp>
      <p:sp>
        <p:nvSpPr>
          <p:cNvPr id="575" name="Google Shape;575;p21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Registro de la reunión diaria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576" name="Google Shape;576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191" y="2393399"/>
            <a:ext cx="7837617" cy="256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350e5ad54e_0_744"/>
          <p:cNvSpPr txBox="1"/>
          <p:nvPr>
            <p:ph type="title"/>
          </p:nvPr>
        </p:nvSpPr>
        <p:spPr>
          <a:xfrm>
            <a:off x="372684" y="45371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Validación del sprint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2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El resultado de la reunión de validación del sprint es la aprobación o rechazo de los elementos del Sprint Backlog.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Todo elemento o tarea que no esta terminada aún queda para el siguiente Sprint.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Si existe algo no aceptado se devuelve al Product Backlog pendiente por implementar.</a:t>
            </a:r>
            <a:endParaRPr/>
          </a:p>
        </p:txBody>
      </p:sp>
      <p:sp>
        <p:nvSpPr>
          <p:cNvPr id="587" name="Google Shape;587;p22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Validación del Sprint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588" name="Google Shape;588;p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579" y="4278532"/>
            <a:ext cx="6416841" cy="17779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350e5ad54e_0_748"/>
          <p:cNvSpPr txBox="1"/>
          <p:nvPr>
            <p:ph type="title"/>
          </p:nvPr>
        </p:nvSpPr>
        <p:spPr>
          <a:xfrm>
            <a:off x="372684" y="45371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Retrospectiva del sprint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29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La Retrospectiva del Sprint se realiza a continuación de la Revisión del Sprint.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Esta dirigida a la revisión del proceso, adaptación o mejoras de la forma en que el equipo está desarrollando el software.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Existe una reflexión acerca de las cosas que están funcionando bien y las que están mal.</a:t>
            </a:r>
            <a:endParaRPr/>
          </a:p>
        </p:txBody>
      </p:sp>
      <p:sp>
        <p:nvSpPr>
          <p:cNvPr id="599" name="Google Shape;599;p22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Retrospectiva del Sprint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descr="Resultado de imagen para mad sad glad retrospective" id="600" name="Google Shape;600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338" y="3918451"/>
            <a:ext cx="4409324" cy="293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3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 la retrospección se revisa cómo fue la experiencia en el último Sprint en cuanto al team, relaciones, procesos y herramientas.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Se buscan posibles mejoras al proceso.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 esta instancia en team reflexiona sobre su desempeño.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Es frecuente terminar con un plan de trabajo para implementar las mejoras observadas.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pic>
        <p:nvPicPr>
          <p:cNvPr id="606" name="Google Shape;606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4868" y="4203802"/>
            <a:ext cx="3668880" cy="2441473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3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Retrospectiva del Sprint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350e5ad54e_0_756"/>
          <p:cNvSpPr txBox="1"/>
          <p:nvPr>
            <p:ph type="title"/>
          </p:nvPr>
        </p:nvSpPr>
        <p:spPr>
          <a:xfrm>
            <a:off x="372684" y="45371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Resumen del ciclo Scrum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4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800">
                <a:solidFill>
                  <a:schemeClr val="lt1"/>
                </a:solidFill>
              </a:rPr>
              <a:t>Ciclo del Sprint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618" name="Google Shape;618;p242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Durante la implementación de un Sprint existen eventos o ceremonias: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1" lang="es-ES"/>
              <a:t>Una planificación del Sprint (</a:t>
            </a:r>
            <a:r>
              <a:rPr lang="es-ES"/>
              <a:t>sprint planning</a:t>
            </a:r>
            <a:r>
              <a:rPr b="1" lang="es-ES"/>
              <a:t>) </a:t>
            </a:r>
            <a:r>
              <a:rPr lang="es-ES"/>
              <a:t>al inicio del Sprint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1" lang="es-ES"/>
              <a:t>Reuniones diarias (</a:t>
            </a:r>
            <a:r>
              <a:rPr lang="es-ES"/>
              <a:t>Daily Scrums</a:t>
            </a:r>
            <a:r>
              <a:rPr b="1" lang="es-ES"/>
              <a:t>)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Una </a:t>
            </a:r>
            <a:r>
              <a:rPr b="1" lang="es-ES"/>
              <a:t>revisión del Sprint (</a:t>
            </a:r>
            <a:r>
              <a:rPr lang="es-ES"/>
              <a:t>sprint review</a:t>
            </a:r>
            <a:r>
              <a:rPr b="1" lang="es-ES"/>
              <a:t>) </a:t>
            </a:r>
            <a:r>
              <a:rPr lang="es-ES"/>
              <a:t>al final del Sprint para inspeccionar el incremento realizado.</a:t>
            </a:r>
            <a:endParaRPr/>
          </a:p>
          <a:p>
            <a:pPr indent="-342900" lvl="1" marL="850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Una </a:t>
            </a:r>
            <a:r>
              <a:rPr b="1" lang="es-ES"/>
              <a:t>Retrospectiva </a:t>
            </a:r>
            <a:r>
              <a:rPr lang="es-ES"/>
              <a:t>para inspeccionar el equipo y el proceso  para levantar mejoras que se apliquen en el siguiente Sprint.</a:t>
            </a:r>
            <a:endParaRPr/>
          </a:p>
        </p:txBody>
      </p:sp>
      <p:pic>
        <p:nvPicPr>
          <p:cNvPr id="619" name="Google Shape;619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189" y="4229647"/>
            <a:ext cx="7475621" cy="161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43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El resultado de la reunión de validación del sprint es la aprobación o rechazo de los elementos del Sprint Backlog.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Todo elemento o tarea que no esta terminada aún queda para el siguiente Sprint.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Si existe algo no aceptado se devuelve al Product Backlog pendiente por implementar.</a:t>
            </a:r>
            <a:endParaRPr/>
          </a:p>
        </p:txBody>
      </p:sp>
      <p:sp>
        <p:nvSpPr>
          <p:cNvPr id="625" name="Google Shape;625;p24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800">
                <a:solidFill>
                  <a:schemeClr val="lt1"/>
                </a:solidFill>
              </a:rPr>
              <a:t>Validación del Sprint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626" name="Google Shape;626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579" y="4278532"/>
            <a:ext cx="6416841" cy="17779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350e5ad54e_0_764"/>
          <p:cNvSpPr txBox="1"/>
          <p:nvPr>
            <p:ph type="title"/>
          </p:nvPr>
        </p:nvSpPr>
        <p:spPr>
          <a:xfrm>
            <a:off x="372684" y="4689514"/>
            <a:ext cx="2751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Finalizando del desarrollo Agil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4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800">
                <a:solidFill>
                  <a:schemeClr val="lt1"/>
                </a:solidFill>
              </a:rPr>
              <a:t>Proceso de entrega.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637" name="Google Shape;637;p249"/>
          <p:cNvSpPr txBox="1"/>
          <p:nvPr>
            <p:ph idx="1" type="body"/>
          </p:nvPr>
        </p:nvSpPr>
        <p:spPr>
          <a:xfrm>
            <a:off x="294150" y="1218600"/>
            <a:ext cx="4288185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 este proceso se entrega un producto funcional,  en la fase de lanzamiento o Release, se produce la entrega al cliente de los entregables aceptados.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Las fechas de lanzamiento corresponden a la fechas definidas en la planificación de Entregas de la Fase de Inicio.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A la hora de entregar el producto y efectuar el despliegue se producen las revisiones y aceptación final.</a:t>
            </a:r>
            <a:endParaRPr/>
          </a:p>
        </p:txBody>
      </p:sp>
      <p:pic>
        <p:nvPicPr>
          <p:cNvPr id="638" name="Google Shape;638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7925" y="1436788"/>
            <a:ext cx="2886075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7516" y="3787500"/>
            <a:ext cx="2360314" cy="25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5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800">
                <a:solidFill>
                  <a:schemeClr val="lt1"/>
                </a:solidFill>
              </a:rPr>
              <a:t>Retrospectiva del Proyecto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645" name="Google Shape;645;p250"/>
          <p:cNvSpPr txBox="1"/>
          <p:nvPr>
            <p:ph idx="1" type="body"/>
          </p:nvPr>
        </p:nvSpPr>
        <p:spPr>
          <a:xfrm>
            <a:off x="294150" y="1218600"/>
            <a:ext cx="4839324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 esta fase se revisan las lecciones aprendidas durante el proyecto.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Se proponen acciones para mejorar el proceso de SCRUM.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Esta reunión es para lograr interacción e  identificación de  oportunidades de mejora del Equipo Scrum.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Entre los asistentes figuran el Equipo Scrum, ScrumMaster, Producto Owner, e involucrados.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pic>
        <p:nvPicPr>
          <p:cNvPr id="646" name="Google Shape;646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225" y="5046461"/>
            <a:ext cx="2914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2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9306" y="1195388"/>
            <a:ext cx="3969748" cy="355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5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400">
                <a:solidFill>
                  <a:schemeClr val="lt1"/>
                </a:solidFill>
              </a:rPr>
              <a:t>Etapas de la reunión de retrospectiva del proyecto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53" name="Google Shape;653;p251"/>
          <p:cNvSpPr/>
          <p:nvPr/>
        </p:nvSpPr>
        <p:spPr>
          <a:xfrm>
            <a:off x="733926" y="1411905"/>
            <a:ext cx="713071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rPr>
              <a:t>El facilitador de la retrospectiva es el Scrum Master, se preocupa de cumplir con las siguientes etapas en la reunión de retrospectiva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s-E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4" name="Google Shape;654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1554" y="2850615"/>
            <a:ext cx="3468004" cy="318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5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3200">
                <a:solidFill>
                  <a:schemeClr val="lt1"/>
                </a:solidFill>
              </a:rPr>
              <a:t>Herramientas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660" name="Google Shape;660;p252"/>
          <p:cNvSpPr txBox="1"/>
          <p:nvPr>
            <p:ph idx="1" type="body"/>
          </p:nvPr>
        </p:nvSpPr>
        <p:spPr>
          <a:xfrm>
            <a:off x="294149" y="1218600"/>
            <a:ext cx="5340389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Dinámica pregunta rápida: El Scrum master realiza algunas preguntas al grupo y si quieren la responden o dicen “paso”, no deben sentir obligación en responder.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¿Qué esperas de la retrospectiva?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¿En qué piensas en este momento?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¿Cómo definirías tu estado actual?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pic>
        <p:nvPicPr>
          <p:cNvPr descr="Resultado de imagen para que piensas" id="661" name="Google Shape;661;p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884" y="3252537"/>
            <a:ext cx="2028825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6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ES" sz="2400">
                <a:solidFill>
                  <a:schemeClr val="lt1"/>
                </a:solidFill>
              </a:rPr>
              <a:t>Entregables de la retrospectiva del proyecto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67" name="Google Shape;667;p256"/>
          <p:cNvSpPr txBox="1"/>
          <p:nvPr>
            <p:ph idx="1" type="body"/>
          </p:nvPr>
        </p:nvSpPr>
        <p:spPr>
          <a:xfrm>
            <a:off x="294150" y="1218600"/>
            <a:ext cx="4935576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Como resultado de la reunión de retrospectiva del proyecto, se deben generar un plan de acción respecto de las mejoras acordadas por el equipo.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</a:pPr>
            <a:r>
              <a:rPr lang="es-ES"/>
              <a:t>Además, podrían generarse necesidades estimadas en la fase de inicio pero que no se podían efectuar hasta tener un producto completo desarrollado, por ejemplo, requisitos no funcionales referidos a tiempos de respuesta, limitaciones de capacidad e Incidentes relacionados con la de seguridad.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pic>
        <p:nvPicPr>
          <p:cNvPr id="668" name="Google Shape;668;p2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884" y="3882189"/>
            <a:ext cx="2300467" cy="2009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2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1676" y="1557087"/>
            <a:ext cx="29337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3503765b8d_0_380"/>
          <p:cNvSpPr txBox="1"/>
          <p:nvPr>
            <p:ph type="title"/>
          </p:nvPr>
        </p:nvSpPr>
        <p:spPr>
          <a:xfrm>
            <a:off x="448884" y="4918114"/>
            <a:ext cx="2751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El ciclo de vida del proyecto 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Otro enfoque</a:t>
            </a:r>
            <a:endParaRPr/>
          </a:p>
        </p:txBody>
      </p:sp>
      <p:sp>
        <p:nvSpPr>
          <p:cNvPr id="675" name="Google Shape;675;g13503765b8d_0_380"/>
          <p:cNvSpPr txBox="1"/>
          <p:nvPr>
            <p:ph type="title"/>
          </p:nvPr>
        </p:nvSpPr>
        <p:spPr>
          <a:xfrm>
            <a:off x="3910520" y="4787475"/>
            <a:ext cx="432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Seguimiento de proyectos tradicional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13503765b8d_0_367"/>
          <p:cNvSpPr txBox="1"/>
          <p:nvPr>
            <p:ph idx="1" type="body"/>
          </p:nvPr>
        </p:nvSpPr>
        <p:spPr>
          <a:xfrm>
            <a:off x="2527164" y="564120"/>
            <a:ext cx="6379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Desarrollar, dirigir, controlar y monitorear los artefactos de un Proyecto Tecnológico de Red de Datos.</a:t>
            </a:r>
            <a:endParaRPr/>
          </a:p>
        </p:txBody>
      </p:sp>
      <p:sp>
        <p:nvSpPr>
          <p:cNvPr id="681" name="Google Shape;681;g13503765b8d_0_367"/>
          <p:cNvSpPr txBox="1"/>
          <p:nvPr>
            <p:ph idx="2" type="body"/>
          </p:nvPr>
        </p:nvSpPr>
        <p:spPr>
          <a:xfrm>
            <a:off x="261092" y="2181391"/>
            <a:ext cx="833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 sz="1600"/>
              <a:t>Ya sea que esté trabajando en un proyecto pequeño con objetivos comerciales modestos o en una gran iniciativa de varios departamentos con amplias implicaciones corporativas, comprender el ciclo de vida de la gestión de proyectos es esencial.</a:t>
            </a:r>
            <a:endParaRPr sz="1600"/>
          </a:p>
        </p:txBody>
      </p:sp>
      <p:sp>
        <p:nvSpPr>
          <p:cNvPr id="682" name="Google Shape;682;g13503765b8d_0_367"/>
          <p:cNvSpPr txBox="1"/>
          <p:nvPr/>
        </p:nvSpPr>
        <p:spPr>
          <a:xfrm>
            <a:off x="620471" y="4282919"/>
            <a:ext cx="5764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3" name="Google Shape;683;g13503765b8d_0_3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119" y="3284267"/>
            <a:ext cx="5104564" cy="2156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3503765b8d_0_374"/>
          <p:cNvSpPr txBox="1"/>
          <p:nvPr>
            <p:ph idx="1" type="body"/>
          </p:nvPr>
        </p:nvSpPr>
        <p:spPr>
          <a:xfrm>
            <a:off x="2527164" y="564120"/>
            <a:ext cx="6379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Desarrollar, dirigir, controlar y monitorear los artefactos de un Proyecto Tecnológico de Red de Datos.</a:t>
            </a:r>
            <a:endParaRPr/>
          </a:p>
        </p:txBody>
      </p:sp>
      <p:sp>
        <p:nvSpPr>
          <p:cNvPr id="689" name="Google Shape;689;g13503765b8d_0_374"/>
          <p:cNvSpPr txBox="1"/>
          <p:nvPr/>
        </p:nvSpPr>
        <p:spPr>
          <a:xfrm>
            <a:off x="620471" y="4282919"/>
            <a:ext cx="5764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13503765b8d_0_374"/>
          <p:cNvSpPr txBox="1"/>
          <p:nvPr/>
        </p:nvSpPr>
        <p:spPr>
          <a:xfrm>
            <a:off x="620471" y="2281553"/>
            <a:ext cx="79560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ciclo de vida de la gestión de proyectos describe los procesos de alto nivel para entregar un proyecto exitoso. Por cada $ 1 mil millones invertidos en proyectos por empresas en los Estados Unidos, </a:t>
            </a:r>
            <a:r>
              <a:rPr b="1" i="1" lang="es-E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$ 122 millones se desperdiciaron debido a la falta de desempeño del proyecto</a:t>
            </a: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según Project Management Institute Research.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dinero y los recursos desperdiciados se pueden prevenir con una gestión de proyectos eficaz, ya que </a:t>
            </a:r>
            <a:r>
              <a:rPr b="1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57% de los proyectos fallidos fracasan debido a una falla en la comunicación</a:t>
            </a: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En las fases del ciclo de vida de la gestión de proyectos, se le ocurre la idea de un proyecto, define sus objetivos, planifica su ejecución y lo guía hasta su finalización.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3503765b8d_0_384"/>
          <p:cNvSpPr txBox="1"/>
          <p:nvPr>
            <p:ph idx="1" type="body"/>
          </p:nvPr>
        </p:nvSpPr>
        <p:spPr>
          <a:xfrm>
            <a:off x="2596480" y="656535"/>
            <a:ext cx="611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Fases de un proyecto</a:t>
            </a:r>
            <a:endParaRPr/>
          </a:p>
        </p:txBody>
      </p:sp>
      <p:sp>
        <p:nvSpPr>
          <p:cNvPr id="696" name="Google Shape;696;g13503765b8d_0_384"/>
          <p:cNvSpPr txBox="1"/>
          <p:nvPr/>
        </p:nvSpPr>
        <p:spPr>
          <a:xfrm>
            <a:off x="323113" y="1597639"/>
            <a:ext cx="8354700" cy="3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ciclo de vida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un proyecto es la serie de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fases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las que pasa un proyecto desde su inicio hasta su finalización. Una fase de proyecto es una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colección de actividades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proyecto relacionadas lógicamente que culmina con la finalización de uno o más entregables. Las fases pueden ser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secuenciales, iterativas o superpuestas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Los nombres, el número y la duración de las fases del proyecto están determinados por las necesidades de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y control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las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organizaciones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involucradas en el proyecto, la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naturaleza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 proyecto en sí y su área de aplicación. Las fases tienen un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límite de tiempo, con un inicio y un final o un punto de control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 veces denominado </a:t>
            </a:r>
            <a:r>
              <a:rPr b="1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revisión de fase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puerta de fase, puerta de control u otro término similar). En el </a:t>
            </a:r>
            <a:r>
              <a:rPr b="1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punto de control, la carta del proyecto y los documentos comerciales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vuelven a examinar en función del entorno actual. En ese momento, el </a:t>
            </a: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desempeño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 proyecto se compara con el plan de gestión del proyecto para determinar si el proyecto debe </a:t>
            </a:r>
            <a:r>
              <a:rPr b="1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cambiarse, terminarse o continuar</a:t>
            </a: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según lo planeado.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3503765b8d_0_389"/>
          <p:cNvSpPr txBox="1"/>
          <p:nvPr>
            <p:ph idx="1" type="body"/>
          </p:nvPr>
        </p:nvSpPr>
        <p:spPr>
          <a:xfrm>
            <a:off x="2596480" y="656535"/>
            <a:ext cx="6119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Fases de un proyecto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 sz="1500"/>
              <a:t>Conceptos Claves</a:t>
            </a:r>
            <a:endParaRPr sz="1500"/>
          </a:p>
        </p:txBody>
      </p:sp>
      <p:sp>
        <p:nvSpPr>
          <p:cNvPr id="702" name="Google Shape;702;g13503765b8d_0_389"/>
          <p:cNvSpPr txBox="1"/>
          <p:nvPr/>
        </p:nvSpPr>
        <p:spPr>
          <a:xfrm>
            <a:off x="323113" y="1597639"/>
            <a:ext cx="8354700" cy="28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Ciclo de vida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Fases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Colección de actividades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Ejecución de tareas secuenciales, iterativas o superpuestas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Herramientas para la gestión y control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Restricciones asociadas a límite de tiempo, con un inicio y un final o un punto de control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revisión de fase, junto con el presupuesto y calidad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desempeño del proyecto se compara con el plan de gestión del proyecto para determinar si el proyecto debe cambiarse, terminarse o continuar según lo planeado.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3" name="Google Shape;703;g13503765b8d_0_3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937" y="5041390"/>
            <a:ext cx="5961217" cy="953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3503765b8d_0_395"/>
          <p:cNvSpPr txBox="1"/>
          <p:nvPr>
            <p:ph type="title"/>
          </p:nvPr>
        </p:nvSpPr>
        <p:spPr>
          <a:xfrm>
            <a:off x="601284" y="4994314"/>
            <a:ext cx="275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Actividad</a:t>
            </a:r>
            <a:endParaRPr/>
          </a:p>
        </p:txBody>
      </p:sp>
      <p:sp>
        <p:nvSpPr>
          <p:cNvPr id="709" name="Google Shape;709;g13503765b8d_0_395"/>
          <p:cNvSpPr txBox="1"/>
          <p:nvPr>
            <p:ph idx="1" type="body"/>
          </p:nvPr>
        </p:nvSpPr>
        <p:spPr>
          <a:xfrm>
            <a:off x="3781602" y="4954565"/>
            <a:ext cx="509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ES" sz="1300"/>
              <a:t>Puedes identificar las tareas que se requieren para ir de vacaciones junto a tu familia o amigos? Cuál actividad podría ser la mas compleja de organizar?</a:t>
            </a:r>
            <a:endParaRPr sz="1300"/>
          </a:p>
          <a:p>
            <a:pPr indent="-1968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ES" sz="1300"/>
              <a:t>Genera un listado de actividades y requerimientos. Organiza la ejecución indicando duración en tiempo y costos aproximados.</a:t>
            </a:r>
            <a:endParaRPr sz="1300"/>
          </a:p>
          <a:p>
            <a:pPr indent="-1968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ES" sz="1300"/>
              <a:t>Presenta tus resultados al curso</a:t>
            </a:r>
            <a:endParaRPr sz="1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3503765b8d_0_400"/>
          <p:cNvSpPr txBox="1"/>
          <p:nvPr>
            <p:ph type="title"/>
          </p:nvPr>
        </p:nvSpPr>
        <p:spPr>
          <a:xfrm>
            <a:off x="601284" y="4994314"/>
            <a:ext cx="2751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Mapa de procesos y grupos de procesos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3503765b8d_0_404"/>
          <p:cNvSpPr txBox="1"/>
          <p:nvPr>
            <p:ph idx="1" type="body"/>
          </p:nvPr>
        </p:nvSpPr>
        <p:spPr>
          <a:xfrm>
            <a:off x="2527164" y="564120"/>
            <a:ext cx="617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-ES" sz="2700"/>
              <a:t>Mapa de procesos y grupos de procesos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720" name="Google Shape;720;g13503765b8d_0_4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16" y="1552674"/>
            <a:ext cx="8910183" cy="259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g13503765b8d_0_4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46" y="1529282"/>
            <a:ext cx="8743089" cy="2159227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g13503765b8d_0_409"/>
          <p:cNvSpPr txBox="1"/>
          <p:nvPr>
            <p:ph idx="1" type="body"/>
          </p:nvPr>
        </p:nvSpPr>
        <p:spPr>
          <a:xfrm>
            <a:off x="2527164" y="564120"/>
            <a:ext cx="617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-ES" sz="2700"/>
              <a:t>Mapa de procesos y grupos de procesos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3503765b8d_0_414"/>
          <p:cNvSpPr txBox="1"/>
          <p:nvPr>
            <p:ph type="title"/>
          </p:nvPr>
        </p:nvSpPr>
        <p:spPr>
          <a:xfrm>
            <a:off x="601284" y="4994314"/>
            <a:ext cx="275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Audiovisual</a:t>
            </a:r>
            <a:endParaRPr/>
          </a:p>
        </p:txBody>
      </p:sp>
      <p:sp>
        <p:nvSpPr>
          <p:cNvPr id="732" name="Google Shape;732;g13503765b8d_0_414"/>
          <p:cNvSpPr txBox="1"/>
          <p:nvPr/>
        </p:nvSpPr>
        <p:spPr>
          <a:xfrm>
            <a:off x="3891252" y="5106259"/>
            <a:ext cx="6703500" cy="12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Revisemos el siguiente video resumen: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procesos del PMBOK 6a Edición</a:t>
            </a: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https://www.youtube.com/watch?v=3tGtiyW-0Dk</a:t>
            </a:r>
            <a:b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3503765b8d_0_419"/>
          <p:cNvSpPr txBox="1"/>
          <p:nvPr>
            <p:ph type="title"/>
          </p:nvPr>
        </p:nvSpPr>
        <p:spPr>
          <a:xfrm>
            <a:off x="601284" y="4994314"/>
            <a:ext cx="275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Actividad</a:t>
            </a:r>
            <a:endParaRPr/>
          </a:p>
        </p:txBody>
      </p:sp>
      <p:sp>
        <p:nvSpPr>
          <p:cNvPr id="738" name="Google Shape;738;g13503765b8d_0_419"/>
          <p:cNvSpPr txBox="1"/>
          <p:nvPr>
            <p:ph idx="1" type="body"/>
          </p:nvPr>
        </p:nvSpPr>
        <p:spPr>
          <a:xfrm>
            <a:off x="3781602" y="4769734"/>
            <a:ext cx="5091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s-ES" sz="2000" u="sng"/>
              <a:t>Trabaja en equipo:</a:t>
            </a:r>
            <a:endParaRPr b="1" sz="2000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 sz="2000"/>
              <a:t>Para cada una de las 10 áreas de conocimiento, considerarías algún proceso adicional?</a:t>
            </a:r>
            <a:endParaRPr sz="2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3503765b8d_0_424"/>
          <p:cNvSpPr txBox="1"/>
          <p:nvPr>
            <p:ph type="title"/>
          </p:nvPr>
        </p:nvSpPr>
        <p:spPr>
          <a:xfrm>
            <a:off x="601284" y="4994314"/>
            <a:ext cx="275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Hands-ON</a:t>
            </a:r>
            <a:endParaRPr/>
          </a:p>
        </p:txBody>
      </p:sp>
      <p:sp>
        <p:nvSpPr>
          <p:cNvPr id="744" name="Google Shape;744;g13503765b8d_0_424"/>
          <p:cNvSpPr txBox="1"/>
          <p:nvPr>
            <p:ph idx="1" type="body"/>
          </p:nvPr>
        </p:nvSpPr>
        <p:spPr>
          <a:xfrm>
            <a:off x="3781602" y="4954565"/>
            <a:ext cx="509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1600"/>
              <a:t>Ahora que ya contamos con una visión general del desarrollo de proyectos, generaremos nuestra primera planificación formal</a:t>
            </a:r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3503765b8d_0_429"/>
          <p:cNvSpPr txBox="1"/>
          <p:nvPr>
            <p:ph idx="1" type="body"/>
          </p:nvPr>
        </p:nvSpPr>
        <p:spPr>
          <a:xfrm>
            <a:off x="2527164" y="564120"/>
            <a:ext cx="6170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-ES" sz="2700"/>
              <a:t>Desarrollar - Planificar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13503765b8d_0_433"/>
          <p:cNvSpPr txBox="1"/>
          <p:nvPr>
            <p:ph idx="1" type="body"/>
          </p:nvPr>
        </p:nvSpPr>
        <p:spPr>
          <a:xfrm>
            <a:off x="2527164" y="564120"/>
            <a:ext cx="6170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-ES" sz="2700"/>
              <a:t>Ejecutar - Dirigir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3503765b8d_0_437"/>
          <p:cNvSpPr txBox="1"/>
          <p:nvPr>
            <p:ph idx="1" type="body"/>
          </p:nvPr>
        </p:nvSpPr>
        <p:spPr>
          <a:xfrm>
            <a:off x="2527164" y="564120"/>
            <a:ext cx="6170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-ES" sz="2700"/>
              <a:t>Controlar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3503765b8d_0_441"/>
          <p:cNvSpPr txBox="1"/>
          <p:nvPr>
            <p:ph idx="1" type="body"/>
          </p:nvPr>
        </p:nvSpPr>
        <p:spPr>
          <a:xfrm>
            <a:off x="2527164" y="564120"/>
            <a:ext cx="6170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-ES" sz="2700"/>
              <a:t>Monitorear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3503765b8d_0_445"/>
          <p:cNvSpPr txBox="1"/>
          <p:nvPr>
            <p:ph idx="1" type="body"/>
          </p:nvPr>
        </p:nvSpPr>
        <p:spPr>
          <a:xfrm>
            <a:off x="2527164" y="564120"/>
            <a:ext cx="6380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-ES" sz="2700"/>
              <a:t>Diagrama de flujo (entradas/salidas)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770" name="Google Shape;770;g13503765b8d_0_4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353" y="1345452"/>
            <a:ext cx="3357597" cy="3852626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13503765b8d_0_445"/>
          <p:cNvSpPr txBox="1"/>
          <p:nvPr/>
        </p:nvSpPr>
        <p:spPr>
          <a:xfrm>
            <a:off x="4108855" y="4997653"/>
            <a:ext cx="46587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13503765b8d_0_445"/>
          <p:cNvSpPr txBox="1"/>
          <p:nvPr/>
        </p:nvSpPr>
        <p:spPr>
          <a:xfrm>
            <a:off x="3863473" y="5632252"/>
            <a:ext cx="51132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https://drive.google.com/file/d/1raqUXp8nEiSxc_fd2Wh9b3B4oRRDHVnn/view?usp=sharing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13503765b8d_0_445"/>
          <p:cNvSpPr txBox="1"/>
          <p:nvPr/>
        </p:nvSpPr>
        <p:spPr>
          <a:xfrm>
            <a:off x="4538195" y="1597457"/>
            <a:ext cx="42294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46200" spcFirstLastPara="1" rIns="46200" wrap="square" tIns="46200">
            <a:spAutoFit/>
          </a:bodyPr>
          <a:lstStyle/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Comparemos cada uno de los procesos identificados en la actividad anterior con el diagrama de flujo para la interacción entre procesos PMBoK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350e5ad54e_0_470"/>
          <p:cNvSpPr txBox="1"/>
          <p:nvPr>
            <p:ph type="title"/>
          </p:nvPr>
        </p:nvSpPr>
        <p:spPr>
          <a:xfrm>
            <a:off x="601284" y="4994314"/>
            <a:ext cx="275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Que hemos aprendido hoy?</a:t>
            </a:r>
            <a:endParaRPr/>
          </a:p>
        </p:txBody>
      </p:sp>
      <p:sp>
        <p:nvSpPr>
          <p:cNvPr id="779" name="Google Shape;779;g1350e5ad54e_0_470"/>
          <p:cNvSpPr txBox="1"/>
          <p:nvPr>
            <p:ph idx="1" type="body"/>
          </p:nvPr>
        </p:nvSpPr>
        <p:spPr>
          <a:xfrm>
            <a:off x="3781601" y="4954565"/>
            <a:ext cx="509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/>
              <a:t>Tecnologías para la creación de mockups</a:t>
            </a:r>
            <a:endParaRPr sz="1200"/>
          </a:p>
          <a:p>
            <a:pPr indent="-1905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/>
              <a:t>Cuales son las ventajas del uso de maquetas </a:t>
            </a:r>
            <a:endParaRPr sz="1200"/>
          </a:p>
          <a:p>
            <a:pPr indent="-1905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/>
              <a:t>Alternativas wireframe</a:t>
            </a:r>
            <a:endParaRPr sz="1200"/>
          </a:p>
          <a:p>
            <a:pPr indent="-1905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/>
              <a:t>TinkerCad para el prototipado de circuitos Arduino</a:t>
            </a:r>
            <a:endParaRPr sz="1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350e5ad54e_0_475"/>
          <p:cNvSpPr txBox="1"/>
          <p:nvPr>
            <p:ph idx="1" type="body"/>
          </p:nvPr>
        </p:nvSpPr>
        <p:spPr>
          <a:xfrm>
            <a:off x="261092" y="7631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Preguntas</a:t>
            </a:r>
            <a:endParaRPr/>
          </a:p>
        </p:txBody>
      </p:sp>
      <p:sp>
        <p:nvSpPr>
          <p:cNvPr id="785" name="Google Shape;785;g1350e5ad54e_0_475"/>
          <p:cNvSpPr/>
          <p:nvPr/>
        </p:nvSpPr>
        <p:spPr>
          <a:xfrm>
            <a:off x="3163895" y="2481855"/>
            <a:ext cx="366935" cy="478346"/>
          </a:xfrm>
          <a:custGeom>
            <a:rect b="b" l="l" r="r" t="t"/>
            <a:pathLst>
              <a:path extrusionOk="0" h="787400" w="806450">
                <a:moveTo>
                  <a:pt x="402856" y="0"/>
                </a:moveTo>
                <a:lnTo>
                  <a:pt x="355902" y="2540"/>
                </a:lnTo>
                <a:lnTo>
                  <a:pt x="310527" y="10160"/>
                </a:lnTo>
                <a:lnTo>
                  <a:pt x="267035" y="22860"/>
                </a:lnTo>
                <a:lnTo>
                  <a:pt x="225730" y="40640"/>
                </a:lnTo>
                <a:lnTo>
                  <a:pt x="186918" y="62230"/>
                </a:lnTo>
                <a:lnTo>
                  <a:pt x="150902" y="87630"/>
                </a:lnTo>
                <a:lnTo>
                  <a:pt x="117988" y="115570"/>
                </a:lnTo>
                <a:lnTo>
                  <a:pt x="88479" y="148590"/>
                </a:lnTo>
                <a:lnTo>
                  <a:pt x="62681" y="182880"/>
                </a:lnTo>
                <a:lnTo>
                  <a:pt x="40897" y="220980"/>
                </a:lnTo>
                <a:lnTo>
                  <a:pt x="23433" y="261620"/>
                </a:lnTo>
                <a:lnTo>
                  <a:pt x="10592" y="304800"/>
                </a:lnTo>
                <a:lnTo>
                  <a:pt x="2679" y="347980"/>
                </a:lnTo>
                <a:lnTo>
                  <a:pt x="0" y="394970"/>
                </a:lnTo>
                <a:lnTo>
                  <a:pt x="2752" y="440690"/>
                </a:lnTo>
                <a:lnTo>
                  <a:pt x="10736" y="485140"/>
                </a:lnTo>
                <a:lnTo>
                  <a:pt x="23645" y="527050"/>
                </a:lnTo>
                <a:lnTo>
                  <a:pt x="41174" y="567690"/>
                </a:lnTo>
                <a:lnTo>
                  <a:pt x="63019" y="605790"/>
                </a:lnTo>
                <a:lnTo>
                  <a:pt x="88874" y="640080"/>
                </a:lnTo>
                <a:lnTo>
                  <a:pt x="118434" y="673100"/>
                </a:lnTo>
                <a:lnTo>
                  <a:pt x="151395" y="701040"/>
                </a:lnTo>
                <a:lnTo>
                  <a:pt x="187450" y="726440"/>
                </a:lnTo>
                <a:lnTo>
                  <a:pt x="226295" y="748030"/>
                </a:lnTo>
                <a:lnTo>
                  <a:pt x="267625" y="764540"/>
                </a:lnTo>
                <a:lnTo>
                  <a:pt x="311135" y="777240"/>
                </a:lnTo>
                <a:lnTo>
                  <a:pt x="356520" y="784860"/>
                </a:lnTo>
                <a:lnTo>
                  <a:pt x="403474" y="787400"/>
                </a:lnTo>
                <a:lnTo>
                  <a:pt x="450426" y="784860"/>
                </a:lnTo>
                <a:lnTo>
                  <a:pt x="495800" y="777240"/>
                </a:lnTo>
                <a:lnTo>
                  <a:pt x="539290" y="764540"/>
                </a:lnTo>
                <a:lnTo>
                  <a:pt x="545645" y="762000"/>
                </a:lnTo>
                <a:lnTo>
                  <a:pt x="390867" y="762000"/>
                </a:lnTo>
                <a:lnTo>
                  <a:pt x="368767" y="754380"/>
                </a:lnTo>
                <a:lnTo>
                  <a:pt x="318231" y="754380"/>
                </a:lnTo>
                <a:lnTo>
                  <a:pt x="270563" y="740410"/>
                </a:lnTo>
                <a:lnTo>
                  <a:pt x="225761" y="720090"/>
                </a:lnTo>
                <a:lnTo>
                  <a:pt x="184279" y="694690"/>
                </a:lnTo>
                <a:lnTo>
                  <a:pt x="146571" y="665480"/>
                </a:lnTo>
                <a:lnTo>
                  <a:pt x="165709" y="648970"/>
                </a:lnTo>
                <a:lnTo>
                  <a:pt x="167394" y="647700"/>
                </a:lnTo>
                <a:lnTo>
                  <a:pt x="128708" y="647700"/>
                </a:lnTo>
                <a:lnTo>
                  <a:pt x="94729" y="607060"/>
                </a:lnTo>
                <a:lnTo>
                  <a:pt x="66808" y="562610"/>
                </a:lnTo>
                <a:lnTo>
                  <a:pt x="45554" y="513080"/>
                </a:lnTo>
                <a:lnTo>
                  <a:pt x="31580" y="461010"/>
                </a:lnTo>
                <a:lnTo>
                  <a:pt x="25496" y="406400"/>
                </a:lnTo>
                <a:lnTo>
                  <a:pt x="805576" y="406400"/>
                </a:lnTo>
                <a:lnTo>
                  <a:pt x="806320" y="393700"/>
                </a:lnTo>
                <a:lnTo>
                  <a:pt x="805632" y="382270"/>
                </a:lnTo>
                <a:lnTo>
                  <a:pt x="25486" y="382270"/>
                </a:lnTo>
                <a:lnTo>
                  <a:pt x="31478" y="327660"/>
                </a:lnTo>
                <a:lnTo>
                  <a:pt x="45366" y="275590"/>
                </a:lnTo>
                <a:lnTo>
                  <a:pt x="66539" y="226060"/>
                </a:lnTo>
                <a:lnTo>
                  <a:pt x="94387" y="181610"/>
                </a:lnTo>
                <a:lnTo>
                  <a:pt x="128299" y="140970"/>
                </a:lnTo>
                <a:lnTo>
                  <a:pt x="166992" y="140970"/>
                </a:lnTo>
                <a:lnTo>
                  <a:pt x="165305" y="139700"/>
                </a:lnTo>
                <a:lnTo>
                  <a:pt x="183794" y="93980"/>
                </a:lnTo>
                <a:lnTo>
                  <a:pt x="225233" y="68580"/>
                </a:lnTo>
                <a:lnTo>
                  <a:pt x="270003" y="48260"/>
                </a:lnTo>
                <a:lnTo>
                  <a:pt x="317644" y="34290"/>
                </a:lnTo>
                <a:lnTo>
                  <a:pt x="367076" y="34290"/>
                </a:lnTo>
                <a:lnTo>
                  <a:pt x="390260" y="25400"/>
                </a:lnTo>
                <a:lnTo>
                  <a:pt x="544608" y="25400"/>
                </a:lnTo>
                <a:lnTo>
                  <a:pt x="538704" y="22860"/>
                </a:lnTo>
                <a:lnTo>
                  <a:pt x="495195" y="10160"/>
                </a:lnTo>
                <a:lnTo>
                  <a:pt x="449810" y="2540"/>
                </a:lnTo>
                <a:lnTo>
                  <a:pt x="402856" y="0"/>
                </a:lnTo>
                <a:close/>
              </a:path>
              <a:path extrusionOk="0" h="787400" w="806450">
                <a:moveTo>
                  <a:pt x="415882" y="566420"/>
                </a:moveTo>
                <a:lnTo>
                  <a:pt x="390710" y="566420"/>
                </a:lnTo>
                <a:lnTo>
                  <a:pt x="390867" y="762000"/>
                </a:lnTo>
                <a:lnTo>
                  <a:pt x="416039" y="762000"/>
                </a:lnTo>
                <a:lnTo>
                  <a:pt x="415882" y="566420"/>
                </a:lnTo>
                <a:close/>
              </a:path>
              <a:path extrusionOk="0" h="787400" w="806450">
                <a:moveTo>
                  <a:pt x="543501" y="566420"/>
                </a:moveTo>
                <a:lnTo>
                  <a:pt x="415882" y="566420"/>
                </a:lnTo>
                <a:lnTo>
                  <a:pt x="451986" y="568960"/>
                </a:lnTo>
                <a:lnTo>
                  <a:pt x="487065" y="575310"/>
                </a:lnTo>
                <a:lnTo>
                  <a:pt x="520959" y="584200"/>
                </a:lnTo>
                <a:lnTo>
                  <a:pt x="553511" y="596900"/>
                </a:lnTo>
                <a:lnTo>
                  <a:pt x="532961" y="648970"/>
                </a:lnTo>
                <a:lnTo>
                  <a:pt x="508285" y="692150"/>
                </a:lnTo>
                <a:lnTo>
                  <a:pt x="480136" y="726440"/>
                </a:lnTo>
                <a:lnTo>
                  <a:pt x="449170" y="750570"/>
                </a:lnTo>
                <a:lnTo>
                  <a:pt x="416039" y="762000"/>
                </a:lnTo>
                <a:lnTo>
                  <a:pt x="545645" y="762000"/>
                </a:lnTo>
                <a:lnTo>
                  <a:pt x="564708" y="754380"/>
                </a:lnTo>
                <a:lnTo>
                  <a:pt x="488697" y="754380"/>
                </a:lnTo>
                <a:lnTo>
                  <a:pt x="515038" y="726440"/>
                </a:lnTo>
                <a:lnTo>
                  <a:pt x="538796" y="693420"/>
                </a:lnTo>
                <a:lnTo>
                  <a:pt x="559650" y="652780"/>
                </a:lnTo>
                <a:lnTo>
                  <a:pt x="577280" y="607060"/>
                </a:lnTo>
                <a:lnTo>
                  <a:pt x="625750" y="607060"/>
                </a:lnTo>
                <a:lnTo>
                  <a:pt x="609764" y="596900"/>
                </a:lnTo>
                <a:lnTo>
                  <a:pt x="584652" y="582930"/>
                </a:lnTo>
                <a:lnTo>
                  <a:pt x="587124" y="572770"/>
                </a:lnTo>
                <a:lnTo>
                  <a:pt x="560642" y="572770"/>
                </a:lnTo>
                <a:lnTo>
                  <a:pt x="543501" y="566420"/>
                </a:lnTo>
                <a:close/>
              </a:path>
              <a:path extrusionOk="0" h="787400" w="806450">
                <a:moveTo>
                  <a:pt x="257683" y="608330"/>
                </a:moveTo>
                <a:lnTo>
                  <a:pt x="229406" y="608330"/>
                </a:lnTo>
                <a:lnTo>
                  <a:pt x="247096" y="652780"/>
                </a:lnTo>
                <a:lnTo>
                  <a:pt x="268015" y="693420"/>
                </a:lnTo>
                <a:lnTo>
                  <a:pt x="291836" y="726440"/>
                </a:lnTo>
                <a:lnTo>
                  <a:pt x="318231" y="754380"/>
                </a:lnTo>
                <a:lnTo>
                  <a:pt x="368767" y="754380"/>
                </a:lnTo>
                <a:lnTo>
                  <a:pt x="357718" y="750570"/>
                </a:lnTo>
                <a:lnTo>
                  <a:pt x="326719" y="727710"/>
                </a:lnTo>
                <a:lnTo>
                  <a:pt x="298523" y="692150"/>
                </a:lnTo>
                <a:lnTo>
                  <a:pt x="273784" y="648970"/>
                </a:lnTo>
                <a:lnTo>
                  <a:pt x="257683" y="608330"/>
                </a:lnTo>
                <a:close/>
              </a:path>
              <a:path extrusionOk="0" h="787400" w="806450">
                <a:moveTo>
                  <a:pt x="625750" y="607060"/>
                </a:moveTo>
                <a:lnTo>
                  <a:pt x="577280" y="607060"/>
                </a:lnTo>
                <a:lnTo>
                  <a:pt x="599508" y="619760"/>
                </a:lnTo>
                <a:lnTo>
                  <a:pt x="620775" y="633730"/>
                </a:lnTo>
                <a:lnTo>
                  <a:pt x="641019" y="648970"/>
                </a:lnTo>
                <a:lnTo>
                  <a:pt x="660178" y="664210"/>
                </a:lnTo>
                <a:lnTo>
                  <a:pt x="622522" y="694690"/>
                </a:lnTo>
                <a:lnTo>
                  <a:pt x="581085" y="720090"/>
                </a:lnTo>
                <a:lnTo>
                  <a:pt x="536325" y="739140"/>
                </a:lnTo>
                <a:lnTo>
                  <a:pt x="488697" y="754380"/>
                </a:lnTo>
                <a:lnTo>
                  <a:pt x="564708" y="754380"/>
                </a:lnTo>
                <a:lnTo>
                  <a:pt x="619405" y="726440"/>
                </a:lnTo>
                <a:lnTo>
                  <a:pt x="655419" y="701040"/>
                </a:lnTo>
                <a:lnTo>
                  <a:pt x="688333" y="671830"/>
                </a:lnTo>
                <a:lnTo>
                  <a:pt x="710760" y="647700"/>
                </a:lnTo>
                <a:lnTo>
                  <a:pt x="678021" y="647700"/>
                </a:lnTo>
                <a:lnTo>
                  <a:pt x="656519" y="628650"/>
                </a:lnTo>
                <a:lnTo>
                  <a:pt x="633743" y="612140"/>
                </a:lnTo>
                <a:lnTo>
                  <a:pt x="625750" y="607060"/>
                </a:lnTo>
                <a:close/>
              </a:path>
              <a:path extrusionOk="0" h="787400" w="806450">
                <a:moveTo>
                  <a:pt x="222579" y="406400"/>
                </a:moveTo>
                <a:lnTo>
                  <a:pt x="197397" y="406400"/>
                </a:lnTo>
                <a:lnTo>
                  <a:pt x="199598" y="454660"/>
                </a:lnTo>
                <a:lnTo>
                  <a:pt x="204522" y="499110"/>
                </a:lnTo>
                <a:lnTo>
                  <a:pt x="212030" y="543560"/>
                </a:lnTo>
                <a:lnTo>
                  <a:pt x="221982" y="584200"/>
                </a:lnTo>
                <a:lnTo>
                  <a:pt x="196883" y="596900"/>
                </a:lnTo>
                <a:lnTo>
                  <a:pt x="172926" y="612140"/>
                </a:lnTo>
                <a:lnTo>
                  <a:pt x="150179" y="629920"/>
                </a:lnTo>
                <a:lnTo>
                  <a:pt x="128708" y="647700"/>
                </a:lnTo>
                <a:lnTo>
                  <a:pt x="167394" y="647700"/>
                </a:lnTo>
                <a:lnTo>
                  <a:pt x="185935" y="633730"/>
                </a:lnTo>
                <a:lnTo>
                  <a:pt x="207188" y="619760"/>
                </a:lnTo>
                <a:lnTo>
                  <a:pt x="229406" y="608330"/>
                </a:lnTo>
                <a:lnTo>
                  <a:pt x="257683" y="608330"/>
                </a:lnTo>
                <a:lnTo>
                  <a:pt x="253154" y="596900"/>
                </a:lnTo>
                <a:lnTo>
                  <a:pt x="285673" y="584200"/>
                </a:lnTo>
                <a:lnTo>
                  <a:pt x="319545" y="575310"/>
                </a:lnTo>
                <a:lnTo>
                  <a:pt x="333571" y="572770"/>
                </a:lnTo>
                <a:lnTo>
                  <a:pt x="245971" y="572770"/>
                </a:lnTo>
                <a:lnTo>
                  <a:pt x="236590" y="534670"/>
                </a:lnTo>
                <a:lnTo>
                  <a:pt x="229449" y="494030"/>
                </a:lnTo>
                <a:lnTo>
                  <a:pt x="224722" y="450850"/>
                </a:lnTo>
                <a:lnTo>
                  <a:pt x="222579" y="406400"/>
                </a:lnTo>
                <a:close/>
              </a:path>
              <a:path extrusionOk="0" h="787400" w="806450">
                <a:moveTo>
                  <a:pt x="805576" y="406400"/>
                </a:moveTo>
                <a:lnTo>
                  <a:pt x="780845" y="406400"/>
                </a:lnTo>
                <a:lnTo>
                  <a:pt x="774852" y="461010"/>
                </a:lnTo>
                <a:lnTo>
                  <a:pt x="760964" y="513080"/>
                </a:lnTo>
                <a:lnTo>
                  <a:pt x="739789" y="561340"/>
                </a:lnTo>
                <a:lnTo>
                  <a:pt x="711938" y="607060"/>
                </a:lnTo>
                <a:lnTo>
                  <a:pt x="678021" y="647700"/>
                </a:lnTo>
                <a:lnTo>
                  <a:pt x="710760" y="647700"/>
                </a:lnTo>
                <a:lnTo>
                  <a:pt x="743640" y="604520"/>
                </a:lnTo>
                <a:lnTo>
                  <a:pt x="765423" y="566420"/>
                </a:lnTo>
                <a:lnTo>
                  <a:pt x="782888" y="527050"/>
                </a:lnTo>
                <a:lnTo>
                  <a:pt x="795728" y="483870"/>
                </a:lnTo>
                <a:lnTo>
                  <a:pt x="803641" y="439420"/>
                </a:lnTo>
                <a:lnTo>
                  <a:pt x="805576" y="406400"/>
                </a:lnTo>
                <a:close/>
              </a:path>
              <a:path extrusionOk="0" h="787400" w="806450">
                <a:moveTo>
                  <a:pt x="415746" y="406400"/>
                </a:moveTo>
                <a:lnTo>
                  <a:pt x="390574" y="406400"/>
                </a:lnTo>
                <a:lnTo>
                  <a:pt x="390689" y="542290"/>
                </a:lnTo>
                <a:lnTo>
                  <a:pt x="352754" y="544830"/>
                </a:lnTo>
                <a:lnTo>
                  <a:pt x="315880" y="551180"/>
                </a:lnTo>
                <a:lnTo>
                  <a:pt x="280230" y="560070"/>
                </a:lnTo>
                <a:lnTo>
                  <a:pt x="245971" y="572770"/>
                </a:lnTo>
                <a:lnTo>
                  <a:pt x="333571" y="572770"/>
                </a:lnTo>
                <a:lnTo>
                  <a:pt x="354610" y="568960"/>
                </a:lnTo>
                <a:lnTo>
                  <a:pt x="390710" y="566420"/>
                </a:lnTo>
                <a:lnTo>
                  <a:pt x="543501" y="566420"/>
                </a:lnTo>
                <a:lnTo>
                  <a:pt x="526360" y="560070"/>
                </a:lnTo>
                <a:lnTo>
                  <a:pt x="490699" y="551180"/>
                </a:lnTo>
                <a:lnTo>
                  <a:pt x="453817" y="544830"/>
                </a:lnTo>
                <a:lnTo>
                  <a:pt x="415872" y="542290"/>
                </a:lnTo>
                <a:lnTo>
                  <a:pt x="415746" y="406400"/>
                </a:lnTo>
                <a:close/>
              </a:path>
              <a:path extrusionOk="0" h="787400" w="806450">
                <a:moveTo>
                  <a:pt x="608934" y="406400"/>
                </a:moveTo>
                <a:lnTo>
                  <a:pt x="583762" y="406400"/>
                </a:lnTo>
                <a:lnTo>
                  <a:pt x="581694" y="450850"/>
                </a:lnTo>
                <a:lnTo>
                  <a:pt x="577036" y="492760"/>
                </a:lnTo>
                <a:lnTo>
                  <a:pt x="569960" y="534670"/>
                </a:lnTo>
                <a:lnTo>
                  <a:pt x="560642" y="572770"/>
                </a:lnTo>
                <a:lnTo>
                  <a:pt x="587124" y="572770"/>
                </a:lnTo>
                <a:lnTo>
                  <a:pt x="594540" y="542290"/>
                </a:lnTo>
                <a:lnTo>
                  <a:pt x="601980" y="499110"/>
                </a:lnTo>
                <a:lnTo>
                  <a:pt x="606826" y="453390"/>
                </a:lnTo>
                <a:lnTo>
                  <a:pt x="608934" y="406400"/>
                </a:lnTo>
                <a:close/>
              </a:path>
              <a:path extrusionOk="0" h="787400" w="806450">
                <a:moveTo>
                  <a:pt x="166992" y="140970"/>
                </a:moveTo>
                <a:lnTo>
                  <a:pt x="128299" y="140970"/>
                </a:lnTo>
                <a:lnTo>
                  <a:pt x="149797" y="158750"/>
                </a:lnTo>
                <a:lnTo>
                  <a:pt x="172573" y="176530"/>
                </a:lnTo>
                <a:lnTo>
                  <a:pt x="196554" y="191770"/>
                </a:lnTo>
                <a:lnTo>
                  <a:pt x="221668" y="204470"/>
                </a:lnTo>
                <a:lnTo>
                  <a:pt x="211784" y="245110"/>
                </a:lnTo>
                <a:lnTo>
                  <a:pt x="204344" y="288290"/>
                </a:lnTo>
                <a:lnTo>
                  <a:pt x="199496" y="334010"/>
                </a:lnTo>
                <a:lnTo>
                  <a:pt x="197386" y="382270"/>
                </a:lnTo>
                <a:lnTo>
                  <a:pt x="222558" y="382270"/>
                </a:lnTo>
                <a:lnTo>
                  <a:pt x="224630" y="337820"/>
                </a:lnTo>
                <a:lnTo>
                  <a:pt x="229288" y="294640"/>
                </a:lnTo>
                <a:lnTo>
                  <a:pt x="236361" y="254000"/>
                </a:lnTo>
                <a:lnTo>
                  <a:pt x="245678" y="215900"/>
                </a:lnTo>
                <a:lnTo>
                  <a:pt x="333286" y="215900"/>
                </a:lnTo>
                <a:lnTo>
                  <a:pt x="319254" y="213360"/>
                </a:lnTo>
                <a:lnTo>
                  <a:pt x="285365" y="204470"/>
                </a:lnTo>
                <a:lnTo>
                  <a:pt x="252829" y="191770"/>
                </a:lnTo>
                <a:lnTo>
                  <a:pt x="257339" y="180340"/>
                </a:lnTo>
                <a:lnTo>
                  <a:pt x="229040" y="180340"/>
                </a:lnTo>
                <a:lnTo>
                  <a:pt x="206813" y="168910"/>
                </a:lnTo>
                <a:lnTo>
                  <a:pt x="185549" y="154940"/>
                </a:lnTo>
                <a:lnTo>
                  <a:pt x="166992" y="140970"/>
                </a:lnTo>
                <a:close/>
              </a:path>
              <a:path extrusionOk="0" h="787400" w="806450">
                <a:moveTo>
                  <a:pt x="333286" y="215900"/>
                </a:moveTo>
                <a:lnTo>
                  <a:pt x="245678" y="215900"/>
                </a:lnTo>
                <a:lnTo>
                  <a:pt x="279963" y="228600"/>
                </a:lnTo>
                <a:lnTo>
                  <a:pt x="315629" y="237490"/>
                </a:lnTo>
                <a:lnTo>
                  <a:pt x="352511" y="243840"/>
                </a:lnTo>
                <a:lnTo>
                  <a:pt x="390448" y="246380"/>
                </a:lnTo>
                <a:lnTo>
                  <a:pt x="390553" y="382270"/>
                </a:lnTo>
                <a:lnTo>
                  <a:pt x="415746" y="382270"/>
                </a:lnTo>
                <a:lnTo>
                  <a:pt x="415631" y="246380"/>
                </a:lnTo>
                <a:lnTo>
                  <a:pt x="453566" y="243840"/>
                </a:lnTo>
                <a:lnTo>
                  <a:pt x="490441" y="237490"/>
                </a:lnTo>
                <a:lnTo>
                  <a:pt x="526094" y="227330"/>
                </a:lnTo>
                <a:lnTo>
                  <a:pt x="541323" y="222250"/>
                </a:lnTo>
                <a:lnTo>
                  <a:pt x="390438" y="222250"/>
                </a:lnTo>
                <a:lnTo>
                  <a:pt x="354333" y="219710"/>
                </a:lnTo>
                <a:lnTo>
                  <a:pt x="333286" y="215900"/>
                </a:lnTo>
                <a:close/>
              </a:path>
              <a:path extrusionOk="0" h="787400" w="806450">
                <a:moveTo>
                  <a:pt x="587148" y="215900"/>
                </a:moveTo>
                <a:lnTo>
                  <a:pt x="560359" y="215900"/>
                </a:lnTo>
                <a:lnTo>
                  <a:pt x="569739" y="254000"/>
                </a:lnTo>
                <a:lnTo>
                  <a:pt x="576876" y="294640"/>
                </a:lnTo>
                <a:lnTo>
                  <a:pt x="581600" y="337820"/>
                </a:lnTo>
                <a:lnTo>
                  <a:pt x="583741" y="382270"/>
                </a:lnTo>
                <a:lnTo>
                  <a:pt x="608923" y="382270"/>
                </a:lnTo>
                <a:lnTo>
                  <a:pt x="606733" y="334010"/>
                </a:lnTo>
                <a:lnTo>
                  <a:pt x="601811" y="288290"/>
                </a:lnTo>
                <a:lnTo>
                  <a:pt x="594302" y="245110"/>
                </a:lnTo>
                <a:lnTo>
                  <a:pt x="587148" y="215900"/>
                </a:lnTo>
                <a:close/>
              </a:path>
              <a:path extrusionOk="0" h="787400" w="806450">
                <a:moveTo>
                  <a:pt x="711538" y="140970"/>
                </a:moveTo>
                <a:lnTo>
                  <a:pt x="677612" y="140970"/>
                </a:lnTo>
                <a:lnTo>
                  <a:pt x="711592" y="181610"/>
                </a:lnTo>
                <a:lnTo>
                  <a:pt x="739515" y="226060"/>
                </a:lnTo>
                <a:lnTo>
                  <a:pt x="760770" y="274320"/>
                </a:lnTo>
                <a:lnTo>
                  <a:pt x="774744" y="326390"/>
                </a:lnTo>
                <a:lnTo>
                  <a:pt x="780824" y="381000"/>
                </a:lnTo>
                <a:lnTo>
                  <a:pt x="608923" y="382270"/>
                </a:lnTo>
                <a:lnTo>
                  <a:pt x="805632" y="382270"/>
                </a:lnTo>
                <a:lnTo>
                  <a:pt x="795585" y="303530"/>
                </a:lnTo>
                <a:lnTo>
                  <a:pt x="782676" y="261620"/>
                </a:lnTo>
                <a:lnTo>
                  <a:pt x="765148" y="220980"/>
                </a:lnTo>
                <a:lnTo>
                  <a:pt x="743304" y="182880"/>
                </a:lnTo>
                <a:lnTo>
                  <a:pt x="717450" y="147320"/>
                </a:lnTo>
                <a:lnTo>
                  <a:pt x="711538" y="140970"/>
                </a:lnTo>
                <a:close/>
              </a:path>
              <a:path extrusionOk="0" h="787400" w="806450">
                <a:moveTo>
                  <a:pt x="415453" y="25400"/>
                </a:moveTo>
                <a:lnTo>
                  <a:pt x="390260" y="25400"/>
                </a:lnTo>
                <a:lnTo>
                  <a:pt x="390438" y="222250"/>
                </a:lnTo>
                <a:lnTo>
                  <a:pt x="415610" y="222250"/>
                </a:lnTo>
                <a:lnTo>
                  <a:pt x="415453" y="25400"/>
                </a:lnTo>
                <a:close/>
              </a:path>
              <a:path extrusionOk="0" h="787400" w="806450">
                <a:moveTo>
                  <a:pt x="544608" y="25400"/>
                </a:moveTo>
                <a:lnTo>
                  <a:pt x="415453" y="25400"/>
                </a:lnTo>
                <a:lnTo>
                  <a:pt x="448606" y="36830"/>
                </a:lnTo>
                <a:lnTo>
                  <a:pt x="479611" y="60960"/>
                </a:lnTo>
                <a:lnTo>
                  <a:pt x="507813" y="95250"/>
                </a:lnTo>
                <a:lnTo>
                  <a:pt x="532554" y="139700"/>
                </a:lnTo>
                <a:lnTo>
                  <a:pt x="553176" y="191770"/>
                </a:lnTo>
                <a:lnTo>
                  <a:pt x="520651" y="203200"/>
                </a:lnTo>
                <a:lnTo>
                  <a:pt x="486777" y="213360"/>
                </a:lnTo>
                <a:lnTo>
                  <a:pt x="451710" y="219710"/>
                </a:lnTo>
                <a:lnTo>
                  <a:pt x="415610" y="222250"/>
                </a:lnTo>
                <a:lnTo>
                  <a:pt x="541323" y="222250"/>
                </a:lnTo>
                <a:lnTo>
                  <a:pt x="560359" y="215900"/>
                </a:lnTo>
                <a:lnTo>
                  <a:pt x="587148" y="215900"/>
                </a:lnTo>
                <a:lnTo>
                  <a:pt x="584348" y="204470"/>
                </a:lnTo>
                <a:lnTo>
                  <a:pt x="609437" y="190500"/>
                </a:lnTo>
                <a:lnTo>
                  <a:pt x="625407" y="180340"/>
                </a:lnTo>
                <a:lnTo>
                  <a:pt x="576924" y="180340"/>
                </a:lnTo>
                <a:lnTo>
                  <a:pt x="559230" y="134620"/>
                </a:lnTo>
                <a:lnTo>
                  <a:pt x="538312" y="95250"/>
                </a:lnTo>
                <a:lnTo>
                  <a:pt x="514493" y="60960"/>
                </a:lnTo>
                <a:lnTo>
                  <a:pt x="488100" y="34290"/>
                </a:lnTo>
                <a:lnTo>
                  <a:pt x="565273" y="34290"/>
                </a:lnTo>
                <a:lnTo>
                  <a:pt x="544608" y="25400"/>
                </a:lnTo>
                <a:close/>
              </a:path>
              <a:path extrusionOk="0" h="787400" w="806450">
                <a:moveTo>
                  <a:pt x="367076" y="34290"/>
                </a:moveTo>
                <a:lnTo>
                  <a:pt x="317644" y="34290"/>
                </a:lnTo>
                <a:lnTo>
                  <a:pt x="291296" y="60960"/>
                </a:lnTo>
                <a:lnTo>
                  <a:pt x="267531" y="95250"/>
                </a:lnTo>
                <a:lnTo>
                  <a:pt x="246671" y="134620"/>
                </a:lnTo>
                <a:lnTo>
                  <a:pt x="229040" y="180340"/>
                </a:lnTo>
                <a:lnTo>
                  <a:pt x="257339" y="180340"/>
                </a:lnTo>
                <a:lnTo>
                  <a:pt x="273374" y="139700"/>
                </a:lnTo>
                <a:lnTo>
                  <a:pt x="298043" y="95250"/>
                </a:lnTo>
                <a:lnTo>
                  <a:pt x="326184" y="60960"/>
                </a:lnTo>
                <a:lnTo>
                  <a:pt x="357141" y="38100"/>
                </a:lnTo>
                <a:lnTo>
                  <a:pt x="367076" y="34290"/>
                </a:lnTo>
                <a:close/>
              </a:path>
              <a:path extrusionOk="0" h="787400" w="806450">
                <a:moveTo>
                  <a:pt x="565273" y="34290"/>
                </a:moveTo>
                <a:lnTo>
                  <a:pt x="488100" y="34290"/>
                </a:lnTo>
                <a:lnTo>
                  <a:pt x="535766" y="48260"/>
                </a:lnTo>
                <a:lnTo>
                  <a:pt x="580564" y="68580"/>
                </a:lnTo>
                <a:lnTo>
                  <a:pt x="622043" y="93980"/>
                </a:lnTo>
                <a:lnTo>
                  <a:pt x="659749" y="123190"/>
                </a:lnTo>
                <a:lnTo>
                  <a:pt x="640603" y="139700"/>
                </a:lnTo>
                <a:lnTo>
                  <a:pt x="620379" y="154940"/>
                </a:lnTo>
                <a:lnTo>
                  <a:pt x="599133" y="167640"/>
                </a:lnTo>
                <a:lnTo>
                  <a:pt x="576924" y="180340"/>
                </a:lnTo>
                <a:lnTo>
                  <a:pt x="625407" y="180340"/>
                </a:lnTo>
                <a:lnTo>
                  <a:pt x="633391" y="175260"/>
                </a:lnTo>
                <a:lnTo>
                  <a:pt x="656140" y="158750"/>
                </a:lnTo>
                <a:lnTo>
                  <a:pt x="677612" y="140970"/>
                </a:lnTo>
                <a:lnTo>
                  <a:pt x="711538" y="140970"/>
                </a:lnTo>
                <a:lnTo>
                  <a:pt x="687891" y="115570"/>
                </a:lnTo>
                <a:lnTo>
                  <a:pt x="654932" y="86360"/>
                </a:lnTo>
                <a:lnTo>
                  <a:pt x="618877" y="60960"/>
                </a:lnTo>
                <a:lnTo>
                  <a:pt x="580033" y="40640"/>
                </a:lnTo>
                <a:lnTo>
                  <a:pt x="565273" y="34290"/>
                </a:lnTo>
                <a:close/>
              </a:path>
            </a:pathLst>
          </a:custGeom>
          <a:solidFill>
            <a:srgbClr val="2E2D2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6" name="Google Shape;786;g1350e5ad54e_0_4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3893" y="1174792"/>
            <a:ext cx="469268" cy="255893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1350e5ad54e_0_475"/>
          <p:cNvSpPr txBox="1"/>
          <p:nvPr/>
        </p:nvSpPr>
        <p:spPr>
          <a:xfrm>
            <a:off x="3782587" y="985625"/>
            <a:ext cx="41961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2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-ES" sz="1800" u="none" cap="none" strike="noStrike">
                <a:solidFill>
                  <a:srgbClr val="9EA4A8"/>
                </a:solidFill>
                <a:latin typeface="Arial"/>
                <a:ea typeface="Arial"/>
                <a:cs typeface="Arial"/>
                <a:sym typeface="Arial"/>
              </a:rPr>
              <a:t>Ventajas del uso de Scrum?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9EA4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ctr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1350e5ad54e_0_475"/>
          <p:cNvSpPr txBox="1"/>
          <p:nvPr/>
        </p:nvSpPr>
        <p:spPr>
          <a:xfrm>
            <a:off x="3782587" y="2440763"/>
            <a:ext cx="4196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2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-ES" sz="1800" u="none" cap="none" strike="noStrike">
                <a:solidFill>
                  <a:srgbClr val="9EA4A8"/>
                </a:solidFill>
                <a:latin typeface="Arial"/>
                <a:ea typeface="Arial"/>
                <a:cs typeface="Arial"/>
                <a:sym typeface="Arial"/>
              </a:rPr>
              <a:t>Cuales son los principios de la metodología Scrum?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ctr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1350e5ad54e_0_475"/>
          <p:cNvSpPr txBox="1"/>
          <p:nvPr/>
        </p:nvSpPr>
        <p:spPr>
          <a:xfrm>
            <a:off x="3721981" y="4122859"/>
            <a:ext cx="41961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2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-ES" sz="1800" u="none" cap="none" strike="noStrike">
                <a:solidFill>
                  <a:srgbClr val="9EA4A8"/>
                </a:solidFill>
                <a:latin typeface="Arial"/>
                <a:ea typeface="Arial"/>
                <a:cs typeface="Arial"/>
                <a:sym typeface="Arial"/>
              </a:rPr>
              <a:t>Recuerdas los roles?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ctr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0" name="Google Shape;790;g1350e5ad54e_0_4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1430" y="4293694"/>
            <a:ext cx="469268" cy="25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1350e5ad54e_0_485"/>
          <p:cNvSpPr txBox="1"/>
          <p:nvPr>
            <p:ph idx="1" type="body"/>
          </p:nvPr>
        </p:nvSpPr>
        <p:spPr>
          <a:xfrm>
            <a:off x="261092" y="763102"/>
            <a:ext cx="197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-ES"/>
              <a:t>Bibliografía</a:t>
            </a:r>
            <a:endParaRPr/>
          </a:p>
        </p:txBody>
      </p:sp>
      <p:pic>
        <p:nvPicPr>
          <p:cNvPr id="796" name="Google Shape;796;g1350e5ad54e_0_4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83" y="2938607"/>
            <a:ext cx="469268" cy="255893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g1350e5ad54e_0_485"/>
          <p:cNvSpPr txBox="1"/>
          <p:nvPr/>
        </p:nvSpPr>
        <p:spPr>
          <a:xfrm>
            <a:off x="1357653" y="2591424"/>
            <a:ext cx="7394400" cy="26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2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-E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2.1.1 Guía Scrum: A guide to the Scrum Body of knowledge (SBOK Guide). (2013). </a:t>
            </a:r>
            <a:endParaRPr b="1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-E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2.1.2 Guía PMBOK: Project Management Institute. (2008). Guia de los fundamentos para dirección de proyectos: Guía del PMBOK cuarta edición. Newtown Square: Project Management Institute.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1600" u="sng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9EA4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Maricel Escobar Mella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39</vt:i4>
  </property>
</Properties>
</file>